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eb00c5ebcb4f89" /><Relationship Type="http://schemas.openxmlformats.org/officeDocument/2006/relationships/extended-properties" Target="/docProps/app.xml" Id="R18e920208c644548" /><Relationship Type="http://schemas.openxmlformats.org/officeDocument/2006/relationships/officeDocument" Target="/ppt/presentation.xml" Id="R5484614cfaa34be3" /></Relationships>
</file>

<file path=ppt/presentation.xml><?xml version="1.0" encoding="utf-8"?>
<p:presentation xmlns:p="http://schemas.openxmlformats.org/presentationml/2006/main">
  <p:sldMasterIdLst>
    <p:sldMasterId xmlns:r="http://schemas.openxmlformats.org/officeDocument/2006/relationships" id="2147483648" r:id="Ra403b9d1d43142ae"/>
  </p:sldMasterIdLst>
  <p:notesMasterIdLst>
    <p:notesMasterId xmlns:r="http://schemas.openxmlformats.org/officeDocument/2006/relationships" r:id="R89b8632a67364f58"/>
  </p:notesMasterIdLst>
  <p:sldIdLst>
    <p:sldId xmlns:r="http://schemas.openxmlformats.org/officeDocument/2006/relationships" id="256" r:id="Re3e7a65348464b04"/>
    <p:sldId xmlns:r="http://schemas.openxmlformats.org/officeDocument/2006/relationships" id="257" r:id="R6f373b46503c49a1"/>
    <p:sldId xmlns:r="http://schemas.openxmlformats.org/officeDocument/2006/relationships" id="258" r:id="R390612ba7fa8435d"/>
    <p:sldId xmlns:r="http://schemas.openxmlformats.org/officeDocument/2006/relationships" id="259" r:id="Rc28c13aba4854572"/>
    <p:sldId xmlns:r="http://schemas.openxmlformats.org/officeDocument/2006/relationships" id="260" r:id="Rcf0afe163e014134"/>
    <p:sldId xmlns:r="http://schemas.openxmlformats.org/officeDocument/2006/relationships" id="261" r:id="Rd966c0fffcf54916"/>
    <p:sldId xmlns:r="http://schemas.openxmlformats.org/officeDocument/2006/relationships" id="262" r:id="R1e2420eab8114e08"/>
    <p:sldId xmlns:r="http://schemas.openxmlformats.org/officeDocument/2006/relationships" id="263" r:id="Rcc7dfe7fbce04d4b"/>
    <p:sldId xmlns:r="http://schemas.openxmlformats.org/officeDocument/2006/relationships" id="264" r:id="Rd1282a298d0843a3"/>
    <p:sldId xmlns:r="http://schemas.openxmlformats.org/officeDocument/2006/relationships" id="265" r:id="R7c2556f037ee40a4"/>
    <p:sldId xmlns:r="http://schemas.openxmlformats.org/officeDocument/2006/relationships" id="266" r:id="R76089bd3edff4cbd"/>
    <p:sldId xmlns:r="http://schemas.openxmlformats.org/officeDocument/2006/relationships" id="267" r:id="R1007414335314478"/>
    <p:sldId xmlns:r="http://schemas.openxmlformats.org/officeDocument/2006/relationships" id="268" r:id="R2f2acd4f6ced4853"/>
    <p:sldId xmlns:r="http://schemas.openxmlformats.org/officeDocument/2006/relationships" id="269" r:id="Rfcffa8442bc547ba"/>
    <p:sldId xmlns:r="http://schemas.openxmlformats.org/officeDocument/2006/relationships" id="270" r:id="Rd51155ad2efa494a"/>
    <p:sldId xmlns:r="http://schemas.openxmlformats.org/officeDocument/2006/relationships" id="271" r:id="Ra64a16e2a798491f"/>
    <p:sldId xmlns:r="http://schemas.openxmlformats.org/officeDocument/2006/relationships" id="272" r:id="R93eb7bf74310468d"/>
    <p:sldId xmlns:r="http://schemas.openxmlformats.org/officeDocument/2006/relationships" id="273" r:id="Rc0e4f31c00b0407a"/>
    <p:sldId xmlns:r="http://schemas.openxmlformats.org/officeDocument/2006/relationships" id="274" r:id="R5da0334b786844a5"/>
    <p:sldId xmlns:r="http://schemas.openxmlformats.org/officeDocument/2006/relationships" id="275" r:id="R5fea01780a224138"/>
    <p:sldId xmlns:r="http://schemas.openxmlformats.org/officeDocument/2006/relationships" id="276" r:id="Rd5fc7ffa10b24f7e"/>
    <p:sldId xmlns:r="http://schemas.openxmlformats.org/officeDocument/2006/relationships" id="277" r:id="R56ad2fa712074c8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403b9d1d43142ae" /><Relationship Type="http://schemas.openxmlformats.org/officeDocument/2006/relationships/theme" Target="/ppt/theme/theme1.xml" Id="R12a712b029254877" /><Relationship Type="http://schemas.openxmlformats.org/officeDocument/2006/relationships/notesMaster" Target="/ppt/notesMasters/notesMaster1.xml" Id="R89b8632a67364f58" /><Relationship Type="http://schemas.openxmlformats.org/officeDocument/2006/relationships/presProps" Target="/ppt/presProps.xml" Id="R420f2c35553e4af3" /><Relationship Type="http://schemas.openxmlformats.org/officeDocument/2006/relationships/viewProps" Target="/ppt/viewProps.xml" Id="R3fe7826ca14b4b2f" /><Relationship Type="http://schemas.openxmlformats.org/officeDocument/2006/relationships/tableStyles" Target="/ppt/tableStyles.xml" Id="R92a0065bf85246d8" /><Relationship Type="http://schemas.openxmlformats.org/officeDocument/2006/relationships/slide" Target="/ppt/slides/slide1.xml" Id="Re3e7a65348464b04" /><Relationship Type="http://schemas.openxmlformats.org/officeDocument/2006/relationships/slide" Target="/ppt/slides/slide2.xml" Id="R6f373b46503c49a1" /><Relationship Type="http://schemas.openxmlformats.org/officeDocument/2006/relationships/slide" Target="/ppt/slides/slide3.xml" Id="R390612ba7fa8435d" /><Relationship Type="http://schemas.openxmlformats.org/officeDocument/2006/relationships/slide" Target="/ppt/slides/slide4.xml" Id="Rc28c13aba4854572" /><Relationship Type="http://schemas.openxmlformats.org/officeDocument/2006/relationships/slide" Target="/ppt/slides/slide5.xml" Id="Rcf0afe163e014134" /><Relationship Type="http://schemas.openxmlformats.org/officeDocument/2006/relationships/slide" Target="/ppt/slides/slide6.xml" Id="Rd966c0fffcf54916" /><Relationship Type="http://schemas.openxmlformats.org/officeDocument/2006/relationships/slide" Target="/ppt/slides/slide7.xml" Id="R1e2420eab8114e08" /><Relationship Type="http://schemas.openxmlformats.org/officeDocument/2006/relationships/slide" Target="/ppt/slides/slide8.xml" Id="Rcc7dfe7fbce04d4b" /><Relationship Type="http://schemas.openxmlformats.org/officeDocument/2006/relationships/slide" Target="/ppt/slides/slide9.xml" Id="Rd1282a298d0843a3" /><Relationship Type="http://schemas.openxmlformats.org/officeDocument/2006/relationships/slide" Target="/ppt/slides/slide10.xml" Id="R7c2556f037ee40a4" /><Relationship Type="http://schemas.openxmlformats.org/officeDocument/2006/relationships/slide" Target="/ppt/slides/slide11.xml" Id="R76089bd3edff4cbd" /><Relationship Type="http://schemas.openxmlformats.org/officeDocument/2006/relationships/slide" Target="/ppt/slides/slide12.xml" Id="R1007414335314478" /><Relationship Type="http://schemas.openxmlformats.org/officeDocument/2006/relationships/slide" Target="/ppt/slides/slide13.xml" Id="R2f2acd4f6ced4853" /><Relationship Type="http://schemas.openxmlformats.org/officeDocument/2006/relationships/slide" Target="/ppt/slides/slide14.xml" Id="Rfcffa8442bc547ba" /><Relationship Type="http://schemas.openxmlformats.org/officeDocument/2006/relationships/slide" Target="/ppt/slides/slide15.xml" Id="Rd51155ad2efa494a" /><Relationship Type="http://schemas.openxmlformats.org/officeDocument/2006/relationships/slide" Target="/ppt/slides/slide16.xml" Id="Ra64a16e2a798491f" /><Relationship Type="http://schemas.openxmlformats.org/officeDocument/2006/relationships/slide" Target="/ppt/slides/slide17.xml" Id="R93eb7bf74310468d" /><Relationship Type="http://schemas.openxmlformats.org/officeDocument/2006/relationships/slide" Target="/ppt/slides/slide18.xml" Id="Rc0e4f31c00b0407a" /><Relationship Type="http://schemas.openxmlformats.org/officeDocument/2006/relationships/slide" Target="/ppt/slides/slide19.xml" Id="R5da0334b786844a5" /><Relationship Type="http://schemas.openxmlformats.org/officeDocument/2006/relationships/slide" Target="/ppt/slides/slide20.xml" Id="R5fea01780a224138" /><Relationship Type="http://schemas.openxmlformats.org/officeDocument/2006/relationships/slide" Target="/ppt/slides/slide21.xml" Id="Rd5fc7ffa10b24f7e" /><Relationship Type="http://schemas.openxmlformats.org/officeDocument/2006/relationships/slide" Target="/ppt/slides/slide22.xml" Id="R56ad2fa712074c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62540cfc23743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8df01a74df4c7d" /><Relationship Type="http://schemas.openxmlformats.org/officeDocument/2006/relationships/notesMaster" Target="/ppt/notesMasters/notesMaster1.xml" Id="R58349d4f44ca441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b1100f86d948bc" /><Relationship Type="http://schemas.openxmlformats.org/officeDocument/2006/relationships/notesMaster" Target="/ppt/notesMasters/notesMaster1.xml" Id="R86e2712f61c743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3557a24a2649bb" /><Relationship Type="http://schemas.openxmlformats.org/officeDocument/2006/relationships/notesMaster" Target="/ppt/notesMasters/notesMaster1.xml" Id="Rc0c497aeb4ec40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70712cae824c4f" /><Relationship Type="http://schemas.openxmlformats.org/officeDocument/2006/relationships/notesMaster" Target="/ppt/notesMasters/notesMaster1.xml" Id="R4502c0edf41a4d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7be11d6c274553" /><Relationship Type="http://schemas.openxmlformats.org/officeDocument/2006/relationships/notesMaster" Target="/ppt/notesMasters/notesMaster1.xml" Id="R364f7cc5345547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a1d2f6652d4579" /><Relationship Type="http://schemas.openxmlformats.org/officeDocument/2006/relationships/notesMaster" Target="/ppt/notesMasters/notesMaster1.xml" Id="Rf456b054ad554f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7007294ff24f88" /><Relationship Type="http://schemas.openxmlformats.org/officeDocument/2006/relationships/notesMaster" Target="/ppt/notesMasters/notesMaster1.xml" Id="Rea41a99f521444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523120531b47f2" /><Relationship Type="http://schemas.openxmlformats.org/officeDocument/2006/relationships/notesMaster" Target="/ppt/notesMasters/notesMaster1.xml" Id="Rfde2824994094f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29428f875c4b2e" /><Relationship Type="http://schemas.openxmlformats.org/officeDocument/2006/relationships/notesMaster" Target="/ppt/notesMasters/notesMaster1.xml" Id="R515d8d65c5a64f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0e8d7e7fa65494e" /><Relationship Type="http://schemas.openxmlformats.org/officeDocument/2006/relationships/notesMaster" Target="/ppt/notesMasters/notesMaster1.xml" Id="Rc1c42d61fe3544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ff9ca95c024a83" /><Relationship Type="http://schemas.openxmlformats.org/officeDocument/2006/relationships/notesMaster" Target="/ppt/notesMasters/notesMaster1.xml" Id="R7350a676c45f45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ac727cb9ea4b9b" /><Relationship Type="http://schemas.openxmlformats.org/officeDocument/2006/relationships/notesMaster" Target="/ppt/notesMasters/notesMaster1.xml" Id="R91307b783ed34f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fc406406764685" /><Relationship Type="http://schemas.openxmlformats.org/officeDocument/2006/relationships/notesMaster" Target="/ppt/notesMasters/notesMaster1.xml" Id="Rf28554d57f41494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948c3607234511" /><Relationship Type="http://schemas.openxmlformats.org/officeDocument/2006/relationships/notesMaster" Target="/ppt/notesMasters/notesMaster1.xml" Id="R05ba374e1f1145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df8e8db0314465" /><Relationship Type="http://schemas.openxmlformats.org/officeDocument/2006/relationships/notesMaster" Target="/ppt/notesMasters/notesMaster1.xml" Id="Rb15e05c7e52243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17e26f376b47e7" /><Relationship Type="http://schemas.openxmlformats.org/officeDocument/2006/relationships/notesMaster" Target="/ppt/notesMasters/notesMaster1.xml" Id="R3934ffc40ede42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88a02544b14f6a" /><Relationship Type="http://schemas.openxmlformats.org/officeDocument/2006/relationships/notesMaster" Target="/ppt/notesMasters/notesMaster1.xml" Id="R2ecd9c7680cb4d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36b43fedae48de" /><Relationship Type="http://schemas.openxmlformats.org/officeDocument/2006/relationships/notesMaster" Target="/ppt/notesMasters/notesMaster1.xml" Id="R59706406edda44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0033d7d04345a3" /><Relationship Type="http://schemas.openxmlformats.org/officeDocument/2006/relationships/notesMaster" Target="/ppt/notesMasters/notesMaster1.xml" Id="R6c53b73e555946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0eb5fd7e26f4a97" /><Relationship Type="http://schemas.openxmlformats.org/officeDocument/2006/relationships/notesMaster" Target="/ppt/notesMasters/notesMaster1.xml" Id="R584c213cc1474fb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cac914a4f946bf" /><Relationship Type="http://schemas.openxmlformats.org/officeDocument/2006/relationships/notesMaster" Target="/ppt/notesMasters/notesMaster1.xml" Id="Rb0862ffac0f44b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3d33e79c9194eac" /><Relationship Type="http://schemas.openxmlformats.org/officeDocument/2006/relationships/notesMaster" Target="/ppt/notesMasters/notesMaster1.xml" Id="R2d90fd347ba646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the talk as a story about trust. The project is not claiming to solve all plastic degradation, and it is not claiming quantum advantage. It asks a more scientific question: when we build a model for biodegradation prediction, how do we know when to trust it? PolyDegradeML started as a course-style ML project and matured into a reliability-aware research case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broad audience, make this concrete. A plastic object can crack in sunlight, weaken in water, fragment under abrasion, and be transformed by microbes. These are related but not identical processes. The paper is careful because the dataset supports descriptor-based ready biodegradability classification, not a full mechanistic simulation of the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thesis sentence. The early project could have ended with an accuracy table. The stronger research version asks whether the model remains calibrated, whether it knows when it is uncertain, and whether it behaves sensibly outside its comfort zone.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QSAR without assuming prior knowledge. Instead of giving the model a full molecular movie, we give it numerical descriptors. That is useful, but it also imposes limits. This slide is a guardrail against overclaiming.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should reassure professors and peers: the work is not hiding limitations. It names them. For younger students, emphasize that good science starts by saying exactly what the data can and cannot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this as the first major evidence step. Random Forest and Logistic Regression performed well, the neural network was useful but not dominant, and the descriptor-graph prototype underperformed. The important point is not to shame any model. The point is that model complexity alone did not solve the scientific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TED-style pivot. A student can understand this through daily life: being confident is only useful if confidence tracks reality. The same is true for machine learning. A confident wrong answer is more dangerous than an uncertain wrong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for academic rigor. Say that trust was not treated as a vibe. It was translated into metrics. Each metric catches a different failure mode, so the final decision does not depend on one fragile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where the chemistry enters the ML story. The engineered features were useful, especially for the neural baseline, but the paper stays cautious. Proxy chemistry is not the same as measured or computed quantum chemistry.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strongest scientific findings. Ordinary validation told one story. Proxy cross-environment validation told a more cautious story. Random Forest remained strongest in that test, but the absolute performance drop showed that generalization is the hard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calibration idea intuitive: if a model says 80 percent confidence, it should be right about 80 percent of the time across similar predictions. The project found that uncertainty behavior helped distinguish candidates that accuracy alone could not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small intro for people who are new to the idea. A classical digital state is explicit: a bit is zero or one. A classical probability distribution can say how likely each state is, but the probabilities themselves do not interfere. A quantum state is described by amplitudes. Those amplitudes can combine with phase, so the computation can change the geometry of likelihood before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statistical mechanics as an intuition, not as a claim that the project simulated thermodynamics. In many scientific problems, we cannot follow every microscopic event, so we reason about distributions and likely macroscopic outcomes. Machine learning probabilities are classical distributions over labels. Quantum computing goes one level deeper by manipulating amplitudes before probabilities appear through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bridge into the quantum idea. Be explicit: this is not a claim that the current project used quantum computing. It is a conceptual reason quantum methods were considered. Classical systems manipulate explicit states. Quantum systems manipulate probability amplitudes. Interference can reshape which outcomes become likely when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directly answers the user's requested framing while protecting rigor. We did not choose quantum over classical descriptors in the implemented model. We used classical descriptors. Quantum was considered because classical descriptors are fixed summaries, while true quantum chemical descriptors may capture electronic properties that matter for chemical reactivity and degradation mechanisms.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benefit section. The benefit was not empirical performance, because the project did not implement a quantum model. The benefit was intellectual discipline: it helped clarify the difference between proxy descriptors and future computed quantum descriptors, and it strengthened the probability-centered reliability 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rigor. It says why the idea is intellectually interesting without turning into quantum hype. The right research question is not 'is quantum faster?' It is 'does a quantum or quantum-inspired representation produce measurable, reproducible improvements under the same reliability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clear that the selected model did not win every individual metric. That is the point. It was chosen because it was the best balance across accuracy, calibration, selective prediction, uncertainty behavior, and cross-environment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clean summary slide. The contribution is not 'we got high accuracy.' The contribution is that reliability metrics changed how model quality was interpreted.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TED-talk moment. Invite young students in. The point is not to make science look easy. The point is to show that science is a disciplined way of being curious. The model's limits are not embarrassing; they are the doorway to the next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by showing that the project creates a launchpad. The present work is a reliable classical baseline and a reproducible evaluation template. Future work should improve representation and validation rather than making broader claims too 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humility and confidence together. The project does not claim to predict all environmental degradation. It does show how a model can be evaluated more responsibly. That is the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ba4a6b9b7b4a1b"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b263aedf2dc4128" /><Relationship Type="http://schemas.openxmlformats.org/officeDocument/2006/relationships/slideLayout" Target="/ppt/slideLayouts/slideLayout2.xml" Id="R868f6f9092f949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8f6f9092f949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cfca38a198b4418d" /><Relationship Type="http://schemas.openxmlformats.org/officeDocument/2006/relationships/notesSlide" Target="/ppt/notesSlides/notesSlide1.xml" Id="R458ac960906945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aa3cca4722a4179" /><Relationship Type="http://schemas.openxmlformats.org/officeDocument/2006/relationships/notesSlide" Target="/ppt/notesSlides/notesSlide2.xml" Id="R68ea641b114442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ac2a92c09be4ce7" /><Relationship Type="http://schemas.openxmlformats.org/officeDocument/2006/relationships/notesSlide" Target="/ppt/notesSlides/notesSlide3.xml" Id="R723bc2497e5146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1c16630f1f04bcc" /><Relationship Type="http://schemas.openxmlformats.org/officeDocument/2006/relationships/notesSlide" Target="/ppt/notesSlides/notesSlide4.xml" Id="R5bd0949a9e3643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d544af047354c97" /><Relationship Type="http://schemas.openxmlformats.org/officeDocument/2006/relationships/notesSlide" Target="/ppt/notesSlides/notesSlide5.xml" Id="Rea58736c14b94c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cb4c99ec5e54173" /><Relationship Type="http://schemas.openxmlformats.org/officeDocument/2006/relationships/notesSlide" Target="/ppt/notesSlides/notesSlide6.xml" Id="R4fc3b267d5f343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46d683852f44b86" /><Relationship Type="http://schemas.openxmlformats.org/officeDocument/2006/relationships/notesSlide" Target="/ppt/notesSlides/notesSlide7.xml" Id="Rde04fa883c1b4e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3e952a75b7e4e1a" /><Relationship Type="http://schemas.openxmlformats.org/officeDocument/2006/relationships/notesSlide" Target="/ppt/notesSlides/notesSlide8.xml" Id="Rb5ea0b738d1f40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5748d8188794a41" /><Relationship Type="http://schemas.openxmlformats.org/officeDocument/2006/relationships/image" Target="/ppt/media/image.png" Id="R4cb7348c022a468c" /><Relationship Type="http://schemas.openxmlformats.org/officeDocument/2006/relationships/notesSlide" Target="/ppt/notesSlides/notesSlide9.xml" Id="Recacd148963d4d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ee627d6b9ef41fa" /><Relationship Type="http://schemas.openxmlformats.org/officeDocument/2006/relationships/notesSlide" Target="/ppt/notesSlides/notesSlide10.xml" Id="R93c4c078809c45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7e76ea2e5f7424c" /><Relationship Type="http://schemas.openxmlformats.org/officeDocument/2006/relationships/image" Target="/ppt/media/image2.png" Id="R525e662e529b4a6d" /><Relationship Type="http://schemas.openxmlformats.org/officeDocument/2006/relationships/notesSlide" Target="/ppt/notesSlides/notesSlide11.xml" Id="R0f67f207986341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a94fdca6e694983" /><Relationship Type="http://schemas.openxmlformats.org/officeDocument/2006/relationships/notesSlide" Target="/ppt/notesSlides/notesSlide12.xml" Id="R02d38726b49a41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cb022c7d0b64997" /><Relationship Type="http://schemas.openxmlformats.org/officeDocument/2006/relationships/notesSlide" Target="/ppt/notesSlides/notesSlide13.xml" Id="Rc3efe3731e114e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e0a8df36d2af49ff" /><Relationship Type="http://schemas.openxmlformats.org/officeDocument/2006/relationships/notesSlide" Target="/ppt/notesSlides/notesSlide14.xml" Id="R103c7d9085f149d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53456a2d65d4779" /><Relationship Type="http://schemas.openxmlformats.org/officeDocument/2006/relationships/notesSlide" Target="/ppt/notesSlides/notesSlide15.xml" Id="R56bc255d846a4b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a735b0dba2b54348" /><Relationship Type="http://schemas.openxmlformats.org/officeDocument/2006/relationships/notesSlide" Target="/ppt/notesSlides/notesSlide16.xml" Id="Ra2666aad1e49446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f7f491973941401f" /><Relationship Type="http://schemas.openxmlformats.org/officeDocument/2006/relationships/notesSlide" Target="/ppt/notesSlides/notesSlide17.xml" Id="R1694a0fec5224d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0c5bf68d2614d28" /><Relationship Type="http://schemas.openxmlformats.org/officeDocument/2006/relationships/image" Target="/ppt/media/image3.png" Id="R7b170275355946b2" /><Relationship Type="http://schemas.openxmlformats.org/officeDocument/2006/relationships/notesSlide" Target="/ppt/notesSlides/notesSlide18.xml" Id="Rb852d08801ef450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6b0c3cf61f2e4b19" /><Relationship Type="http://schemas.openxmlformats.org/officeDocument/2006/relationships/notesSlide" Target="/ppt/notesSlides/notesSlide19.xml" Id="R21d67feb302743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4d928458f3364e00" /><Relationship Type="http://schemas.openxmlformats.org/officeDocument/2006/relationships/notesSlide" Target="/ppt/notesSlides/notesSlide20.xml" Id="Rae332c0d57504c6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c81cb3218644ed1" /><Relationship Type="http://schemas.openxmlformats.org/officeDocument/2006/relationships/notesSlide" Target="/ppt/notesSlides/notesSlide21.xml" Id="R570959e05ee4454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8588816ff734aac" /><Relationship Type="http://schemas.openxmlformats.org/officeDocument/2006/relationships/notesSlide" Target="/ppt/notesSlides/notesSlide22.xml" Id="R124cca949c5e4b6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1D03B5-F232-4BE1-83DD-A2303DF452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B1020"/>
            </a:solidFill>
            <a:prstDash val="solid"/>
          </a:ln>
        </p:spPr>
      </p:sp>
      <p:sp>
        <p:nvSpPr>
          <p:cNvPr id="2" name="">
            <a:extLst xmlns:a="http://schemas.openxmlformats.org/drawingml/2006/main">
              <a:ext uri="{FF2B5EF4-FFF2-40B4-BE49-F238E27FC236}">
                <a16:creationId xmlns:a16="http://schemas.microsoft.com/office/drawing/2014/main" id="{B670AB95-C2EA-4F96-8976-5172CA2CD103}"/>
              </a:ext>
            </a:extLst>
          </p:cNvPr>
          <p:cNvSpPr>
            <a:spLocks xmlns:a="http://schemas.openxmlformats.org/drawingml/2006/main" noGrp="1"/>
          </p:cNvSpPr>
          <p:nvPr/>
        </p:nvSpPr>
        <p:spPr>
          <a:xfrm xmlns:a="http://schemas.openxmlformats.org/drawingml/2006/main">
            <a:off x="7067550" y="0"/>
            <a:ext cx="5124450" cy="6858000"/>
          </a:xfrm>
          <a:prstGeom xmlns:a="http://schemas.openxmlformats.org/drawingml/2006/main" prst="rect">
            <a:avLst/>
          </a:prstGeom>
          <a:solidFill xmlns:a="http://schemas.openxmlformats.org/drawingml/2006/main">
            <a:srgbClr val="173B2E"/>
          </a:solidFill>
          <a:ln xmlns:a="http://schemas.openxmlformats.org/drawingml/2006/main" w="0">
            <a:solidFill>
              <a:srgbClr val="173B2E"/>
            </a:solidFill>
            <a:prstDash val="solid"/>
          </a:ln>
        </p:spPr>
      </p:sp>
      <p:sp>
        <p:nvSpPr>
          <p:cNvPr id="3" name="">
            <a:extLst xmlns:a="http://schemas.openxmlformats.org/drawingml/2006/main">
              <a:ext uri="{FF2B5EF4-FFF2-40B4-BE49-F238E27FC236}">
                <a16:creationId xmlns:a16="http://schemas.microsoft.com/office/drawing/2014/main" id="{B8227C57-D1F0-4630-8A03-35515909CE18}"/>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4" name="">
            <a:extLst xmlns:a="http://schemas.openxmlformats.org/drawingml/2006/main">
              <a:ext uri="{FF2B5EF4-FFF2-40B4-BE49-F238E27FC236}">
                <a16:creationId xmlns:a16="http://schemas.microsoft.com/office/drawing/2014/main" id="{77AB63F0-BFD3-466B-A54D-F91D097E9755}"/>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C58B2B"/>
                </a:solidFill>
                <a:latin typeface="Aptos"/>
                <a:ea typeface="Aptos"/>
                <a:cs typeface="Aptos"/>
              </a:defRPr>
            </a:pPr>
            <a:r>
              <a:rPr sz="1050" b="1">
                <a:solidFill>
                  <a:srgbClr val="C58B2B"/>
                </a:solidFill>
                <a:latin typeface="Aptos"/>
                <a:ea typeface="Aptos"/>
                <a:cs typeface="Aptos"/>
              </a:rPr>
              <a:t>RELIABILITY-AWARE BIODEGRADATION ML</a:t>
            </a:r>
          </a:p>
        </p:txBody>
      </p:sp>
      <p:sp>
        <p:nvSpPr>
          <p:cNvPr id="5" name="">
            <a:extLst xmlns:a="http://schemas.openxmlformats.org/drawingml/2006/main">
              <a:ext uri="{FF2B5EF4-FFF2-40B4-BE49-F238E27FC236}">
                <a16:creationId xmlns:a16="http://schemas.microsoft.com/office/drawing/2014/main" id="{88104A18-87CB-41EB-B4FA-C7D6824039C9}"/>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PolyDegradeML</a:t>
            </a:r>
          </a:p>
        </p:txBody>
      </p:sp>
      <p:sp>
        <p:nvSpPr>
          <p:cNvPr id="6" name="">
            <a:extLst xmlns:a="http://schemas.openxmlformats.org/drawingml/2006/main">
              <a:ext uri="{FF2B5EF4-FFF2-40B4-BE49-F238E27FC236}">
                <a16:creationId xmlns:a16="http://schemas.microsoft.com/office/drawing/2014/main" id="{74C194B6-9930-4857-BB6A-037230A96330}"/>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DCE3EA"/>
                </a:solidFill>
                <a:latin typeface="Aptos"/>
                <a:ea typeface="Aptos"/>
                <a:cs typeface="Aptos"/>
              </a:defRPr>
            </a:pPr>
            <a:r>
              <a:rPr sz="1650" b="0">
                <a:solidFill>
                  <a:srgbClr val="DCE3EA"/>
                </a:solidFill>
                <a:latin typeface="Aptos"/>
                <a:ea typeface="Aptos"/>
                <a:cs typeface="Aptos"/>
              </a:rPr>
              <a:t>A research case study in teaching models when not to trust themselves</a:t>
            </a:r>
          </a:p>
        </p:txBody>
      </p:sp>
      <p:sp>
        <p:nvSpPr>
          <p:cNvPr id="7" name="">
            <a:extLst xmlns:a="http://schemas.openxmlformats.org/drawingml/2006/main">
              <a:ext uri="{FF2B5EF4-FFF2-40B4-BE49-F238E27FC236}">
                <a16:creationId xmlns:a16="http://schemas.microsoft.com/office/drawing/2014/main" id="{5C53240C-362A-423C-900E-33D1638E3136}"/>
              </a:ext>
            </a:extLst>
          </p:cNvPr>
          <p:cNvSpPr>
            <a:spLocks xmlns:a="http://schemas.openxmlformats.org/drawingml/2006/main" noGrp="1"/>
          </p:cNvSpPr>
          <p:nvPr/>
        </p:nvSpPr>
        <p:spPr>
          <a:xfrm xmlns:a="http://schemas.openxmlformats.org/drawingml/2006/main">
            <a:off x="7620000" y="1257300"/>
            <a:ext cx="3429000" cy="3524250"/>
          </a:xfrm>
          <a:prstGeom xmlns:a="http://schemas.openxmlformats.org/drawingml/2006/main" prst="rect">
            <a:avLst/>
          </a:prstGeom>
          <a:solidFill xmlns:a="http://schemas.openxmlformats.org/drawingml/2006/main">
            <a:srgbClr val="173B2E"/>
          </a:solidFill>
          <a:ln xmlns:a="http://schemas.openxmlformats.org/drawingml/2006/main" w="0">
            <a:solidFill>
              <a:srgbClr val="173B2E"/>
            </a:solidFill>
            <a:prstDash val="solid"/>
          </a:ln>
        </p:spPr>
      </p:sp>
      <p:sp>
        <p:nvSpPr>
          <p:cNvPr id="8" name="">
            <a:extLst xmlns:a="http://schemas.openxmlformats.org/drawingml/2006/main">
              <a:ext uri="{FF2B5EF4-FFF2-40B4-BE49-F238E27FC236}">
                <a16:creationId xmlns:a16="http://schemas.microsoft.com/office/drawing/2014/main" id="{7334F0F0-96B9-4BFF-B5F0-D485ABA95145}"/>
              </a:ext>
            </a:extLst>
          </p:cNvPr>
          <p:cNvSpPr>
            <a:spLocks xmlns:a="http://schemas.openxmlformats.org/drawingml/2006/main" noGrp="1"/>
          </p:cNvSpPr>
          <p:nvPr/>
        </p:nvSpPr>
        <p:spPr>
          <a:xfrm xmlns:a="http://schemas.openxmlformats.org/drawingml/2006/main">
            <a:off x="7810500" y="1381125"/>
            <a:ext cx="2762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C58B2B"/>
                </a:solidFill>
                <a:latin typeface="Aptos Display"/>
                <a:ea typeface="Aptos Display"/>
                <a:cs typeface="Aptos Display"/>
              </a:defRPr>
            </a:pPr>
            <a:r>
              <a:rPr sz="3150" b="1">
                <a:solidFill>
                  <a:srgbClr val="C58B2B"/>
                </a:solidFill>
                <a:latin typeface="Aptos Display"/>
                <a:ea typeface="Aptos Display"/>
                <a:cs typeface="Aptos Display"/>
              </a:rPr>
              <a:t>1,055</a:t>
            </a:r>
          </a:p>
        </p:txBody>
      </p:sp>
      <p:sp>
        <p:nvSpPr>
          <p:cNvPr id="9" name="">
            <a:extLst xmlns:a="http://schemas.openxmlformats.org/drawingml/2006/main">
              <a:ext uri="{FF2B5EF4-FFF2-40B4-BE49-F238E27FC236}">
                <a16:creationId xmlns:a16="http://schemas.microsoft.com/office/drawing/2014/main" id="{29C427DA-4AFB-4321-B040-AD899FE38618}"/>
              </a:ext>
            </a:extLst>
          </p:cNvPr>
          <p:cNvSpPr>
            <a:spLocks xmlns:a="http://schemas.openxmlformats.org/drawingml/2006/main" noGrp="1"/>
          </p:cNvSpPr>
          <p:nvPr/>
        </p:nvSpPr>
        <p:spPr>
          <a:xfrm xmlns:a="http://schemas.openxmlformats.org/drawingml/2006/main">
            <a:off x="7810500" y="1933575"/>
            <a:ext cx="2762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DD"/>
                </a:solidFill>
                <a:latin typeface="Aptos"/>
                <a:ea typeface="Aptos"/>
                <a:cs typeface="Aptos"/>
              </a:defRPr>
            </a:pPr>
            <a:r>
              <a:rPr sz="1125" b="0">
                <a:solidFill>
                  <a:srgbClr val="C9D4DD"/>
                </a:solidFill>
                <a:latin typeface="Aptos"/>
                <a:ea typeface="Aptos"/>
                <a:cs typeface="Aptos"/>
              </a:rPr>
              <a:t>QSAR biodegradation samples</a:t>
            </a:r>
          </a:p>
        </p:txBody>
      </p:sp>
      <p:sp>
        <p:nvSpPr>
          <p:cNvPr id="10" name="">
            <a:extLst xmlns:a="http://schemas.openxmlformats.org/drawingml/2006/main">
              <a:ext uri="{FF2B5EF4-FFF2-40B4-BE49-F238E27FC236}">
                <a16:creationId xmlns:a16="http://schemas.microsoft.com/office/drawing/2014/main" id="{C38F0E70-6CEF-4A8B-A91B-5BB15EF108A4}"/>
              </a:ext>
            </a:extLst>
          </p:cNvPr>
          <p:cNvSpPr>
            <a:spLocks xmlns:a="http://schemas.openxmlformats.org/drawingml/2006/main" noGrp="1"/>
          </p:cNvSpPr>
          <p:nvPr/>
        </p:nvSpPr>
        <p:spPr>
          <a:xfrm xmlns:a="http://schemas.openxmlformats.org/drawingml/2006/main">
            <a:off x="7810500" y="2619375"/>
            <a:ext cx="2762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C58B2B"/>
                </a:solidFill>
                <a:latin typeface="Aptos Display"/>
                <a:ea typeface="Aptos Display"/>
                <a:cs typeface="Aptos Display"/>
              </a:defRPr>
            </a:pPr>
            <a:r>
              <a:rPr sz="3150" b="1">
                <a:solidFill>
                  <a:srgbClr val="C58B2B"/>
                </a:solidFill>
                <a:latin typeface="Aptos Display"/>
                <a:ea typeface="Aptos Display"/>
                <a:cs typeface="Aptos Display"/>
              </a:rPr>
              <a:t>41</a:t>
            </a:r>
          </a:p>
        </p:txBody>
      </p:sp>
      <p:sp>
        <p:nvSpPr>
          <p:cNvPr id="11" name="">
            <a:extLst xmlns:a="http://schemas.openxmlformats.org/drawingml/2006/main">
              <a:ext uri="{FF2B5EF4-FFF2-40B4-BE49-F238E27FC236}">
                <a16:creationId xmlns:a16="http://schemas.microsoft.com/office/drawing/2014/main" id="{FBD11BCB-424C-48AF-9265-93EF08D07181}"/>
              </a:ext>
            </a:extLst>
          </p:cNvPr>
          <p:cNvSpPr>
            <a:spLocks xmlns:a="http://schemas.openxmlformats.org/drawingml/2006/main" noGrp="1"/>
          </p:cNvSpPr>
          <p:nvPr/>
        </p:nvSpPr>
        <p:spPr>
          <a:xfrm xmlns:a="http://schemas.openxmlformats.org/drawingml/2006/main">
            <a:off x="7810500" y="3171825"/>
            <a:ext cx="2762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DD"/>
                </a:solidFill>
                <a:latin typeface="Aptos"/>
                <a:ea typeface="Aptos"/>
                <a:cs typeface="Aptos"/>
              </a:defRPr>
            </a:pPr>
            <a:r>
              <a:rPr sz="1125" b="0">
                <a:solidFill>
                  <a:srgbClr val="C9D4DD"/>
                </a:solidFill>
                <a:latin typeface="Aptos"/>
                <a:ea typeface="Aptos"/>
                <a:cs typeface="Aptos"/>
              </a:rPr>
              <a:t>descriptor features</a:t>
            </a:r>
          </a:p>
        </p:txBody>
      </p:sp>
      <p:sp>
        <p:nvSpPr>
          <p:cNvPr id="12" name="">
            <a:extLst xmlns:a="http://schemas.openxmlformats.org/drawingml/2006/main">
              <a:ext uri="{FF2B5EF4-FFF2-40B4-BE49-F238E27FC236}">
                <a16:creationId xmlns:a16="http://schemas.microsoft.com/office/drawing/2014/main" id="{D6946490-2ABE-42B8-BCC4-12FD0F3E7B3F}"/>
              </a:ext>
            </a:extLst>
          </p:cNvPr>
          <p:cNvSpPr>
            <a:spLocks xmlns:a="http://schemas.openxmlformats.org/drawingml/2006/main" noGrp="1"/>
          </p:cNvSpPr>
          <p:nvPr/>
        </p:nvSpPr>
        <p:spPr>
          <a:xfrm xmlns:a="http://schemas.openxmlformats.org/drawingml/2006/main">
            <a:off x="7810500" y="3857625"/>
            <a:ext cx="3143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C58B2B"/>
                </a:solidFill>
                <a:latin typeface="Aptos Display"/>
                <a:ea typeface="Aptos Display"/>
                <a:cs typeface="Aptos Display"/>
              </a:defRPr>
            </a:pPr>
            <a:r>
              <a:rPr sz="3150" b="1">
                <a:solidFill>
                  <a:srgbClr val="C58B2B"/>
                </a:solidFill>
                <a:latin typeface="Aptos Display"/>
                <a:ea typeface="Aptos Display"/>
                <a:cs typeface="Aptos Display"/>
              </a:rPr>
              <a:t>0.8860</a:t>
            </a:r>
          </a:p>
        </p:txBody>
      </p:sp>
      <p:sp>
        <p:nvSpPr>
          <p:cNvPr id="13" name="">
            <a:extLst xmlns:a="http://schemas.openxmlformats.org/drawingml/2006/main">
              <a:ext uri="{FF2B5EF4-FFF2-40B4-BE49-F238E27FC236}">
                <a16:creationId xmlns:a16="http://schemas.microsoft.com/office/drawing/2014/main" id="{660E3BF0-8F75-4256-9E2A-11631587531C}"/>
              </a:ext>
            </a:extLst>
          </p:cNvPr>
          <p:cNvSpPr>
            <a:spLocks xmlns:a="http://schemas.openxmlformats.org/drawingml/2006/main" noGrp="1"/>
          </p:cNvSpPr>
          <p:nvPr/>
        </p:nvSpPr>
        <p:spPr>
          <a:xfrm xmlns:a="http://schemas.openxmlformats.org/drawingml/2006/main">
            <a:off x="7810500" y="4410075"/>
            <a:ext cx="3143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DD"/>
                </a:solidFill>
                <a:latin typeface="Aptos"/>
                <a:ea typeface="Aptos"/>
                <a:cs typeface="Aptos"/>
              </a:defRPr>
            </a:pPr>
            <a:r>
              <a:rPr sz="1125" b="0">
                <a:solidFill>
                  <a:srgbClr val="C9D4DD"/>
                </a:solidFill>
                <a:latin typeface="Aptos"/>
                <a:ea typeface="Aptos"/>
                <a:cs typeface="Aptos"/>
              </a:rPr>
              <a:t>final reliability score</a:t>
            </a:r>
          </a:p>
        </p:txBody>
      </p:sp>
      <p:sp>
        <p:nvSpPr>
          <p:cNvPr id="14" name="">
            <a:extLst xmlns:a="http://schemas.openxmlformats.org/drawingml/2006/main">
              <a:ext uri="{FF2B5EF4-FFF2-40B4-BE49-F238E27FC236}">
                <a16:creationId xmlns:a16="http://schemas.microsoft.com/office/drawing/2014/main" id="{42977C71-AE8E-4420-AA05-1D360A3DEC2C}"/>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5" name="">
            <a:extLst xmlns:a="http://schemas.openxmlformats.org/drawingml/2006/main">
              <a:ext uri="{FF2B5EF4-FFF2-40B4-BE49-F238E27FC236}">
                <a16:creationId xmlns:a16="http://schemas.microsoft.com/office/drawing/2014/main" id="{3AD0D615-F1CF-40EA-A3EC-88AF69FE4326}"/>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Sources: datasets/qsar_biodegradation_descriptor_benchmark/metadata/qsar_biodegradation_metadata.json; reports/model_reliability_report.md</a:t>
            </a:r>
          </a:p>
        </p:txBody>
      </p:sp>
    </p:spTree>
    <p:extLst>
      <p:ext uri="{BB962C8B-B14F-4D97-AF65-F5344CB8AC3E}">
        <p14:creationId xmlns:p14="http://schemas.microsoft.com/office/powerpoint/2010/main" val="141449192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5C0C45-6873-4CB8-9731-7591F7DB08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FD7D7D7A-45FF-4D3C-BADF-38BB7F35A1BB}"/>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6679297B-C016-439A-A8D4-3B964BB4D086}"/>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THE REAL-WORLD PROBLEM</a:t>
            </a:r>
          </a:p>
        </p:txBody>
      </p:sp>
      <p:sp>
        <p:nvSpPr>
          <p:cNvPr id="4" name="">
            <a:extLst xmlns:a="http://schemas.openxmlformats.org/drawingml/2006/main">
              <a:ext uri="{FF2B5EF4-FFF2-40B4-BE49-F238E27FC236}">
                <a16:creationId xmlns:a16="http://schemas.microsoft.com/office/drawing/2014/main" id="{2FDA82C3-9211-4B29-8F00-B647BE25B288}"/>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Plastic degradation is not one problem.</a:t>
            </a:r>
          </a:p>
        </p:txBody>
      </p:sp>
      <p:sp>
        <p:nvSpPr>
          <p:cNvPr id="5" name="">
            <a:extLst xmlns:a="http://schemas.openxmlformats.org/drawingml/2006/main">
              <a:ext uri="{FF2B5EF4-FFF2-40B4-BE49-F238E27FC236}">
                <a16:creationId xmlns:a16="http://schemas.microsoft.com/office/drawing/2014/main" id="{71A6D8FA-9467-4BFE-9732-D1270D8E532D}"/>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It is chemistry, biology, time, and environment interacting.</a:t>
            </a:r>
          </a:p>
        </p:txBody>
      </p:sp>
      <p:sp>
        <p:nvSpPr>
          <p:cNvPr id="6" name="">
            <a:extLst xmlns:a="http://schemas.openxmlformats.org/drawingml/2006/main">
              <a:ext uri="{FF2B5EF4-FFF2-40B4-BE49-F238E27FC236}">
                <a16:creationId xmlns:a16="http://schemas.microsoft.com/office/drawing/2014/main" id="{A934CEB0-D51D-4E23-BC06-BB0A6F2395BC}"/>
              </a:ext>
            </a:extLst>
          </p:cNvPr>
          <p:cNvSpPr>
            <a:spLocks xmlns:a="http://schemas.openxmlformats.org/drawingml/2006/main" noGrp="1"/>
          </p:cNvSpPr>
          <p:nvPr/>
        </p:nvSpPr>
        <p:spPr>
          <a:xfrm xmlns:a="http://schemas.openxmlformats.org/drawingml/2006/main">
            <a:off x="742950" y="3143250"/>
            <a:ext cx="2952750" cy="1381125"/>
          </a:xfrm>
          <a:prstGeom xmlns:a="http://schemas.openxmlformats.org/drawingml/2006/main" prst="rect">
            <a:avLst/>
          </a:prstGeom>
          <a:solidFill xmlns:a="http://schemas.openxmlformats.org/drawingml/2006/main">
            <a:srgbClr val="DDE9DF"/>
          </a:solidFill>
          <a:ln xmlns:a="http://schemas.openxmlformats.org/drawingml/2006/main" w="9525">
            <a:solidFill>
              <a:srgbClr val="FFFFFF">
                <a:alpha val="40000"/>
              </a:srgbClr>
            </a:solidFill>
            <a:prstDash val="solid"/>
          </a:ln>
        </p:spPr>
      </p:sp>
      <p:sp>
        <p:nvSpPr>
          <p:cNvPr id="7" name="">
            <a:extLst xmlns:a="http://schemas.openxmlformats.org/drawingml/2006/main">
              <a:ext uri="{FF2B5EF4-FFF2-40B4-BE49-F238E27FC236}">
                <a16:creationId xmlns:a16="http://schemas.microsoft.com/office/drawing/2014/main" id="{1EFE83C3-05AA-4568-9931-44290727F755}"/>
              </a:ext>
            </a:extLst>
          </p:cNvPr>
          <p:cNvSpPr>
            <a:spLocks xmlns:a="http://schemas.openxmlformats.org/drawingml/2006/main" noGrp="1"/>
          </p:cNvSpPr>
          <p:nvPr/>
        </p:nvSpPr>
        <p:spPr>
          <a:xfrm xmlns:a="http://schemas.openxmlformats.org/drawingml/2006/main">
            <a:off x="895350" y="3276600"/>
            <a:ext cx="2647950" cy="1114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Hydrolysis</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water-mediated cleavage</a:t>
            </a:r>
          </a:p>
        </p:txBody>
      </p:sp>
      <p:sp>
        <p:nvSpPr>
          <p:cNvPr id="8" name="">
            <a:extLst xmlns:a="http://schemas.openxmlformats.org/drawingml/2006/main">
              <a:ext uri="{FF2B5EF4-FFF2-40B4-BE49-F238E27FC236}">
                <a16:creationId xmlns:a16="http://schemas.microsoft.com/office/drawing/2014/main" id="{78F074FD-FD56-4404-A165-A1E9F3E840DF}"/>
              </a:ext>
            </a:extLst>
          </p:cNvPr>
          <p:cNvSpPr>
            <a:spLocks xmlns:a="http://schemas.openxmlformats.org/drawingml/2006/main" noGrp="1"/>
          </p:cNvSpPr>
          <p:nvPr/>
        </p:nvSpPr>
        <p:spPr>
          <a:xfrm xmlns:a="http://schemas.openxmlformats.org/drawingml/2006/main">
            <a:off x="4619625" y="3143250"/>
            <a:ext cx="2952750" cy="1381125"/>
          </a:xfrm>
          <a:prstGeom xmlns:a="http://schemas.openxmlformats.org/drawingml/2006/main" prst="rect">
            <a:avLst/>
          </a:prstGeom>
          <a:solidFill xmlns:a="http://schemas.openxmlformats.org/drawingml/2006/main">
            <a:srgbClr val="EFE1C6"/>
          </a:solidFill>
          <a:ln xmlns:a="http://schemas.openxmlformats.org/drawingml/2006/main" w="9525">
            <a:solidFill>
              <a:srgbClr val="FFFFFF">
                <a:alpha val="40000"/>
              </a:srgbClr>
            </a:solidFill>
            <a:prstDash val="solid"/>
          </a:ln>
        </p:spPr>
      </p:sp>
      <p:sp>
        <p:nvSpPr>
          <p:cNvPr id="9" name="">
            <a:extLst xmlns:a="http://schemas.openxmlformats.org/drawingml/2006/main">
              <a:ext uri="{FF2B5EF4-FFF2-40B4-BE49-F238E27FC236}">
                <a16:creationId xmlns:a16="http://schemas.microsoft.com/office/drawing/2014/main" id="{9EE293A5-31F7-41E2-93AA-08753DAA2FF1}"/>
              </a:ext>
            </a:extLst>
          </p:cNvPr>
          <p:cNvSpPr>
            <a:spLocks xmlns:a="http://schemas.openxmlformats.org/drawingml/2006/main" noGrp="1"/>
          </p:cNvSpPr>
          <p:nvPr/>
        </p:nvSpPr>
        <p:spPr>
          <a:xfrm xmlns:a="http://schemas.openxmlformats.org/drawingml/2006/main">
            <a:off x="4772025" y="3276600"/>
            <a:ext cx="2647950" cy="1114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Photo-oxidation</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UV + oxygen chemistry</a:t>
            </a:r>
          </a:p>
        </p:txBody>
      </p:sp>
      <p:sp>
        <p:nvSpPr>
          <p:cNvPr id="10" name="">
            <a:extLst xmlns:a="http://schemas.openxmlformats.org/drawingml/2006/main">
              <a:ext uri="{FF2B5EF4-FFF2-40B4-BE49-F238E27FC236}">
                <a16:creationId xmlns:a16="http://schemas.microsoft.com/office/drawing/2014/main" id="{9CB4626C-C5EF-4241-8C2F-710E4DD8CB1B}"/>
              </a:ext>
            </a:extLst>
          </p:cNvPr>
          <p:cNvSpPr>
            <a:spLocks xmlns:a="http://schemas.openxmlformats.org/drawingml/2006/main" noGrp="1"/>
          </p:cNvSpPr>
          <p:nvPr/>
        </p:nvSpPr>
        <p:spPr>
          <a:xfrm xmlns:a="http://schemas.openxmlformats.org/drawingml/2006/main">
            <a:off x="8496300" y="3143250"/>
            <a:ext cx="2952750" cy="1381125"/>
          </a:xfrm>
          <a:prstGeom xmlns:a="http://schemas.openxmlformats.org/drawingml/2006/main" prst="rect">
            <a:avLst/>
          </a:prstGeom>
          <a:solidFill xmlns:a="http://schemas.openxmlformats.org/drawingml/2006/main">
            <a:srgbClr val="DDE7F7"/>
          </a:solidFill>
          <a:ln xmlns:a="http://schemas.openxmlformats.org/drawingml/2006/main" w="9525">
            <a:solidFill>
              <a:srgbClr val="FFFFFF">
                <a:alpha val="40000"/>
              </a:srgbClr>
            </a:solidFill>
            <a:prstDash val="solid"/>
          </a:ln>
        </p:spPr>
      </p:sp>
      <p:sp>
        <p:nvSpPr>
          <p:cNvPr id="11" name="">
            <a:extLst xmlns:a="http://schemas.openxmlformats.org/drawingml/2006/main">
              <a:ext uri="{FF2B5EF4-FFF2-40B4-BE49-F238E27FC236}">
                <a16:creationId xmlns:a16="http://schemas.microsoft.com/office/drawing/2014/main" id="{79B4CA6F-C5B6-42FB-8BA7-03F8744C400E}"/>
              </a:ext>
            </a:extLst>
          </p:cNvPr>
          <p:cNvSpPr>
            <a:spLocks xmlns:a="http://schemas.openxmlformats.org/drawingml/2006/main" noGrp="1"/>
          </p:cNvSpPr>
          <p:nvPr/>
        </p:nvSpPr>
        <p:spPr>
          <a:xfrm xmlns:a="http://schemas.openxmlformats.org/drawingml/2006/main">
            <a:off x="8648700" y="3276600"/>
            <a:ext cx="2647950" cy="11144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Biodegradation</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microbial transformation</a:t>
            </a:r>
          </a:p>
        </p:txBody>
      </p:sp>
      <p:sp>
        <p:nvSpPr>
          <p:cNvPr id="12" name="">
            <a:extLst xmlns:a="http://schemas.openxmlformats.org/drawingml/2006/main">
              <a:ext uri="{FF2B5EF4-FFF2-40B4-BE49-F238E27FC236}">
                <a16:creationId xmlns:a16="http://schemas.microsoft.com/office/drawing/2014/main" id="{58A8C5BC-55DC-4E8D-9518-9AEB8329D17A}"/>
              </a:ext>
            </a:extLst>
          </p:cNvPr>
          <p:cNvSpPr>
            <a:spLocks xmlns:a="http://schemas.openxmlformats.org/drawingml/2006/main" noGrp="1"/>
          </p:cNvSpPr>
          <p:nvPr/>
        </p:nvSpPr>
        <p:spPr>
          <a:xfrm xmlns:a="http://schemas.openxmlformats.org/drawingml/2006/main">
            <a:off x="819150" y="49911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3" name="">
            <a:extLst xmlns:a="http://schemas.openxmlformats.org/drawingml/2006/main">
              <a:ext uri="{FF2B5EF4-FFF2-40B4-BE49-F238E27FC236}">
                <a16:creationId xmlns:a16="http://schemas.microsoft.com/office/drawing/2014/main" id="{4A26B33F-C11C-4105-B634-F7C8AEE63509}"/>
              </a:ext>
            </a:extLst>
          </p:cNvPr>
          <p:cNvSpPr>
            <a:spLocks xmlns:a="http://schemas.openxmlformats.org/drawingml/2006/main" noGrp="1"/>
          </p:cNvSpPr>
          <p:nvPr/>
        </p:nvSpPr>
        <p:spPr>
          <a:xfrm xmlns:a="http://schemas.openxmlformats.org/drawingml/2006/main">
            <a:off x="1028700" y="4905375"/>
            <a:ext cx="10287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The current model predicts a descriptor-based ready-biodegradability label.</a:t>
            </a:r>
          </a:p>
        </p:txBody>
      </p:sp>
      <p:sp>
        <p:nvSpPr>
          <p:cNvPr id="14" name="">
            <a:extLst xmlns:a="http://schemas.openxmlformats.org/drawingml/2006/main">
              <a:ext uri="{FF2B5EF4-FFF2-40B4-BE49-F238E27FC236}">
                <a16:creationId xmlns:a16="http://schemas.microsoft.com/office/drawing/2014/main" id="{F48F98B5-09D6-435B-A2F3-D133192EC6DE}"/>
              </a:ext>
            </a:extLst>
          </p:cNvPr>
          <p:cNvSpPr>
            <a:spLocks xmlns:a="http://schemas.openxmlformats.org/drawingml/2006/main" noGrp="1"/>
          </p:cNvSpPr>
          <p:nvPr/>
        </p:nvSpPr>
        <p:spPr>
          <a:xfrm xmlns:a="http://schemas.openxmlformats.org/drawingml/2006/main">
            <a:off x="819150" y="53530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5" name="">
            <a:extLst xmlns:a="http://schemas.openxmlformats.org/drawingml/2006/main">
              <a:ext uri="{FF2B5EF4-FFF2-40B4-BE49-F238E27FC236}">
                <a16:creationId xmlns:a16="http://schemas.microsoft.com/office/drawing/2014/main" id="{472F6BF0-4452-4BBD-88BB-CE036E9EC9E8}"/>
              </a:ext>
            </a:extLst>
          </p:cNvPr>
          <p:cNvSpPr>
            <a:spLocks xmlns:a="http://schemas.openxmlformats.org/drawingml/2006/main" noGrp="1"/>
          </p:cNvSpPr>
          <p:nvPr/>
        </p:nvSpPr>
        <p:spPr>
          <a:xfrm xmlns:a="http://schemas.openxmlformats.org/drawingml/2006/main">
            <a:off x="1028700" y="5267325"/>
            <a:ext cx="10287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It does not simulate every degradation mechanism.</a:t>
            </a:r>
          </a:p>
        </p:txBody>
      </p:sp>
      <p:sp>
        <p:nvSpPr>
          <p:cNvPr id="16" name="">
            <a:extLst xmlns:a="http://schemas.openxmlformats.org/drawingml/2006/main">
              <a:ext uri="{FF2B5EF4-FFF2-40B4-BE49-F238E27FC236}">
                <a16:creationId xmlns:a16="http://schemas.microsoft.com/office/drawing/2014/main" id="{EC1B5E3E-C40F-4ADA-9444-FEB6AB3C7154}"/>
              </a:ext>
            </a:extLst>
          </p:cNvPr>
          <p:cNvSpPr>
            <a:spLocks xmlns:a="http://schemas.openxmlformats.org/drawingml/2006/main" noGrp="1"/>
          </p:cNvSpPr>
          <p:nvPr/>
        </p:nvSpPr>
        <p:spPr>
          <a:xfrm xmlns:a="http://schemas.openxmlformats.org/drawingml/2006/main">
            <a:off x="819150" y="57150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7" name="">
            <a:extLst xmlns:a="http://schemas.openxmlformats.org/drawingml/2006/main">
              <a:ext uri="{FF2B5EF4-FFF2-40B4-BE49-F238E27FC236}">
                <a16:creationId xmlns:a16="http://schemas.microsoft.com/office/drawing/2014/main" id="{2191CFE5-14D3-4A37-AA83-A3AB54F024BC}"/>
              </a:ext>
            </a:extLst>
          </p:cNvPr>
          <p:cNvSpPr>
            <a:spLocks xmlns:a="http://schemas.openxmlformats.org/drawingml/2006/main" noGrp="1"/>
          </p:cNvSpPr>
          <p:nvPr/>
        </p:nvSpPr>
        <p:spPr>
          <a:xfrm xmlns:a="http://schemas.openxmlformats.org/drawingml/2006/main">
            <a:off x="1028700" y="5629275"/>
            <a:ext cx="10287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That boundary makes the science stronger, not weaker.</a:t>
            </a:r>
          </a:p>
        </p:txBody>
      </p:sp>
      <p:sp>
        <p:nvSpPr>
          <p:cNvPr id="18" name="">
            <a:extLst xmlns:a="http://schemas.openxmlformats.org/drawingml/2006/main">
              <a:ext uri="{FF2B5EF4-FFF2-40B4-BE49-F238E27FC236}">
                <a16:creationId xmlns:a16="http://schemas.microsoft.com/office/drawing/2014/main" id="{A6E66D41-DCD6-463B-BF43-4D1C19E0C8ED}"/>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9" name="">
            <a:extLst xmlns:a="http://schemas.openxmlformats.org/drawingml/2006/main">
              <a:ext uri="{FF2B5EF4-FFF2-40B4-BE49-F238E27FC236}">
                <a16:creationId xmlns:a16="http://schemas.microsoft.com/office/drawing/2014/main" id="{A0261052-75B2-4BE7-B2F1-D7DC00ED924A}"/>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Sources: source_materials/reports/Week_01_Applied_Work.docx; manuscript Section 6.1</a:t>
            </a:r>
          </a:p>
        </p:txBody>
      </p:sp>
    </p:spTree>
    <p:extLst>
      <p:ext uri="{BB962C8B-B14F-4D97-AF65-F5344CB8AC3E}">
        <p14:creationId xmlns:p14="http://schemas.microsoft.com/office/powerpoint/2010/main" val="1288957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E899AA2-309B-42A0-BDAF-8E7EC69AB0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00F65BC2-0A74-4D1D-B475-8874EB70F817}"/>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9C14A490-7195-4D4F-8CC7-25B2338DE603}"/>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CENTRAL QUESTION</a:t>
            </a:r>
          </a:p>
        </p:txBody>
      </p:sp>
      <p:sp>
        <p:nvSpPr>
          <p:cNvPr id="4" name="">
            <a:extLst xmlns:a="http://schemas.openxmlformats.org/drawingml/2006/main">
              <a:ext uri="{FF2B5EF4-FFF2-40B4-BE49-F238E27FC236}">
                <a16:creationId xmlns:a16="http://schemas.microsoft.com/office/drawing/2014/main" id="{39017CA8-5842-4F1D-8E75-FEC56D9D5209}"/>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scientific question changed.</a:t>
            </a:r>
          </a:p>
        </p:txBody>
      </p:sp>
      <p:sp>
        <p:nvSpPr>
          <p:cNvPr id="5" name="">
            <a:extLst xmlns:a="http://schemas.openxmlformats.org/drawingml/2006/main">
              <a:ext uri="{FF2B5EF4-FFF2-40B4-BE49-F238E27FC236}">
                <a16:creationId xmlns:a16="http://schemas.microsoft.com/office/drawing/2014/main" id="{88281C42-BF8D-40DA-9A7A-4F0F082A0ECD}"/>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From: Which model is most accurate? To: Which model is most trustworthy?</a:t>
            </a:r>
          </a:p>
        </p:txBody>
      </p:sp>
      <p:sp>
        <p:nvSpPr>
          <p:cNvPr id="6" name="">
            <a:extLst xmlns:a="http://schemas.openxmlformats.org/drawingml/2006/main">
              <a:ext uri="{FF2B5EF4-FFF2-40B4-BE49-F238E27FC236}">
                <a16:creationId xmlns:a16="http://schemas.microsoft.com/office/drawing/2014/main" id="{307C75ED-2BA8-4C62-A566-660DEBD167F1}"/>
              </a:ext>
            </a:extLst>
          </p:cNvPr>
          <p:cNvSpPr>
            <a:spLocks xmlns:a="http://schemas.openxmlformats.org/drawingml/2006/main" noGrp="1"/>
          </p:cNvSpPr>
          <p:nvPr/>
        </p:nvSpPr>
        <p:spPr>
          <a:xfrm xmlns:a="http://schemas.openxmlformats.org/drawingml/2006/main">
            <a:off x="1104900" y="3067050"/>
            <a:ext cx="9810750" cy="1524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400" b="1">
                <a:solidFill>
                  <a:srgbClr val="0B1020"/>
                </a:solidFill>
                <a:latin typeface="Aptos Display"/>
                <a:ea typeface="Aptos Display"/>
                <a:cs typeface="Aptos Display"/>
              </a:defRPr>
            </a:pPr>
            <a:r>
              <a:rPr sz="2400" b="1">
                <a:solidFill>
                  <a:srgbClr val="0B1020"/>
                </a:solidFill>
                <a:latin typeface="Aptos Display"/>
                <a:ea typeface="Aptos Display"/>
                <a:cs typeface="Aptos Display"/>
              </a:rPr>
              <a:t>Can chemistry-informed feature engineering and reliability-focused evaluation improve the trustworthiness of machine learning models for biodegradation prediction?</a:t>
            </a:r>
          </a:p>
        </p:txBody>
      </p:sp>
      <p:sp>
        <p:nvSpPr>
          <p:cNvPr id="7" name="">
            <a:extLst xmlns:a="http://schemas.openxmlformats.org/drawingml/2006/main">
              <a:ext uri="{FF2B5EF4-FFF2-40B4-BE49-F238E27FC236}">
                <a16:creationId xmlns:a16="http://schemas.microsoft.com/office/drawing/2014/main" id="{94FBB500-EB6E-448B-ABE3-721D91183F1D}"/>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8" name="">
            <a:extLst xmlns:a="http://schemas.openxmlformats.org/drawingml/2006/main">
              <a:ext uri="{FF2B5EF4-FFF2-40B4-BE49-F238E27FC236}">
                <a16:creationId xmlns:a16="http://schemas.microsoft.com/office/drawing/2014/main" id="{1A69F61F-B7D7-4771-A9BC-8F684F227A34}"/>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paper/manuscript_draft.md</a:t>
            </a:r>
          </a:p>
        </p:txBody>
      </p:sp>
    </p:spTree>
    <p:extLst>
      <p:ext uri="{BB962C8B-B14F-4D97-AF65-F5344CB8AC3E}">
        <p14:creationId xmlns:p14="http://schemas.microsoft.com/office/powerpoint/2010/main" val="158450254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C3980F1-FA55-47DB-B15F-E572D0E491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DB8C43E9-1EED-4A54-AA8B-DB8BF52A7EFB}"/>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7E1B0951-BF30-44E0-AEC9-A731415F22AE}"/>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FROM CHEMISTRY TO DATA</a:t>
            </a:r>
          </a:p>
        </p:txBody>
      </p:sp>
      <p:sp>
        <p:nvSpPr>
          <p:cNvPr id="4" name="">
            <a:extLst xmlns:a="http://schemas.openxmlformats.org/drawingml/2006/main">
              <a:ext uri="{FF2B5EF4-FFF2-40B4-BE49-F238E27FC236}">
                <a16:creationId xmlns:a16="http://schemas.microsoft.com/office/drawing/2014/main" id="{05296AC6-5102-4C06-A297-168D0511EC47}"/>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QSAR turns chemical structure into numbers.</a:t>
            </a:r>
          </a:p>
        </p:txBody>
      </p:sp>
      <p:sp>
        <p:nvSpPr>
          <p:cNvPr id="5" name="">
            <a:extLst xmlns:a="http://schemas.openxmlformats.org/drawingml/2006/main">
              <a:ext uri="{FF2B5EF4-FFF2-40B4-BE49-F238E27FC236}">
                <a16:creationId xmlns:a16="http://schemas.microsoft.com/office/drawing/2014/main" id="{A2140E78-22FC-47C5-A545-9E37FDFA9C80}"/>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Descriptor-based models use numerical chemical features to predict biological or environmental outcomes.</a:t>
            </a:r>
          </a:p>
        </p:txBody>
      </p:sp>
      <p:sp>
        <p:nvSpPr>
          <p:cNvPr id="6" name="">
            <a:extLst xmlns:a="http://schemas.openxmlformats.org/drawingml/2006/main">
              <a:ext uri="{FF2B5EF4-FFF2-40B4-BE49-F238E27FC236}">
                <a16:creationId xmlns:a16="http://schemas.microsoft.com/office/drawing/2014/main" id="{2FE61EBA-8729-4527-B80D-1AECFC33FCFE}"/>
              </a:ext>
            </a:extLst>
          </p:cNvPr>
          <p:cNvSpPr>
            <a:spLocks xmlns:a="http://schemas.openxmlformats.org/drawingml/2006/main" noGrp="1"/>
          </p:cNvSpPr>
          <p:nvPr/>
        </p:nvSpPr>
        <p:spPr>
          <a:xfrm xmlns:a="http://schemas.openxmlformats.org/drawingml/2006/main">
            <a:off x="742950" y="3238500"/>
            <a:ext cx="2095500" cy="990600"/>
          </a:xfrm>
          <a:prstGeom xmlns:a="http://schemas.openxmlformats.org/drawingml/2006/main" prst="rect">
            <a:avLst/>
          </a:prstGeom>
          <a:solidFill xmlns:a="http://schemas.openxmlformats.org/drawingml/2006/main">
            <a:srgbClr val="E7E2D8"/>
          </a:solidFill>
          <a:ln xmlns:a="http://schemas.openxmlformats.org/drawingml/2006/main" w="9525">
            <a:solidFill>
              <a:srgbClr val="FFFFFF">
                <a:alpha val="40000"/>
              </a:srgbClr>
            </a:solidFill>
            <a:prstDash val="solid"/>
          </a:ln>
        </p:spPr>
      </p:sp>
      <p:sp>
        <p:nvSpPr>
          <p:cNvPr id="7" name="">
            <a:extLst xmlns:a="http://schemas.openxmlformats.org/drawingml/2006/main">
              <a:ext uri="{FF2B5EF4-FFF2-40B4-BE49-F238E27FC236}">
                <a16:creationId xmlns:a16="http://schemas.microsoft.com/office/drawing/2014/main" id="{B10D2613-ABB0-483B-B2F7-58FD207D15F2}"/>
              </a:ext>
            </a:extLst>
          </p:cNvPr>
          <p:cNvSpPr>
            <a:spLocks xmlns:a="http://schemas.openxmlformats.org/drawingml/2006/main" noGrp="1"/>
          </p:cNvSpPr>
          <p:nvPr/>
        </p:nvSpPr>
        <p:spPr>
          <a:xfrm xmlns:a="http://schemas.openxmlformats.org/drawingml/2006/main">
            <a:off x="895350" y="3371850"/>
            <a:ext cx="17907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Chemical</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compound</a:t>
            </a:r>
          </a:p>
        </p:txBody>
      </p:sp>
      <p:sp>
        <p:nvSpPr>
          <p:cNvPr id="8" name="">
            <a:extLst xmlns:a="http://schemas.openxmlformats.org/drawingml/2006/main">
              <a:ext uri="{FF2B5EF4-FFF2-40B4-BE49-F238E27FC236}">
                <a16:creationId xmlns:a16="http://schemas.microsoft.com/office/drawing/2014/main" id="{BBC9DC18-9648-435B-82D8-145D8E8C1C63}"/>
              </a:ext>
            </a:extLst>
          </p:cNvPr>
          <p:cNvSpPr>
            <a:spLocks xmlns:a="http://schemas.openxmlformats.org/drawingml/2006/main" noGrp="1"/>
          </p:cNvSpPr>
          <p:nvPr/>
        </p:nvSpPr>
        <p:spPr>
          <a:xfrm xmlns:a="http://schemas.openxmlformats.org/drawingml/2006/main">
            <a:off x="3676650" y="3238500"/>
            <a:ext cx="2095500" cy="990600"/>
          </a:xfrm>
          <a:prstGeom xmlns:a="http://schemas.openxmlformats.org/drawingml/2006/main" prst="rect">
            <a:avLst/>
          </a:prstGeom>
          <a:solidFill xmlns:a="http://schemas.openxmlformats.org/drawingml/2006/main">
            <a:srgbClr val="DDE7F7"/>
          </a:solidFill>
          <a:ln xmlns:a="http://schemas.openxmlformats.org/drawingml/2006/main" w="9525">
            <a:solidFill>
              <a:srgbClr val="FFFFFF">
                <a:alpha val="40000"/>
              </a:srgbClr>
            </a:solidFill>
            <a:prstDash val="solid"/>
          </a:ln>
        </p:spPr>
      </p:sp>
      <p:sp>
        <p:nvSpPr>
          <p:cNvPr id="9" name="">
            <a:extLst xmlns:a="http://schemas.openxmlformats.org/drawingml/2006/main">
              <a:ext uri="{FF2B5EF4-FFF2-40B4-BE49-F238E27FC236}">
                <a16:creationId xmlns:a16="http://schemas.microsoft.com/office/drawing/2014/main" id="{EE7D24F5-9937-4263-947E-AC18C89F834F}"/>
              </a:ext>
            </a:extLst>
          </p:cNvPr>
          <p:cNvSpPr>
            <a:spLocks xmlns:a="http://schemas.openxmlformats.org/drawingml/2006/main" noGrp="1"/>
          </p:cNvSpPr>
          <p:nvPr/>
        </p:nvSpPr>
        <p:spPr>
          <a:xfrm xmlns:a="http://schemas.openxmlformats.org/drawingml/2006/main">
            <a:off x="3829050" y="3371850"/>
            <a:ext cx="17907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41 molecular</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descriptors</a:t>
            </a:r>
          </a:p>
        </p:txBody>
      </p:sp>
      <p:sp>
        <p:nvSpPr>
          <p:cNvPr id="10" name="">
            <a:extLst xmlns:a="http://schemas.openxmlformats.org/drawingml/2006/main">
              <a:ext uri="{FF2B5EF4-FFF2-40B4-BE49-F238E27FC236}">
                <a16:creationId xmlns:a16="http://schemas.microsoft.com/office/drawing/2014/main" id="{87F27187-31BD-4637-A0B0-48A35BB0AFBC}"/>
              </a:ext>
            </a:extLst>
          </p:cNvPr>
          <p:cNvSpPr>
            <a:spLocks xmlns:a="http://schemas.openxmlformats.org/drawingml/2006/main" noGrp="1"/>
          </p:cNvSpPr>
          <p:nvPr/>
        </p:nvSpPr>
        <p:spPr>
          <a:xfrm xmlns:a="http://schemas.openxmlformats.org/drawingml/2006/main">
            <a:off x="6610350" y="3238500"/>
            <a:ext cx="2095500" cy="990600"/>
          </a:xfrm>
          <a:prstGeom xmlns:a="http://schemas.openxmlformats.org/drawingml/2006/main" prst="rect">
            <a:avLst/>
          </a:prstGeom>
          <a:solidFill xmlns:a="http://schemas.openxmlformats.org/drawingml/2006/main">
            <a:srgbClr val="EFE1C6"/>
          </a:solidFill>
          <a:ln xmlns:a="http://schemas.openxmlformats.org/drawingml/2006/main" w="9525">
            <a:solidFill>
              <a:srgbClr val="FFFFFF">
                <a:alpha val="40000"/>
              </a:srgbClr>
            </a:solidFill>
            <a:prstDash val="solid"/>
          </a:ln>
        </p:spPr>
      </p:sp>
      <p:sp>
        <p:nvSpPr>
          <p:cNvPr id="11" name="">
            <a:extLst xmlns:a="http://schemas.openxmlformats.org/drawingml/2006/main">
              <a:ext uri="{FF2B5EF4-FFF2-40B4-BE49-F238E27FC236}">
                <a16:creationId xmlns:a16="http://schemas.microsoft.com/office/drawing/2014/main" id="{324FA3B4-D8D7-4491-B55E-260174E3FA5D}"/>
              </a:ext>
            </a:extLst>
          </p:cNvPr>
          <p:cNvSpPr>
            <a:spLocks xmlns:a="http://schemas.openxmlformats.org/drawingml/2006/main" noGrp="1"/>
          </p:cNvSpPr>
          <p:nvPr/>
        </p:nvSpPr>
        <p:spPr>
          <a:xfrm xmlns:a="http://schemas.openxmlformats.org/drawingml/2006/main">
            <a:off x="6762750" y="3371850"/>
            <a:ext cx="17907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ML model</a:t>
            </a:r>
          </a:p>
        </p:txBody>
      </p:sp>
      <p:sp>
        <p:nvSpPr>
          <p:cNvPr id="12" name="">
            <a:extLst xmlns:a="http://schemas.openxmlformats.org/drawingml/2006/main">
              <a:ext uri="{FF2B5EF4-FFF2-40B4-BE49-F238E27FC236}">
                <a16:creationId xmlns:a16="http://schemas.microsoft.com/office/drawing/2014/main" id="{176BBE6F-455A-4680-BC44-04025372BB2F}"/>
              </a:ext>
            </a:extLst>
          </p:cNvPr>
          <p:cNvSpPr>
            <a:spLocks xmlns:a="http://schemas.openxmlformats.org/drawingml/2006/main" noGrp="1"/>
          </p:cNvSpPr>
          <p:nvPr/>
        </p:nvSpPr>
        <p:spPr>
          <a:xfrm xmlns:a="http://schemas.openxmlformats.org/drawingml/2006/main">
            <a:off x="9544050" y="3238500"/>
            <a:ext cx="2095500" cy="990600"/>
          </a:xfrm>
          <a:prstGeom xmlns:a="http://schemas.openxmlformats.org/drawingml/2006/main" prst="rect">
            <a:avLst/>
          </a:prstGeom>
          <a:solidFill xmlns:a="http://schemas.openxmlformats.org/drawingml/2006/main">
            <a:srgbClr val="DDE9DF"/>
          </a:solidFill>
          <a:ln xmlns:a="http://schemas.openxmlformats.org/drawingml/2006/main" w="9525">
            <a:solidFill>
              <a:srgbClr val="FFFFFF">
                <a:alpha val="40000"/>
              </a:srgbClr>
            </a:solidFill>
            <a:prstDash val="solid"/>
          </a:ln>
        </p:spPr>
      </p:sp>
      <p:sp>
        <p:nvSpPr>
          <p:cNvPr id="13" name="">
            <a:extLst xmlns:a="http://schemas.openxmlformats.org/drawingml/2006/main">
              <a:ext uri="{FF2B5EF4-FFF2-40B4-BE49-F238E27FC236}">
                <a16:creationId xmlns:a16="http://schemas.microsoft.com/office/drawing/2014/main" id="{446FE491-35F6-4143-8D3B-9266A865A078}"/>
              </a:ext>
            </a:extLst>
          </p:cNvPr>
          <p:cNvSpPr>
            <a:spLocks xmlns:a="http://schemas.openxmlformats.org/drawingml/2006/main" noGrp="1"/>
          </p:cNvSpPr>
          <p:nvPr/>
        </p:nvSpPr>
        <p:spPr>
          <a:xfrm xmlns:a="http://schemas.openxmlformats.org/drawingml/2006/main">
            <a:off x="9696450" y="3371850"/>
            <a:ext cx="17907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RB / NRB</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prediction</a:t>
            </a:r>
          </a:p>
        </p:txBody>
      </p:sp>
      <p:sp>
        <p:nvSpPr>
          <p:cNvPr id="14" name="">
            <a:extLst xmlns:a="http://schemas.openxmlformats.org/drawingml/2006/main">
              <a:ext uri="{FF2B5EF4-FFF2-40B4-BE49-F238E27FC236}">
                <a16:creationId xmlns:a16="http://schemas.microsoft.com/office/drawing/2014/main" id="{44322246-98E0-47E9-93FF-BCC4AE94F936}"/>
              </a:ext>
            </a:extLst>
          </p:cNvPr>
          <p:cNvSpPr>
            <a:spLocks xmlns:a="http://schemas.openxmlformats.org/drawingml/2006/main" noGrp="1"/>
          </p:cNvSpPr>
          <p:nvPr/>
        </p:nvSpPr>
        <p:spPr>
          <a:xfrm xmlns:a="http://schemas.openxmlformats.org/drawingml/2006/main">
            <a:off x="1066800" y="4857750"/>
            <a:ext cx="9906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B54747"/>
                </a:solidFill>
                <a:latin typeface="Aptos"/>
                <a:ea typeface="Aptos"/>
                <a:cs typeface="Aptos"/>
              </a:defRPr>
            </a:pPr>
            <a:r>
              <a:rPr sz="1800" b="1">
                <a:solidFill>
                  <a:srgbClr val="B54747"/>
                </a:solidFill>
                <a:latin typeface="Aptos"/>
                <a:ea typeface="Aptos"/>
                <a:cs typeface="Aptos"/>
              </a:rPr>
              <a:t>The current dataset is descriptor-only: no polymer names, no SMILES, no BigSMILES, no measured degradation rates.</a:t>
            </a:r>
          </a:p>
        </p:txBody>
      </p:sp>
      <p:sp>
        <p:nvSpPr>
          <p:cNvPr id="15" name="">
            <a:extLst xmlns:a="http://schemas.openxmlformats.org/drawingml/2006/main">
              <a:ext uri="{FF2B5EF4-FFF2-40B4-BE49-F238E27FC236}">
                <a16:creationId xmlns:a16="http://schemas.microsoft.com/office/drawing/2014/main" id="{9EC61A88-D426-4490-A576-98A7C4586DBD}"/>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6" name="">
            <a:extLst xmlns:a="http://schemas.openxmlformats.org/drawingml/2006/main">
              <a:ext uri="{FF2B5EF4-FFF2-40B4-BE49-F238E27FC236}">
                <a16:creationId xmlns:a16="http://schemas.microsoft.com/office/drawing/2014/main" id="{2F5E48D7-BCD9-48BC-8C41-E4B751A18499}"/>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Sources: datasets/qsar_biodegradation_descriptor_benchmark/metadata/qsar_biodegradation_metadata.json; reports/dataset_curation.md</a:t>
            </a:r>
          </a:p>
        </p:txBody>
      </p:sp>
    </p:spTree>
    <p:extLst>
      <p:ext uri="{BB962C8B-B14F-4D97-AF65-F5344CB8AC3E}">
        <p14:creationId xmlns:p14="http://schemas.microsoft.com/office/powerpoint/2010/main" val="10034472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7E0BC8-BD36-4DBC-B6FA-712F46B955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925FCF11-A143-43A1-AFBF-87BAB00F7F05}"/>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7DAFD0AB-46E9-4986-9CD9-DE5044C1F6D6}"/>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DATASET REALITY</a:t>
            </a:r>
          </a:p>
        </p:txBody>
      </p:sp>
      <p:sp>
        <p:nvSpPr>
          <p:cNvPr id="4" name="">
            <a:extLst xmlns:a="http://schemas.openxmlformats.org/drawingml/2006/main">
              <a:ext uri="{FF2B5EF4-FFF2-40B4-BE49-F238E27FC236}">
                <a16:creationId xmlns:a16="http://schemas.microsoft.com/office/drawing/2014/main" id="{1469092B-27AF-43CA-A740-54379AA871DE}"/>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A reusable framework begins with honest metadata.</a:t>
            </a:r>
          </a:p>
        </p:txBody>
      </p:sp>
      <p:sp>
        <p:nvSpPr>
          <p:cNvPr id="5" name="">
            <a:extLst xmlns:a="http://schemas.openxmlformats.org/drawingml/2006/main">
              <a:ext uri="{FF2B5EF4-FFF2-40B4-BE49-F238E27FC236}">
                <a16:creationId xmlns:a16="http://schemas.microsoft.com/office/drawing/2014/main" id="{4C61348D-AA8B-427A-94C8-738CFA5436C6}"/>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The dataset is useful for classification, but not complete for polymer degradation science.</a:t>
            </a:r>
          </a:p>
        </p:txBody>
      </p:sp>
      <p:sp>
        <p:nvSpPr>
          <p:cNvPr id="6" name="">
            <a:extLst xmlns:a="http://schemas.openxmlformats.org/drawingml/2006/main">
              <a:ext uri="{FF2B5EF4-FFF2-40B4-BE49-F238E27FC236}">
                <a16:creationId xmlns:a16="http://schemas.microsoft.com/office/drawing/2014/main" id="{58224C86-6240-4528-864F-D6A50D2393A4}"/>
              </a:ext>
            </a:extLst>
          </p:cNvPr>
          <p:cNvSpPr>
            <a:spLocks xmlns:a="http://schemas.openxmlformats.org/drawingml/2006/main" noGrp="1"/>
          </p:cNvSpPr>
          <p:nvPr/>
        </p:nvSpPr>
        <p:spPr>
          <a:xfrm xmlns:a="http://schemas.openxmlformats.org/drawingml/2006/main">
            <a:off x="857250" y="2952750"/>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F7D5C"/>
                </a:solidFill>
                <a:latin typeface="Aptos Display"/>
                <a:ea typeface="Aptos Display"/>
                <a:cs typeface="Aptos Display"/>
              </a:defRPr>
            </a:pPr>
            <a:r>
              <a:rPr sz="3150" b="1">
                <a:solidFill>
                  <a:srgbClr val="2F7D5C"/>
                </a:solidFill>
                <a:latin typeface="Aptos Display"/>
                <a:ea typeface="Aptos Display"/>
                <a:cs typeface="Aptos Display"/>
              </a:rPr>
              <a:t>1,055</a:t>
            </a:r>
          </a:p>
        </p:txBody>
      </p:sp>
      <p:sp>
        <p:nvSpPr>
          <p:cNvPr id="7" name="">
            <a:extLst xmlns:a="http://schemas.openxmlformats.org/drawingml/2006/main">
              <a:ext uri="{FF2B5EF4-FFF2-40B4-BE49-F238E27FC236}">
                <a16:creationId xmlns:a16="http://schemas.microsoft.com/office/drawing/2014/main" id="{AF845108-B3C6-42B5-8F71-44157E433DBA}"/>
              </a:ext>
            </a:extLst>
          </p:cNvPr>
          <p:cNvSpPr>
            <a:spLocks xmlns:a="http://schemas.openxmlformats.org/drawingml/2006/main" noGrp="1"/>
          </p:cNvSpPr>
          <p:nvPr/>
        </p:nvSpPr>
        <p:spPr>
          <a:xfrm xmlns:a="http://schemas.openxmlformats.org/drawingml/2006/main">
            <a:off x="857250" y="3505200"/>
            <a:ext cx="238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samples</a:t>
            </a:r>
          </a:p>
        </p:txBody>
      </p:sp>
      <p:sp>
        <p:nvSpPr>
          <p:cNvPr id="8" name="">
            <a:extLst xmlns:a="http://schemas.openxmlformats.org/drawingml/2006/main">
              <a:ext uri="{FF2B5EF4-FFF2-40B4-BE49-F238E27FC236}">
                <a16:creationId xmlns:a16="http://schemas.microsoft.com/office/drawing/2014/main" id="{2C983DC7-8469-4B34-A93B-CC81F1F0A8A4}"/>
              </a:ext>
            </a:extLst>
          </p:cNvPr>
          <p:cNvSpPr>
            <a:spLocks xmlns:a="http://schemas.openxmlformats.org/drawingml/2006/main" noGrp="1"/>
          </p:cNvSpPr>
          <p:nvPr/>
        </p:nvSpPr>
        <p:spPr>
          <a:xfrm xmlns:a="http://schemas.openxmlformats.org/drawingml/2006/main">
            <a:off x="3571875" y="2952750"/>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F7D5C"/>
                </a:solidFill>
                <a:latin typeface="Aptos Display"/>
                <a:ea typeface="Aptos Display"/>
                <a:cs typeface="Aptos Display"/>
              </a:defRPr>
            </a:pPr>
            <a:r>
              <a:rPr sz="3150" b="1">
                <a:solidFill>
                  <a:srgbClr val="2F7D5C"/>
                </a:solidFill>
                <a:latin typeface="Aptos Display"/>
                <a:ea typeface="Aptos Display"/>
                <a:cs typeface="Aptos Display"/>
              </a:rPr>
              <a:t>41</a:t>
            </a:r>
          </a:p>
        </p:txBody>
      </p:sp>
      <p:sp>
        <p:nvSpPr>
          <p:cNvPr id="9" name="">
            <a:extLst xmlns:a="http://schemas.openxmlformats.org/drawingml/2006/main">
              <a:ext uri="{FF2B5EF4-FFF2-40B4-BE49-F238E27FC236}">
                <a16:creationId xmlns:a16="http://schemas.microsoft.com/office/drawing/2014/main" id="{343A8DDD-87C1-4852-BA47-E2814690EDFE}"/>
              </a:ext>
            </a:extLst>
          </p:cNvPr>
          <p:cNvSpPr>
            <a:spLocks xmlns:a="http://schemas.openxmlformats.org/drawingml/2006/main" noGrp="1"/>
          </p:cNvSpPr>
          <p:nvPr/>
        </p:nvSpPr>
        <p:spPr>
          <a:xfrm xmlns:a="http://schemas.openxmlformats.org/drawingml/2006/main">
            <a:off x="3571875" y="3505200"/>
            <a:ext cx="238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features</a:t>
            </a:r>
          </a:p>
        </p:txBody>
      </p:sp>
      <p:sp>
        <p:nvSpPr>
          <p:cNvPr id="10" name="">
            <a:extLst xmlns:a="http://schemas.openxmlformats.org/drawingml/2006/main">
              <a:ext uri="{FF2B5EF4-FFF2-40B4-BE49-F238E27FC236}">
                <a16:creationId xmlns:a16="http://schemas.microsoft.com/office/drawing/2014/main" id="{2DA320B9-E130-4B24-BA3A-930F1F0F7D8F}"/>
              </a:ext>
            </a:extLst>
          </p:cNvPr>
          <p:cNvSpPr>
            <a:spLocks xmlns:a="http://schemas.openxmlformats.org/drawingml/2006/main" noGrp="1"/>
          </p:cNvSpPr>
          <p:nvPr/>
        </p:nvSpPr>
        <p:spPr>
          <a:xfrm xmlns:a="http://schemas.openxmlformats.org/drawingml/2006/main">
            <a:off x="6286500" y="2952750"/>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F7D5C"/>
                </a:solidFill>
                <a:latin typeface="Aptos Display"/>
                <a:ea typeface="Aptos Display"/>
                <a:cs typeface="Aptos Display"/>
              </a:defRPr>
            </a:pPr>
            <a:r>
              <a:rPr sz="3150" b="1">
                <a:solidFill>
                  <a:srgbClr val="2F7D5C"/>
                </a:solidFill>
                <a:latin typeface="Aptos Display"/>
                <a:ea typeface="Aptos Display"/>
                <a:cs typeface="Aptos Display"/>
              </a:rPr>
              <a:t>2</a:t>
            </a:r>
          </a:p>
        </p:txBody>
      </p:sp>
      <p:sp>
        <p:nvSpPr>
          <p:cNvPr id="11" name="">
            <a:extLst xmlns:a="http://schemas.openxmlformats.org/drawingml/2006/main">
              <a:ext uri="{FF2B5EF4-FFF2-40B4-BE49-F238E27FC236}">
                <a16:creationId xmlns:a16="http://schemas.microsoft.com/office/drawing/2014/main" id="{03812D14-39EA-4B5C-833F-75D8700D152A}"/>
              </a:ext>
            </a:extLst>
          </p:cNvPr>
          <p:cNvSpPr>
            <a:spLocks xmlns:a="http://schemas.openxmlformats.org/drawingml/2006/main" noGrp="1"/>
          </p:cNvSpPr>
          <p:nvPr/>
        </p:nvSpPr>
        <p:spPr>
          <a:xfrm xmlns:a="http://schemas.openxmlformats.org/drawingml/2006/main">
            <a:off x="6286500" y="3505200"/>
            <a:ext cx="238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target classes</a:t>
            </a:r>
          </a:p>
        </p:txBody>
      </p:sp>
      <p:sp>
        <p:nvSpPr>
          <p:cNvPr id="12" name="">
            <a:extLst xmlns:a="http://schemas.openxmlformats.org/drawingml/2006/main">
              <a:ext uri="{FF2B5EF4-FFF2-40B4-BE49-F238E27FC236}">
                <a16:creationId xmlns:a16="http://schemas.microsoft.com/office/drawing/2014/main" id="{EDC6F610-7376-40E3-88E6-F08CF39BA43F}"/>
              </a:ext>
            </a:extLst>
          </p:cNvPr>
          <p:cNvSpPr>
            <a:spLocks xmlns:a="http://schemas.openxmlformats.org/drawingml/2006/main" noGrp="1"/>
          </p:cNvSpPr>
          <p:nvPr/>
        </p:nvSpPr>
        <p:spPr>
          <a:xfrm xmlns:a="http://schemas.openxmlformats.org/drawingml/2006/main">
            <a:off x="9001125" y="2952750"/>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F7D5C"/>
                </a:solidFill>
                <a:latin typeface="Aptos Display"/>
                <a:ea typeface="Aptos Display"/>
                <a:cs typeface="Aptos Display"/>
              </a:defRPr>
            </a:pPr>
            <a:r>
              <a:rPr sz="3150" b="1">
                <a:solidFill>
                  <a:srgbClr val="2F7D5C"/>
                </a:solidFill>
                <a:latin typeface="Aptos Display"/>
                <a:ea typeface="Aptos Display"/>
                <a:cs typeface="Aptos Display"/>
              </a:rPr>
              <a:t>0</a:t>
            </a:r>
          </a:p>
        </p:txBody>
      </p:sp>
      <p:sp>
        <p:nvSpPr>
          <p:cNvPr id="13" name="">
            <a:extLst xmlns:a="http://schemas.openxmlformats.org/drawingml/2006/main">
              <a:ext uri="{FF2B5EF4-FFF2-40B4-BE49-F238E27FC236}">
                <a16:creationId xmlns:a16="http://schemas.microsoft.com/office/drawing/2014/main" id="{DB088A59-41CD-4863-B453-D19DD74323E8}"/>
              </a:ext>
            </a:extLst>
          </p:cNvPr>
          <p:cNvSpPr>
            <a:spLocks xmlns:a="http://schemas.openxmlformats.org/drawingml/2006/main" noGrp="1"/>
          </p:cNvSpPr>
          <p:nvPr/>
        </p:nvSpPr>
        <p:spPr>
          <a:xfrm xmlns:a="http://schemas.openxmlformats.org/drawingml/2006/main">
            <a:off x="9001125" y="3505200"/>
            <a:ext cx="238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missing values</a:t>
            </a:r>
          </a:p>
        </p:txBody>
      </p:sp>
      <p:sp>
        <p:nvSpPr>
          <p:cNvPr id="14" name="">
            <a:extLst xmlns:a="http://schemas.openxmlformats.org/drawingml/2006/main">
              <a:ext uri="{FF2B5EF4-FFF2-40B4-BE49-F238E27FC236}">
                <a16:creationId xmlns:a16="http://schemas.microsoft.com/office/drawing/2014/main" id="{FA7CFC79-62A4-4045-9669-ECB0EE14A388}"/>
              </a:ext>
            </a:extLst>
          </p:cNvPr>
          <p:cNvSpPr>
            <a:spLocks xmlns:a="http://schemas.openxmlformats.org/drawingml/2006/main" noGrp="1"/>
          </p:cNvSpPr>
          <p:nvPr/>
        </p:nvSpPr>
        <p:spPr>
          <a:xfrm xmlns:a="http://schemas.openxmlformats.org/drawingml/2006/main">
            <a:off x="1047750" y="48482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5" name="">
            <a:extLst xmlns:a="http://schemas.openxmlformats.org/drawingml/2006/main">
              <a:ext uri="{FF2B5EF4-FFF2-40B4-BE49-F238E27FC236}">
                <a16:creationId xmlns:a16="http://schemas.microsoft.com/office/drawing/2014/main" id="{D74B5A1E-EBE1-4B4A-8C9A-1E078E0717A3}"/>
              </a:ext>
            </a:extLst>
          </p:cNvPr>
          <p:cNvSpPr>
            <a:spLocks xmlns:a="http://schemas.openxmlformats.org/drawingml/2006/main" noGrp="1"/>
          </p:cNvSpPr>
          <p:nvPr/>
        </p:nvSpPr>
        <p:spPr>
          <a:xfrm xmlns:a="http://schemas.openxmlformats.org/drawingml/2006/main">
            <a:off x="1257300" y="4762500"/>
            <a:ext cx="9906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Target labels: readily biodegradable and not readily biodegradable.</a:t>
            </a:r>
          </a:p>
        </p:txBody>
      </p:sp>
      <p:sp>
        <p:nvSpPr>
          <p:cNvPr id="16" name="">
            <a:extLst xmlns:a="http://schemas.openxmlformats.org/drawingml/2006/main">
              <a:ext uri="{FF2B5EF4-FFF2-40B4-BE49-F238E27FC236}">
                <a16:creationId xmlns:a16="http://schemas.microsoft.com/office/drawing/2014/main" id="{DC33422B-BA82-40C3-B3D0-18A8BE167FC7}"/>
              </a:ext>
            </a:extLst>
          </p:cNvPr>
          <p:cNvSpPr>
            <a:spLocks xmlns:a="http://schemas.openxmlformats.org/drawingml/2006/main" noGrp="1"/>
          </p:cNvSpPr>
          <p:nvPr/>
        </p:nvSpPr>
        <p:spPr>
          <a:xfrm xmlns:a="http://schemas.openxmlformats.org/drawingml/2006/main">
            <a:off x="1047750" y="52101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7" name="">
            <a:extLst xmlns:a="http://schemas.openxmlformats.org/drawingml/2006/main">
              <a:ext uri="{FF2B5EF4-FFF2-40B4-BE49-F238E27FC236}">
                <a16:creationId xmlns:a16="http://schemas.microsoft.com/office/drawing/2014/main" id="{1F25B2D0-817C-49D3-BEE4-BE7E70D5FEB0}"/>
              </a:ext>
            </a:extLst>
          </p:cNvPr>
          <p:cNvSpPr>
            <a:spLocks xmlns:a="http://schemas.openxmlformats.org/drawingml/2006/main" noGrp="1"/>
          </p:cNvSpPr>
          <p:nvPr/>
        </p:nvSpPr>
        <p:spPr>
          <a:xfrm xmlns:a="http://schemas.openxmlformats.org/drawingml/2006/main">
            <a:off x="1257300" y="5124450"/>
            <a:ext cx="9906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Limitations: no structures, no continuous rates, limited environmental metadata.</a:t>
            </a:r>
          </a:p>
        </p:txBody>
      </p:sp>
      <p:sp>
        <p:nvSpPr>
          <p:cNvPr id="18" name="">
            <a:extLst xmlns:a="http://schemas.openxmlformats.org/drawingml/2006/main">
              <a:ext uri="{FF2B5EF4-FFF2-40B4-BE49-F238E27FC236}">
                <a16:creationId xmlns:a16="http://schemas.microsoft.com/office/drawing/2014/main" id="{5DE73418-6E48-4495-A15D-14D50625BE9D}"/>
              </a:ext>
            </a:extLst>
          </p:cNvPr>
          <p:cNvSpPr>
            <a:spLocks xmlns:a="http://schemas.openxmlformats.org/drawingml/2006/main" noGrp="1"/>
          </p:cNvSpPr>
          <p:nvPr/>
        </p:nvSpPr>
        <p:spPr>
          <a:xfrm xmlns:a="http://schemas.openxmlformats.org/drawingml/2006/main">
            <a:off x="1047750" y="55721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9" name="">
            <a:extLst xmlns:a="http://schemas.openxmlformats.org/drawingml/2006/main">
              <a:ext uri="{FF2B5EF4-FFF2-40B4-BE49-F238E27FC236}">
                <a16:creationId xmlns:a16="http://schemas.microsoft.com/office/drawing/2014/main" id="{E654BF5A-6BBE-408B-98FC-A9EB431C221F}"/>
              </a:ext>
            </a:extLst>
          </p:cNvPr>
          <p:cNvSpPr>
            <a:spLocks xmlns:a="http://schemas.openxmlformats.org/drawingml/2006/main" noGrp="1"/>
          </p:cNvSpPr>
          <p:nvPr/>
        </p:nvSpPr>
        <p:spPr>
          <a:xfrm xmlns:a="http://schemas.openxmlformats.org/drawingml/2006/main">
            <a:off x="1257300" y="5486400"/>
            <a:ext cx="9906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This is why reliability and uncertainty matter.</a:t>
            </a:r>
          </a:p>
        </p:txBody>
      </p:sp>
      <p:sp>
        <p:nvSpPr>
          <p:cNvPr id="20" name="">
            <a:extLst xmlns:a="http://schemas.openxmlformats.org/drawingml/2006/main">
              <a:ext uri="{FF2B5EF4-FFF2-40B4-BE49-F238E27FC236}">
                <a16:creationId xmlns:a16="http://schemas.microsoft.com/office/drawing/2014/main" id="{06DAF3C7-2BFE-4521-B0A0-3223911F25DC}"/>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21" name="">
            <a:extLst xmlns:a="http://schemas.openxmlformats.org/drawingml/2006/main">
              <a:ext uri="{FF2B5EF4-FFF2-40B4-BE49-F238E27FC236}">
                <a16:creationId xmlns:a16="http://schemas.microsoft.com/office/drawing/2014/main" id="{400BED0E-9C0D-431B-973D-17A6F53943AD}"/>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datasets/qsar_biodegradation_descriptor_benchmark/metadata/qsar_biodegradation_metadata.json</a:t>
            </a:r>
          </a:p>
        </p:txBody>
      </p:sp>
    </p:spTree>
    <p:extLst>
      <p:ext uri="{BB962C8B-B14F-4D97-AF65-F5344CB8AC3E}">
        <p14:creationId xmlns:p14="http://schemas.microsoft.com/office/powerpoint/2010/main" val="17337958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805212-EC2A-421E-A056-2B350E2F0B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8DDC6103-9D57-43F8-AA4D-28C86C86B67E}"/>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5378D961-5D5A-48E6-8ADD-E1F91D139DAA}"/>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MODEL BASELINES</a:t>
            </a:r>
          </a:p>
        </p:txBody>
      </p:sp>
      <p:sp>
        <p:nvSpPr>
          <p:cNvPr id="4" name="">
            <a:extLst xmlns:a="http://schemas.openxmlformats.org/drawingml/2006/main">
              <a:ext uri="{FF2B5EF4-FFF2-40B4-BE49-F238E27FC236}">
                <a16:creationId xmlns:a16="http://schemas.microsoft.com/office/drawing/2014/main" id="{ADBAB2A8-01C4-4524-8808-599EEDCF97EB}"/>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first models learned real signal.</a:t>
            </a:r>
          </a:p>
        </p:txBody>
      </p:sp>
      <p:sp>
        <p:nvSpPr>
          <p:cNvPr id="5" name="">
            <a:extLst xmlns:a="http://schemas.openxmlformats.org/drawingml/2006/main">
              <a:ext uri="{FF2B5EF4-FFF2-40B4-BE49-F238E27FC236}">
                <a16:creationId xmlns:a16="http://schemas.microsoft.com/office/drawing/2014/main" id="{3204E5A5-7E32-4230-A42C-7B7F593A2CE7}"/>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But initial accuracy was only the beginning of the story.</a:t>
            </a:r>
          </a:p>
        </p:txBody>
      </p:sp>
      <p:sp>
        <p:nvSpPr>
          <p:cNvPr id="6" name="">
            <a:extLst xmlns:a="http://schemas.openxmlformats.org/drawingml/2006/main">
              <a:ext uri="{FF2B5EF4-FFF2-40B4-BE49-F238E27FC236}">
                <a16:creationId xmlns:a16="http://schemas.microsoft.com/office/drawing/2014/main" id="{EFF26DA0-B50E-48B6-B1D9-094846AD6466}"/>
              </a:ext>
            </a:extLst>
          </p:cNvPr>
          <p:cNvSpPr>
            <a:spLocks xmlns:a="http://schemas.openxmlformats.org/drawingml/2006/main" noGrp="1"/>
          </p:cNvSpPr>
          <p:nvPr/>
        </p:nvSpPr>
        <p:spPr>
          <a:xfrm xmlns:a="http://schemas.openxmlformats.org/drawingml/2006/main">
            <a:off x="1047750" y="2857500"/>
            <a:ext cx="2238375"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B1020"/>
                </a:solidFill>
                <a:latin typeface="Aptos"/>
                <a:ea typeface="Aptos"/>
                <a:cs typeface="Aptos"/>
              </a:defRPr>
            </a:pPr>
            <a:r>
              <a:rPr sz="1200" b="0">
                <a:solidFill>
                  <a:srgbClr val="0B1020"/>
                </a:solidFill>
                <a:latin typeface="Aptos"/>
                <a:ea typeface="Aptos"/>
                <a:cs typeface="Aptos"/>
              </a:rPr>
              <a:t>Random Forest</a:t>
            </a:r>
          </a:p>
        </p:txBody>
      </p:sp>
      <p:sp>
        <p:nvSpPr>
          <p:cNvPr id="7" name="">
            <a:extLst xmlns:a="http://schemas.openxmlformats.org/drawingml/2006/main">
              <a:ext uri="{FF2B5EF4-FFF2-40B4-BE49-F238E27FC236}">
                <a16:creationId xmlns:a16="http://schemas.microsoft.com/office/drawing/2014/main" id="{FA2D4711-A00F-4CB9-951F-EFDFB39FB73F}"/>
              </a:ext>
            </a:extLst>
          </p:cNvPr>
          <p:cNvSpPr>
            <a:spLocks xmlns:a="http://schemas.openxmlformats.org/drawingml/2006/main" noGrp="1"/>
          </p:cNvSpPr>
          <p:nvPr/>
        </p:nvSpPr>
        <p:spPr>
          <a:xfrm xmlns:a="http://schemas.openxmlformats.org/drawingml/2006/main">
            <a:off x="3429000" y="2914650"/>
            <a:ext cx="6381750" cy="333375"/>
          </a:xfrm>
          <a:prstGeom xmlns:a="http://schemas.openxmlformats.org/drawingml/2006/main" prst="rect">
            <a:avLst/>
          </a:prstGeom>
          <a:solidFill xmlns:a="http://schemas.openxmlformats.org/drawingml/2006/main">
            <a:srgbClr val="E7E2D8"/>
          </a:solidFill>
          <a:ln xmlns:a="http://schemas.openxmlformats.org/drawingml/2006/main" w="0">
            <a:solidFill>
              <a:srgbClr val="E7E2D8"/>
            </a:solidFill>
            <a:prstDash val="solid"/>
          </a:ln>
        </p:spPr>
      </p:sp>
      <p:sp>
        <p:nvSpPr>
          <p:cNvPr id="8" name="">
            <a:extLst xmlns:a="http://schemas.openxmlformats.org/drawingml/2006/main">
              <a:ext uri="{FF2B5EF4-FFF2-40B4-BE49-F238E27FC236}">
                <a16:creationId xmlns:a16="http://schemas.microsoft.com/office/drawing/2014/main" id="{92E68D4F-40D6-4414-9810-ABEE2BE5540F}"/>
              </a:ext>
            </a:extLst>
          </p:cNvPr>
          <p:cNvSpPr>
            <a:spLocks xmlns:a="http://schemas.openxmlformats.org/drawingml/2006/main" noGrp="1"/>
          </p:cNvSpPr>
          <p:nvPr/>
        </p:nvSpPr>
        <p:spPr>
          <a:xfrm xmlns:a="http://schemas.openxmlformats.org/drawingml/2006/main">
            <a:off x="3429000" y="2914650"/>
            <a:ext cx="5595518" cy="333375"/>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9" name="">
            <a:extLst xmlns:a="http://schemas.openxmlformats.org/drawingml/2006/main">
              <a:ext uri="{FF2B5EF4-FFF2-40B4-BE49-F238E27FC236}">
                <a16:creationId xmlns:a16="http://schemas.microsoft.com/office/drawing/2014/main" id="{D3BDB2AE-DF25-46BD-AFF5-26EEA2DB6FC5}"/>
              </a:ext>
            </a:extLst>
          </p:cNvPr>
          <p:cNvSpPr>
            <a:spLocks xmlns:a="http://schemas.openxmlformats.org/drawingml/2006/main" noGrp="1"/>
          </p:cNvSpPr>
          <p:nvPr/>
        </p:nvSpPr>
        <p:spPr>
          <a:xfrm xmlns:a="http://schemas.openxmlformats.org/drawingml/2006/main">
            <a:off x="9906000" y="2857500"/>
            <a:ext cx="666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0B1020"/>
                </a:solidFill>
                <a:latin typeface="Aptos"/>
                <a:ea typeface="Aptos"/>
                <a:cs typeface="Aptos"/>
              </a:defRPr>
            </a:pPr>
            <a:r>
              <a:rPr sz="1125" b="1">
                <a:solidFill>
                  <a:srgbClr val="0B1020"/>
                </a:solidFill>
                <a:latin typeface="Aptos"/>
                <a:ea typeface="Aptos"/>
                <a:cs typeface="Aptos"/>
              </a:rPr>
              <a:t>0.8768</a:t>
            </a:r>
          </a:p>
        </p:txBody>
      </p:sp>
      <p:sp>
        <p:nvSpPr>
          <p:cNvPr id="10" name="">
            <a:extLst xmlns:a="http://schemas.openxmlformats.org/drawingml/2006/main">
              <a:ext uri="{FF2B5EF4-FFF2-40B4-BE49-F238E27FC236}">
                <a16:creationId xmlns:a16="http://schemas.microsoft.com/office/drawing/2014/main" id="{AAEC519D-E9E4-4B82-899A-F2324B3E4F81}"/>
              </a:ext>
            </a:extLst>
          </p:cNvPr>
          <p:cNvSpPr>
            <a:spLocks xmlns:a="http://schemas.openxmlformats.org/drawingml/2006/main" noGrp="1"/>
          </p:cNvSpPr>
          <p:nvPr/>
        </p:nvSpPr>
        <p:spPr>
          <a:xfrm xmlns:a="http://schemas.openxmlformats.org/drawingml/2006/main">
            <a:off x="1047750" y="3476625"/>
            <a:ext cx="2238375"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B1020"/>
                </a:solidFill>
                <a:latin typeface="Aptos"/>
                <a:ea typeface="Aptos"/>
                <a:cs typeface="Aptos"/>
              </a:defRPr>
            </a:pPr>
            <a:r>
              <a:rPr sz="1200" b="0">
                <a:solidFill>
                  <a:srgbClr val="0B1020"/>
                </a:solidFill>
                <a:latin typeface="Aptos"/>
                <a:ea typeface="Aptos"/>
                <a:cs typeface="Aptos"/>
              </a:rPr>
              <a:t>Logistic Regression</a:t>
            </a:r>
          </a:p>
        </p:txBody>
      </p:sp>
      <p:sp>
        <p:nvSpPr>
          <p:cNvPr id="11" name="">
            <a:extLst xmlns:a="http://schemas.openxmlformats.org/drawingml/2006/main">
              <a:ext uri="{FF2B5EF4-FFF2-40B4-BE49-F238E27FC236}">
                <a16:creationId xmlns:a16="http://schemas.microsoft.com/office/drawing/2014/main" id="{AA30AAF2-C5FC-43FB-96BD-333171DA326F}"/>
              </a:ext>
            </a:extLst>
          </p:cNvPr>
          <p:cNvSpPr>
            <a:spLocks xmlns:a="http://schemas.openxmlformats.org/drawingml/2006/main" noGrp="1"/>
          </p:cNvSpPr>
          <p:nvPr/>
        </p:nvSpPr>
        <p:spPr>
          <a:xfrm xmlns:a="http://schemas.openxmlformats.org/drawingml/2006/main">
            <a:off x="3429000" y="3533775"/>
            <a:ext cx="6381750" cy="333375"/>
          </a:xfrm>
          <a:prstGeom xmlns:a="http://schemas.openxmlformats.org/drawingml/2006/main" prst="rect">
            <a:avLst/>
          </a:prstGeom>
          <a:solidFill xmlns:a="http://schemas.openxmlformats.org/drawingml/2006/main">
            <a:srgbClr val="E7E2D8"/>
          </a:solidFill>
          <a:ln xmlns:a="http://schemas.openxmlformats.org/drawingml/2006/main" w="0">
            <a:solidFill>
              <a:srgbClr val="E7E2D8"/>
            </a:solidFill>
            <a:prstDash val="solid"/>
          </a:ln>
        </p:spPr>
      </p:sp>
      <p:sp>
        <p:nvSpPr>
          <p:cNvPr id="12" name="">
            <a:extLst xmlns:a="http://schemas.openxmlformats.org/drawingml/2006/main">
              <a:ext uri="{FF2B5EF4-FFF2-40B4-BE49-F238E27FC236}">
                <a16:creationId xmlns:a16="http://schemas.microsoft.com/office/drawing/2014/main" id="{C11E79A3-F4AA-41EB-8115-96682AFB86D9}"/>
              </a:ext>
            </a:extLst>
          </p:cNvPr>
          <p:cNvSpPr>
            <a:spLocks xmlns:a="http://schemas.openxmlformats.org/drawingml/2006/main" noGrp="1"/>
          </p:cNvSpPr>
          <p:nvPr/>
        </p:nvSpPr>
        <p:spPr>
          <a:xfrm xmlns:a="http://schemas.openxmlformats.org/drawingml/2006/main">
            <a:off x="3429000" y="3533775"/>
            <a:ext cx="5504898" cy="333375"/>
          </a:xfrm>
          <a:prstGeom xmlns:a="http://schemas.openxmlformats.org/drawingml/2006/main" prst="rect">
            <a:avLst/>
          </a:prstGeom>
          <a:solidFill xmlns:a="http://schemas.openxmlformats.org/drawingml/2006/main">
            <a:srgbClr val="2D6CDF"/>
          </a:solidFill>
          <a:ln xmlns:a="http://schemas.openxmlformats.org/drawingml/2006/main" w="0">
            <a:solidFill>
              <a:srgbClr val="2D6CDF"/>
            </a:solidFill>
            <a:prstDash val="solid"/>
          </a:ln>
        </p:spPr>
      </p:sp>
      <p:sp>
        <p:nvSpPr>
          <p:cNvPr id="13" name="">
            <a:extLst xmlns:a="http://schemas.openxmlformats.org/drawingml/2006/main">
              <a:ext uri="{FF2B5EF4-FFF2-40B4-BE49-F238E27FC236}">
                <a16:creationId xmlns:a16="http://schemas.microsoft.com/office/drawing/2014/main" id="{6059DC70-4796-4046-9850-A7EC676D12DB}"/>
              </a:ext>
            </a:extLst>
          </p:cNvPr>
          <p:cNvSpPr>
            <a:spLocks xmlns:a="http://schemas.openxmlformats.org/drawingml/2006/main" noGrp="1"/>
          </p:cNvSpPr>
          <p:nvPr/>
        </p:nvSpPr>
        <p:spPr>
          <a:xfrm xmlns:a="http://schemas.openxmlformats.org/drawingml/2006/main">
            <a:off x="9906000" y="3476625"/>
            <a:ext cx="666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0B1020"/>
                </a:solidFill>
                <a:latin typeface="Aptos"/>
                <a:ea typeface="Aptos"/>
                <a:cs typeface="Aptos"/>
              </a:defRPr>
            </a:pPr>
            <a:r>
              <a:rPr sz="1125" b="1">
                <a:solidFill>
                  <a:srgbClr val="0B1020"/>
                </a:solidFill>
                <a:latin typeface="Aptos"/>
                <a:ea typeface="Aptos"/>
                <a:cs typeface="Aptos"/>
              </a:rPr>
              <a:t>0.8626</a:t>
            </a:r>
          </a:p>
        </p:txBody>
      </p:sp>
      <p:sp>
        <p:nvSpPr>
          <p:cNvPr id="14" name="">
            <a:extLst xmlns:a="http://schemas.openxmlformats.org/drawingml/2006/main">
              <a:ext uri="{FF2B5EF4-FFF2-40B4-BE49-F238E27FC236}">
                <a16:creationId xmlns:a16="http://schemas.microsoft.com/office/drawing/2014/main" id="{E73B4925-DF22-4280-AE2C-141A7F51E35F}"/>
              </a:ext>
            </a:extLst>
          </p:cNvPr>
          <p:cNvSpPr>
            <a:spLocks xmlns:a="http://schemas.openxmlformats.org/drawingml/2006/main" noGrp="1"/>
          </p:cNvSpPr>
          <p:nvPr/>
        </p:nvSpPr>
        <p:spPr>
          <a:xfrm xmlns:a="http://schemas.openxmlformats.org/drawingml/2006/main">
            <a:off x="1047750" y="4095750"/>
            <a:ext cx="2238375"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B1020"/>
                </a:solidFill>
                <a:latin typeface="Aptos"/>
                <a:ea typeface="Aptos"/>
                <a:cs typeface="Aptos"/>
              </a:defRPr>
            </a:pPr>
            <a:r>
              <a:rPr sz="1200" b="0">
                <a:solidFill>
                  <a:srgbClr val="0B1020"/>
                </a:solidFill>
                <a:latin typeface="Aptos"/>
                <a:ea typeface="Aptos"/>
                <a:cs typeface="Aptos"/>
              </a:rPr>
              <a:t>Feedforward NN</a:t>
            </a:r>
          </a:p>
        </p:txBody>
      </p:sp>
      <p:sp>
        <p:nvSpPr>
          <p:cNvPr id="15" name="">
            <a:extLst xmlns:a="http://schemas.openxmlformats.org/drawingml/2006/main">
              <a:ext uri="{FF2B5EF4-FFF2-40B4-BE49-F238E27FC236}">
                <a16:creationId xmlns:a16="http://schemas.microsoft.com/office/drawing/2014/main" id="{EAE798B7-25FD-4EFA-B083-A011467A1596}"/>
              </a:ext>
            </a:extLst>
          </p:cNvPr>
          <p:cNvSpPr>
            <a:spLocks xmlns:a="http://schemas.openxmlformats.org/drawingml/2006/main" noGrp="1"/>
          </p:cNvSpPr>
          <p:nvPr/>
        </p:nvSpPr>
        <p:spPr>
          <a:xfrm xmlns:a="http://schemas.openxmlformats.org/drawingml/2006/main">
            <a:off x="3429000" y="4152900"/>
            <a:ext cx="6381750" cy="333375"/>
          </a:xfrm>
          <a:prstGeom xmlns:a="http://schemas.openxmlformats.org/drawingml/2006/main" prst="rect">
            <a:avLst/>
          </a:prstGeom>
          <a:solidFill xmlns:a="http://schemas.openxmlformats.org/drawingml/2006/main">
            <a:srgbClr val="E7E2D8"/>
          </a:solidFill>
          <a:ln xmlns:a="http://schemas.openxmlformats.org/drawingml/2006/main" w="0">
            <a:solidFill>
              <a:srgbClr val="E7E2D8"/>
            </a:solidFill>
            <a:prstDash val="solid"/>
          </a:ln>
        </p:spPr>
      </p:sp>
      <p:sp>
        <p:nvSpPr>
          <p:cNvPr id="16" name="">
            <a:extLst xmlns:a="http://schemas.openxmlformats.org/drawingml/2006/main">
              <a:ext uri="{FF2B5EF4-FFF2-40B4-BE49-F238E27FC236}">
                <a16:creationId xmlns:a16="http://schemas.microsoft.com/office/drawing/2014/main" id="{5270531C-DC82-444E-82C9-8E1359F7E49B}"/>
              </a:ext>
            </a:extLst>
          </p:cNvPr>
          <p:cNvSpPr>
            <a:spLocks xmlns:a="http://schemas.openxmlformats.org/drawingml/2006/main" noGrp="1"/>
          </p:cNvSpPr>
          <p:nvPr/>
        </p:nvSpPr>
        <p:spPr>
          <a:xfrm xmlns:a="http://schemas.openxmlformats.org/drawingml/2006/main">
            <a:off x="3429000" y="4152900"/>
            <a:ext cx="5262391" cy="333375"/>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7" name="">
            <a:extLst xmlns:a="http://schemas.openxmlformats.org/drawingml/2006/main">
              <a:ext uri="{FF2B5EF4-FFF2-40B4-BE49-F238E27FC236}">
                <a16:creationId xmlns:a16="http://schemas.microsoft.com/office/drawing/2014/main" id="{1A40B4DC-9E96-4B5C-9964-0B610759C3C3}"/>
              </a:ext>
            </a:extLst>
          </p:cNvPr>
          <p:cNvSpPr>
            <a:spLocks xmlns:a="http://schemas.openxmlformats.org/drawingml/2006/main" noGrp="1"/>
          </p:cNvSpPr>
          <p:nvPr/>
        </p:nvSpPr>
        <p:spPr>
          <a:xfrm xmlns:a="http://schemas.openxmlformats.org/drawingml/2006/main">
            <a:off x="9906000" y="4095750"/>
            <a:ext cx="666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0B1020"/>
                </a:solidFill>
                <a:latin typeface="Aptos"/>
                <a:ea typeface="Aptos"/>
                <a:cs typeface="Aptos"/>
              </a:defRPr>
            </a:pPr>
            <a:r>
              <a:rPr sz="1125" b="1">
                <a:solidFill>
                  <a:srgbClr val="0B1020"/>
                </a:solidFill>
                <a:latin typeface="Aptos"/>
                <a:ea typeface="Aptos"/>
                <a:cs typeface="Aptos"/>
              </a:rPr>
              <a:t>0.8246</a:t>
            </a:r>
          </a:p>
        </p:txBody>
      </p:sp>
      <p:sp>
        <p:nvSpPr>
          <p:cNvPr id="18" name="">
            <a:extLst xmlns:a="http://schemas.openxmlformats.org/drawingml/2006/main">
              <a:ext uri="{FF2B5EF4-FFF2-40B4-BE49-F238E27FC236}">
                <a16:creationId xmlns:a16="http://schemas.microsoft.com/office/drawing/2014/main" id="{EF5B3A55-C49A-4FB2-9068-2EF5C2BE3809}"/>
              </a:ext>
            </a:extLst>
          </p:cNvPr>
          <p:cNvSpPr>
            <a:spLocks xmlns:a="http://schemas.openxmlformats.org/drawingml/2006/main" noGrp="1"/>
          </p:cNvSpPr>
          <p:nvPr/>
        </p:nvSpPr>
        <p:spPr>
          <a:xfrm xmlns:a="http://schemas.openxmlformats.org/drawingml/2006/main">
            <a:off x="1047750" y="4714875"/>
            <a:ext cx="2238375"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B1020"/>
                </a:solidFill>
                <a:latin typeface="Aptos"/>
                <a:ea typeface="Aptos"/>
                <a:cs typeface="Aptos"/>
              </a:defRPr>
            </a:pPr>
            <a:r>
              <a:rPr sz="1200" b="0">
                <a:solidFill>
                  <a:srgbClr val="0B1020"/>
                </a:solidFill>
                <a:latin typeface="Aptos"/>
                <a:ea typeface="Aptos"/>
                <a:cs typeface="Aptos"/>
              </a:rPr>
              <a:t>Descriptor graph</a:t>
            </a:r>
          </a:p>
        </p:txBody>
      </p:sp>
      <p:sp>
        <p:nvSpPr>
          <p:cNvPr id="19" name="">
            <a:extLst xmlns:a="http://schemas.openxmlformats.org/drawingml/2006/main">
              <a:ext uri="{FF2B5EF4-FFF2-40B4-BE49-F238E27FC236}">
                <a16:creationId xmlns:a16="http://schemas.microsoft.com/office/drawing/2014/main" id="{167F19BC-A150-4685-8F90-2328ABD1CC49}"/>
              </a:ext>
            </a:extLst>
          </p:cNvPr>
          <p:cNvSpPr>
            <a:spLocks xmlns:a="http://schemas.openxmlformats.org/drawingml/2006/main" noGrp="1"/>
          </p:cNvSpPr>
          <p:nvPr/>
        </p:nvSpPr>
        <p:spPr>
          <a:xfrm xmlns:a="http://schemas.openxmlformats.org/drawingml/2006/main">
            <a:off x="3429000" y="4772025"/>
            <a:ext cx="6381750" cy="333375"/>
          </a:xfrm>
          <a:prstGeom xmlns:a="http://schemas.openxmlformats.org/drawingml/2006/main" prst="rect">
            <a:avLst/>
          </a:prstGeom>
          <a:solidFill xmlns:a="http://schemas.openxmlformats.org/drawingml/2006/main">
            <a:srgbClr val="E7E2D8"/>
          </a:solidFill>
          <a:ln xmlns:a="http://schemas.openxmlformats.org/drawingml/2006/main" w="0">
            <a:solidFill>
              <a:srgbClr val="E7E2D8"/>
            </a:solidFill>
            <a:prstDash val="solid"/>
          </a:ln>
        </p:spPr>
      </p:sp>
      <p:sp>
        <p:nvSpPr>
          <p:cNvPr id="20" name="">
            <a:extLst xmlns:a="http://schemas.openxmlformats.org/drawingml/2006/main">
              <a:ext uri="{FF2B5EF4-FFF2-40B4-BE49-F238E27FC236}">
                <a16:creationId xmlns:a16="http://schemas.microsoft.com/office/drawing/2014/main" id="{1D50CF24-94B2-4792-8EF8-DD16E94C1FA1}"/>
              </a:ext>
            </a:extLst>
          </p:cNvPr>
          <p:cNvSpPr>
            <a:spLocks xmlns:a="http://schemas.openxmlformats.org/drawingml/2006/main" noGrp="1"/>
          </p:cNvSpPr>
          <p:nvPr/>
        </p:nvSpPr>
        <p:spPr>
          <a:xfrm xmlns:a="http://schemas.openxmlformats.org/drawingml/2006/main">
            <a:off x="3429000" y="4772025"/>
            <a:ext cx="4446165" cy="333375"/>
          </a:xfrm>
          <a:prstGeom xmlns:a="http://schemas.openxmlformats.org/drawingml/2006/main" prst="rect">
            <a:avLst/>
          </a:prstGeom>
          <a:solidFill xmlns:a="http://schemas.openxmlformats.org/drawingml/2006/main">
            <a:srgbClr val="B54747"/>
          </a:solidFill>
          <a:ln xmlns:a="http://schemas.openxmlformats.org/drawingml/2006/main" w="0">
            <a:solidFill>
              <a:srgbClr val="B54747"/>
            </a:solidFill>
            <a:prstDash val="solid"/>
          </a:ln>
        </p:spPr>
      </p:sp>
      <p:sp>
        <p:nvSpPr>
          <p:cNvPr id="21" name="">
            <a:extLst xmlns:a="http://schemas.openxmlformats.org/drawingml/2006/main">
              <a:ext uri="{FF2B5EF4-FFF2-40B4-BE49-F238E27FC236}">
                <a16:creationId xmlns:a16="http://schemas.microsoft.com/office/drawing/2014/main" id="{FB023483-7363-4380-A5D1-ECEF1F355C31}"/>
              </a:ext>
            </a:extLst>
          </p:cNvPr>
          <p:cNvSpPr>
            <a:spLocks xmlns:a="http://schemas.openxmlformats.org/drawingml/2006/main" noGrp="1"/>
          </p:cNvSpPr>
          <p:nvPr/>
        </p:nvSpPr>
        <p:spPr>
          <a:xfrm xmlns:a="http://schemas.openxmlformats.org/drawingml/2006/main">
            <a:off x="9906000" y="4714875"/>
            <a:ext cx="666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0B1020"/>
                </a:solidFill>
                <a:latin typeface="Aptos"/>
                <a:ea typeface="Aptos"/>
                <a:cs typeface="Aptos"/>
              </a:defRPr>
            </a:pPr>
            <a:r>
              <a:rPr sz="1125" b="1">
                <a:solidFill>
                  <a:srgbClr val="0B1020"/>
                </a:solidFill>
                <a:latin typeface="Aptos"/>
                <a:ea typeface="Aptos"/>
                <a:cs typeface="Aptos"/>
              </a:rPr>
              <a:t>0.6967</a:t>
            </a:r>
          </a:p>
        </p:txBody>
      </p:sp>
      <p:sp>
        <p:nvSpPr>
          <p:cNvPr id="22" name="">
            <a:extLst xmlns:a="http://schemas.openxmlformats.org/drawingml/2006/main">
              <a:ext uri="{FF2B5EF4-FFF2-40B4-BE49-F238E27FC236}">
                <a16:creationId xmlns:a16="http://schemas.microsoft.com/office/drawing/2014/main" id="{ED39231B-02DC-4D4A-A1D7-DD32841CA7B9}"/>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23" name="">
            <a:extLst xmlns:a="http://schemas.openxmlformats.org/drawingml/2006/main">
              <a:ext uri="{FF2B5EF4-FFF2-40B4-BE49-F238E27FC236}">
                <a16:creationId xmlns:a16="http://schemas.microsoft.com/office/drawing/2014/main" id="{92916AEE-D4A4-48D5-9342-94217537E0EB}"/>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Sources: reports/baseline_modeling.md; reports/neural_network_baseline_summary.txt; reports/descriptor_graph_prototype_summary.txt</a:t>
            </a:r>
          </a:p>
        </p:txBody>
      </p:sp>
    </p:spTree>
    <p:extLst>
      <p:ext uri="{BB962C8B-B14F-4D97-AF65-F5344CB8AC3E}">
        <p14:creationId xmlns:p14="http://schemas.microsoft.com/office/powerpoint/2010/main" val="208733369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1B5FA0-7E8D-474E-878E-D7D76F5DFA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AF6"/>
          </a:solidFill>
          <a:ln xmlns:a="http://schemas.openxmlformats.org/drawingml/2006/main" w="0">
            <a:solidFill>
              <a:srgbClr val="FBFAF6"/>
            </a:solidFill>
            <a:prstDash val="solid"/>
          </a:ln>
        </p:spPr>
      </p:sp>
      <p:sp>
        <p:nvSpPr>
          <p:cNvPr id="2" name="">
            <a:extLst xmlns:a="http://schemas.openxmlformats.org/drawingml/2006/main">
              <a:ext uri="{FF2B5EF4-FFF2-40B4-BE49-F238E27FC236}">
                <a16:creationId xmlns:a16="http://schemas.microsoft.com/office/drawing/2014/main" id="{5E482C51-16B1-401A-89D1-D96A56B0B4C5}"/>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3DA4EC1D-DA42-4725-9527-3FFC19831CB2}"/>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THE TURNING POINT</a:t>
            </a:r>
          </a:p>
        </p:txBody>
      </p:sp>
      <p:sp>
        <p:nvSpPr>
          <p:cNvPr id="4" name="">
            <a:extLst xmlns:a="http://schemas.openxmlformats.org/drawingml/2006/main">
              <a:ext uri="{FF2B5EF4-FFF2-40B4-BE49-F238E27FC236}">
                <a16:creationId xmlns:a16="http://schemas.microsoft.com/office/drawing/2014/main" id="{AE1B0A42-6695-4AFB-BD20-516F35B470B6}"/>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Accuracy can be the wrong kind of confidence.</a:t>
            </a:r>
          </a:p>
        </p:txBody>
      </p:sp>
      <p:sp>
        <p:nvSpPr>
          <p:cNvPr id="5" name="">
            <a:extLst xmlns:a="http://schemas.openxmlformats.org/drawingml/2006/main">
              <a:ext uri="{FF2B5EF4-FFF2-40B4-BE49-F238E27FC236}">
                <a16:creationId xmlns:a16="http://schemas.microsoft.com/office/drawing/2014/main" id="{40C026AF-A1C6-49FC-8CFF-7E5A6878F791}"/>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A model can score well on familiar data and still fail under shift.</a:t>
            </a:r>
          </a:p>
        </p:txBody>
      </p:sp>
      <p:sp>
        <p:nvSpPr>
          <p:cNvPr id="6" name="">
            <a:extLst xmlns:a="http://schemas.openxmlformats.org/drawingml/2006/main">
              <a:ext uri="{FF2B5EF4-FFF2-40B4-BE49-F238E27FC236}">
                <a16:creationId xmlns:a16="http://schemas.microsoft.com/office/drawing/2014/main" id="{8F765FCD-C0E0-44BE-BA3E-5471A48BCD32}"/>
              </a:ext>
            </a:extLst>
          </p:cNvPr>
          <p:cNvSpPr>
            <a:spLocks xmlns:a="http://schemas.openxmlformats.org/drawingml/2006/main" noGrp="1"/>
          </p:cNvSpPr>
          <p:nvPr/>
        </p:nvSpPr>
        <p:spPr>
          <a:xfrm xmlns:a="http://schemas.openxmlformats.org/drawingml/2006/main">
            <a:off x="990600" y="2952750"/>
            <a:ext cx="102108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850" b="1">
                <a:solidFill>
                  <a:srgbClr val="0B1020"/>
                </a:solidFill>
                <a:latin typeface="Aptos Display"/>
                <a:ea typeface="Aptos Display"/>
                <a:cs typeface="Aptos Display"/>
              </a:defRPr>
            </a:pPr>
            <a:r>
              <a:rPr sz="2850" b="1">
                <a:solidFill>
                  <a:srgbClr val="0B1020"/>
                </a:solidFill>
                <a:latin typeface="Aptos Display"/>
                <a:ea typeface="Aptos Display"/>
                <a:cs typeface="Aptos Display"/>
              </a:rPr>
              <a:t>High accuracy alone was insufficient for trustworthy degradation prediction.</a:t>
            </a:r>
          </a:p>
        </p:txBody>
      </p:sp>
      <p:sp>
        <p:nvSpPr>
          <p:cNvPr id="7" name="">
            <a:extLst xmlns:a="http://schemas.openxmlformats.org/drawingml/2006/main">
              <a:ext uri="{FF2B5EF4-FFF2-40B4-BE49-F238E27FC236}">
                <a16:creationId xmlns:a16="http://schemas.microsoft.com/office/drawing/2014/main" id="{D5BB8957-1FE0-47D5-8A9F-50A5B97F59D2}"/>
              </a:ext>
            </a:extLst>
          </p:cNvPr>
          <p:cNvSpPr>
            <a:spLocks xmlns:a="http://schemas.openxmlformats.org/drawingml/2006/main" noGrp="1"/>
          </p:cNvSpPr>
          <p:nvPr/>
        </p:nvSpPr>
        <p:spPr>
          <a:xfrm xmlns:a="http://schemas.openxmlformats.org/drawingml/2006/main">
            <a:off x="1619250" y="45148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8" name="">
            <a:extLst xmlns:a="http://schemas.openxmlformats.org/drawingml/2006/main">
              <a:ext uri="{FF2B5EF4-FFF2-40B4-BE49-F238E27FC236}">
                <a16:creationId xmlns:a16="http://schemas.microsoft.com/office/drawing/2014/main" id="{997B587F-92F4-4BE1-84E4-31E2BC0D5DD7}"/>
              </a:ext>
            </a:extLst>
          </p:cNvPr>
          <p:cNvSpPr>
            <a:spLocks xmlns:a="http://schemas.openxmlformats.org/drawingml/2006/main" noGrp="1"/>
          </p:cNvSpPr>
          <p:nvPr/>
        </p:nvSpPr>
        <p:spPr>
          <a:xfrm xmlns:a="http://schemas.openxmlformats.org/drawingml/2006/main">
            <a:off x="1828800" y="4429125"/>
            <a:ext cx="8572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Calibration asks: are probabilities meaningful?</a:t>
            </a:r>
          </a:p>
        </p:txBody>
      </p:sp>
      <p:sp>
        <p:nvSpPr>
          <p:cNvPr id="9" name="">
            <a:extLst xmlns:a="http://schemas.openxmlformats.org/drawingml/2006/main">
              <a:ext uri="{FF2B5EF4-FFF2-40B4-BE49-F238E27FC236}">
                <a16:creationId xmlns:a16="http://schemas.microsoft.com/office/drawing/2014/main" id="{74A1C8FE-AFD6-405B-8B91-4E114609FF7D}"/>
              </a:ext>
            </a:extLst>
          </p:cNvPr>
          <p:cNvSpPr>
            <a:spLocks xmlns:a="http://schemas.openxmlformats.org/drawingml/2006/main" noGrp="1"/>
          </p:cNvSpPr>
          <p:nvPr/>
        </p:nvSpPr>
        <p:spPr>
          <a:xfrm xmlns:a="http://schemas.openxmlformats.org/drawingml/2006/main">
            <a:off x="1619250" y="49149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0" name="">
            <a:extLst xmlns:a="http://schemas.openxmlformats.org/drawingml/2006/main">
              <a:ext uri="{FF2B5EF4-FFF2-40B4-BE49-F238E27FC236}">
                <a16:creationId xmlns:a16="http://schemas.microsoft.com/office/drawing/2014/main" id="{6F3B6DDC-1E7B-437D-AB5C-BBC93C5783A5}"/>
              </a:ext>
            </a:extLst>
          </p:cNvPr>
          <p:cNvSpPr>
            <a:spLocks xmlns:a="http://schemas.openxmlformats.org/drawingml/2006/main" noGrp="1"/>
          </p:cNvSpPr>
          <p:nvPr/>
        </p:nvSpPr>
        <p:spPr>
          <a:xfrm xmlns:a="http://schemas.openxmlformats.org/drawingml/2006/main">
            <a:off x="1828800" y="4829175"/>
            <a:ext cx="8572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Uncertainty asks: does the model know when it may be wrong?</a:t>
            </a:r>
          </a:p>
        </p:txBody>
      </p:sp>
      <p:sp>
        <p:nvSpPr>
          <p:cNvPr id="11" name="">
            <a:extLst xmlns:a="http://schemas.openxmlformats.org/drawingml/2006/main">
              <a:ext uri="{FF2B5EF4-FFF2-40B4-BE49-F238E27FC236}">
                <a16:creationId xmlns:a16="http://schemas.microsoft.com/office/drawing/2014/main" id="{4648CEAF-3652-4A9A-8FC8-A614304E218E}"/>
              </a:ext>
            </a:extLst>
          </p:cNvPr>
          <p:cNvSpPr>
            <a:spLocks xmlns:a="http://schemas.openxmlformats.org/drawingml/2006/main" noGrp="1"/>
          </p:cNvSpPr>
          <p:nvPr/>
        </p:nvSpPr>
        <p:spPr>
          <a:xfrm xmlns:a="http://schemas.openxmlformats.org/drawingml/2006/main">
            <a:off x="1619250" y="53149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2" name="">
            <a:extLst xmlns:a="http://schemas.openxmlformats.org/drawingml/2006/main">
              <a:ext uri="{FF2B5EF4-FFF2-40B4-BE49-F238E27FC236}">
                <a16:creationId xmlns:a16="http://schemas.microsoft.com/office/drawing/2014/main" id="{36712172-BC79-4FA3-8249-4C1807B9DA47}"/>
              </a:ext>
            </a:extLst>
          </p:cNvPr>
          <p:cNvSpPr>
            <a:spLocks xmlns:a="http://schemas.openxmlformats.org/drawingml/2006/main" noGrp="1"/>
          </p:cNvSpPr>
          <p:nvPr/>
        </p:nvSpPr>
        <p:spPr>
          <a:xfrm xmlns:a="http://schemas.openxmlformats.org/drawingml/2006/main">
            <a:off x="1828800" y="5229225"/>
            <a:ext cx="8572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Cross-environment testing asks: what happens outside the training distribution?</a:t>
            </a:r>
          </a:p>
        </p:txBody>
      </p:sp>
      <p:sp>
        <p:nvSpPr>
          <p:cNvPr id="13" name="">
            <a:extLst xmlns:a="http://schemas.openxmlformats.org/drawingml/2006/main">
              <a:ext uri="{FF2B5EF4-FFF2-40B4-BE49-F238E27FC236}">
                <a16:creationId xmlns:a16="http://schemas.microsoft.com/office/drawing/2014/main" id="{FA528C56-B4DC-4D51-8AC3-637560F6F8A9}"/>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4" name="">
            <a:extLst xmlns:a="http://schemas.openxmlformats.org/drawingml/2006/main">
              <a:ext uri="{FF2B5EF4-FFF2-40B4-BE49-F238E27FC236}">
                <a16:creationId xmlns:a16="http://schemas.microsoft.com/office/drawing/2014/main" id="{B45F07A2-93E3-4808-B63D-856C15A662AA}"/>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reports/main_findings.md</a:t>
            </a:r>
          </a:p>
        </p:txBody>
      </p:sp>
    </p:spTree>
    <p:extLst>
      <p:ext uri="{BB962C8B-B14F-4D97-AF65-F5344CB8AC3E}">
        <p14:creationId xmlns:p14="http://schemas.microsoft.com/office/powerpoint/2010/main" val="148169178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57C703-DA90-48BE-A245-4AB61190D5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A3114A34-4568-431A-9604-0AB7C06378F3}"/>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2680D6F0-0A93-4254-BF2A-B6F1255AB55E}"/>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RELIABILITY TOOLKIT</a:t>
            </a:r>
          </a:p>
        </p:txBody>
      </p:sp>
      <p:sp>
        <p:nvSpPr>
          <p:cNvPr id="4" name="">
            <a:extLst xmlns:a="http://schemas.openxmlformats.org/drawingml/2006/main">
              <a:ext uri="{FF2B5EF4-FFF2-40B4-BE49-F238E27FC236}">
                <a16:creationId xmlns:a16="http://schemas.microsoft.com/office/drawing/2014/main" id="{E254F9CC-1A10-4775-B989-D31A048B5E41}"/>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project evaluated trust as a measurable property.</a:t>
            </a:r>
          </a:p>
        </p:txBody>
      </p:sp>
      <p:sp>
        <p:nvSpPr>
          <p:cNvPr id="5" name="">
            <a:extLst xmlns:a="http://schemas.openxmlformats.org/drawingml/2006/main">
              <a:ext uri="{FF2B5EF4-FFF2-40B4-BE49-F238E27FC236}">
                <a16:creationId xmlns:a16="http://schemas.microsoft.com/office/drawing/2014/main" id="{71643CBB-FD53-465B-B5A5-5A909B6383DD}"/>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Reliability was operationalized through multiple stress tests.</a:t>
            </a:r>
          </a:p>
        </p:txBody>
      </p:sp>
      <p:sp>
        <p:nvSpPr>
          <p:cNvPr id="6" name="">
            <a:extLst xmlns:a="http://schemas.openxmlformats.org/drawingml/2006/main">
              <a:ext uri="{FF2B5EF4-FFF2-40B4-BE49-F238E27FC236}">
                <a16:creationId xmlns:a16="http://schemas.microsoft.com/office/drawing/2014/main" id="{8969FB45-44C3-4187-B721-A35173467F94}"/>
              </a:ext>
            </a:extLst>
          </p:cNvPr>
          <p:cNvSpPr>
            <a:spLocks xmlns:a="http://schemas.openxmlformats.org/drawingml/2006/main" noGrp="1"/>
          </p:cNvSpPr>
          <p:nvPr/>
        </p:nvSpPr>
        <p:spPr>
          <a:xfrm xmlns:a="http://schemas.openxmlformats.org/drawingml/2006/main">
            <a:off x="857250" y="2905125"/>
            <a:ext cx="3048000" cy="904875"/>
          </a:xfrm>
          <a:prstGeom xmlns:a="http://schemas.openxmlformats.org/drawingml/2006/main" prst="rect">
            <a:avLst/>
          </a:prstGeom>
          <a:solidFill xmlns:a="http://schemas.openxmlformats.org/drawingml/2006/main">
            <a:srgbClr val="DDE9DF"/>
          </a:solidFill>
          <a:ln xmlns:a="http://schemas.openxmlformats.org/drawingml/2006/main" w="9525">
            <a:solidFill>
              <a:srgbClr val="D0C7B5"/>
            </a:solidFill>
            <a:prstDash val="solid"/>
          </a:ln>
        </p:spPr>
      </p:sp>
      <p:sp>
        <p:nvSpPr>
          <p:cNvPr id="7" name="">
            <a:extLst xmlns:a="http://schemas.openxmlformats.org/drawingml/2006/main">
              <a:ext uri="{FF2B5EF4-FFF2-40B4-BE49-F238E27FC236}">
                <a16:creationId xmlns:a16="http://schemas.microsoft.com/office/drawing/2014/main" id="{BD3DCDC7-B914-496A-8D89-75A538328EFC}"/>
              </a:ext>
            </a:extLst>
          </p:cNvPr>
          <p:cNvSpPr>
            <a:spLocks xmlns:a="http://schemas.openxmlformats.org/drawingml/2006/main" noGrp="1"/>
          </p:cNvSpPr>
          <p:nvPr/>
        </p:nvSpPr>
        <p:spPr>
          <a:xfrm xmlns:a="http://schemas.openxmlformats.org/drawingml/2006/main">
            <a:off x="1028700" y="3019425"/>
            <a:ext cx="2705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B1020"/>
                </a:solidFill>
                <a:latin typeface="Aptos"/>
                <a:ea typeface="Aptos"/>
                <a:cs typeface="Aptos"/>
              </a:defRPr>
            </a:pPr>
            <a:r>
              <a:rPr sz="1425" b="1">
                <a:solidFill>
                  <a:srgbClr val="0B1020"/>
                </a:solidFill>
                <a:latin typeface="Aptos"/>
                <a:ea typeface="Aptos"/>
                <a:cs typeface="Aptos"/>
              </a:rPr>
              <a:t>Calibration</a:t>
            </a:r>
          </a:p>
        </p:txBody>
      </p:sp>
      <p:sp>
        <p:nvSpPr>
          <p:cNvPr id="8" name="">
            <a:extLst xmlns:a="http://schemas.openxmlformats.org/drawingml/2006/main">
              <a:ext uri="{FF2B5EF4-FFF2-40B4-BE49-F238E27FC236}">
                <a16:creationId xmlns:a16="http://schemas.microsoft.com/office/drawing/2014/main" id="{C0F85DA1-0EDA-4C50-9455-254492545B32}"/>
              </a:ext>
            </a:extLst>
          </p:cNvPr>
          <p:cNvSpPr>
            <a:spLocks xmlns:a="http://schemas.openxmlformats.org/drawingml/2006/main" noGrp="1"/>
          </p:cNvSpPr>
          <p:nvPr/>
        </p:nvSpPr>
        <p:spPr>
          <a:xfrm xmlns:a="http://schemas.openxmlformats.org/drawingml/2006/main">
            <a:off x="1028700" y="3457575"/>
            <a:ext cx="2705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Brier score, log loss, ECE</a:t>
            </a:r>
          </a:p>
        </p:txBody>
      </p:sp>
      <p:sp>
        <p:nvSpPr>
          <p:cNvPr id="9" name="">
            <a:extLst xmlns:a="http://schemas.openxmlformats.org/drawingml/2006/main">
              <a:ext uri="{FF2B5EF4-FFF2-40B4-BE49-F238E27FC236}">
                <a16:creationId xmlns:a16="http://schemas.microsoft.com/office/drawing/2014/main" id="{9F341FAA-2A55-4064-9A84-7B1DC241EE08}"/>
              </a:ext>
            </a:extLst>
          </p:cNvPr>
          <p:cNvSpPr>
            <a:spLocks xmlns:a="http://schemas.openxmlformats.org/drawingml/2006/main" noGrp="1"/>
          </p:cNvSpPr>
          <p:nvPr/>
        </p:nvSpPr>
        <p:spPr>
          <a:xfrm xmlns:a="http://schemas.openxmlformats.org/drawingml/2006/main">
            <a:off x="4476750" y="2905125"/>
            <a:ext cx="3048000" cy="904875"/>
          </a:xfrm>
          <a:prstGeom xmlns:a="http://schemas.openxmlformats.org/drawingml/2006/main" prst="rect">
            <a:avLst/>
          </a:prstGeom>
          <a:solidFill xmlns:a="http://schemas.openxmlformats.org/drawingml/2006/main">
            <a:srgbClr val="EFE1C6"/>
          </a:solidFill>
          <a:ln xmlns:a="http://schemas.openxmlformats.org/drawingml/2006/main" w="9525">
            <a:solidFill>
              <a:srgbClr val="D0C7B5"/>
            </a:solidFill>
            <a:prstDash val="solid"/>
          </a:ln>
        </p:spPr>
      </p:sp>
      <p:sp>
        <p:nvSpPr>
          <p:cNvPr id="10" name="">
            <a:extLst xmlns:a="http://schemas.openxmlformats.org/drawingml/2006/main">
              <a:ext uri="{FF2B5EF4-FFF2-40B4-BE49-F238E27FC236}">
                <a16:creationId xmlns:a16="http://schemas.microsoft.com/office/drawing/2014/main" id="{78B7218F-B80B-4435-A725-8EA8DAE8B984}"/>
              </a:ext>
            </a:extLst>
          </p:cNvPr>
          <p:cNvSpPr>
            <a:spLocks xmlns:a="http://schemas.openxmlformats.org/drawingml/2006/main" noGrp="1"/>
          </p:cNvSpPr>
          <p:nvPr/>
        </p:nvSpPr>
        <p:spPr>
          <a:xfrm xmlns:a="http://schemas.openxmlformats.org/drawingml/2006/main">
            <a:off x="4648200" y="3019425"/>
            <a:ext cx="2705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B1020"/>
                </a:solidFill>
                <a:latin typeface="Aptos"/>
                <a:ea typeface="Aptos"/>
                <a:cs typeface="Aptos"/>
              </a:defRPr>
            </a:pPr>
            <a:r>
              <a:rPr sz="1425" b="1">
                <a:solidFill>
                  <a:srgbClr val="0B1020"/>
                </a:solidFill>
                <a:latin typeface="Aptos"/>
                <a:ea typeface="Aptos"/>
                <a:cs typeface="Aptos"/>
              </a:rPr>
              <a:t>Uncertainty</a:t>
            </a:r>
          </a:p>
        </p:txBody>
      </p:sp>
      <p:sp>
        <p:nvSpPr>
          <p:cNvPr id="11" name="">
            <a:extLst xmlns:a="http://schemas.openxmlformats.org/drawingml/2006/main">
              <a:ext uri="{FF2B5EF4-FFF2-40B4-BE49-F238E27FC236}">
                <a16:creationId xmlns:a16="http://schemas.microsoft.com/office/drawing/2014/main" id="{F944E213-4CB3-407E-ABCA-2356F548E9FD}"/>
              </a:ext>
            </a:extLst>
          </p:cNvPr>
          <p:cNvSpPr>
            <a:spLocks xmlns:a="http://schemas.openxmlformats.org/drawingml/2006/main" noGrp="1"/>
          </p:cNvSpPr>
          <p:nvPr/>
        </p:nvSpPr>
        <p:spPr>
          <a:xfrm xmlns:a="http://schemas.openxmlformats.org/drawingml/2006/main">
            <a:off x="4648200" y="3457575"/>
            <a:ext cx="2705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entropy and uncertainty gap</a:t>
            </a:r>
          </a:p>
        </p:txBody>
      </p:sp>
      <p:sp>
        <p:nvSpPr>
          <p:cNvPr id="12" name="">
            <a:extLst xmlns:a="http://schemas.openxmlformats.org/drawingml/2006/main">
              <a:ext uri="{FF2B5EF4-FFF2-40B4-BE49-F238E27FC236}">
                <a16:creationId xmlns:a16="http://schemas.microsoft.com/office/drawing/2014/main" id="{5A716BF7-3421-42C4-B909-1FE848870D5D}"/>
              </a:ext>
            </a:extLst>
          </p:cNvPr>
          <p:cNvSpPr>
            <a:spLocks xmlns:a="http://schemas.openxmlformats.org/drawingml/2006/main" noGrp="1"/>
          </p:cNvSpPr>
          <p:nvPr/>
        </p:nvSpPr>
        <p:spPr>
          <a:xfrm xmlns:a="http://schemas.openxmlformats.org/drawingml/2006/main">
            <a:off x="8096250" y="2905125"/>
            <a:ext cx="3048000" cy="904875"/>
          </a:xfrm>
          <a:prstGeom xmlns:a="http://schemas.openxmlformats.org/drawingml/2006/main" prst="rect">
            <a:avLst/>
          </a:prstGeom>
          <a:solidFill xmlns:a="http://schemas.openxmlformats.org/drawingml/2006/main">
            <a:srgbClr val="DDE9DF"/>
          </a:solidFill>
          <a:ln xmlns:a="http://schemas.openxmlformats.org/drawingml/2006/main" w="9525">
            <a:solidFill>
              <a:srgbClr val="D0C7B5"/>
            </a:solidFill>
            <a:prstDash val="solid"/>
          </a:ln>
        </p:spPr>
      </p:sp>
      <p:sp>
        <p:nvSpPr>
          <p:cNvPr id="13" name="">
            <a:extLst xmlns:a="http://schemas.openxmlformats.org/drawingml/2006/main">
              <a:ext uri="{FF2B5EF4-FFF2-40B4-BE49-F238E27FC236}">
                <a16:creationId xmlns:a16="http://schemas.microsoft.com/office/drawing/2014/main" id="{5FE110CA-7C4D-48F8-9C9A-A4591BE11A76}"/>
              </a:ext>
            </a:extLst>
          </p:cNvPr>
          <p:cNvSpPr>
            <a:spLocks xmlns:a="http://schemas.openxmlformats.org/drawingml/2006/main" noGrp="1"/>
          </p:cNvSpPr>
          <p:nvPr/>
        </p:nvSpPr>
        <p:spPr>
          <a:xfrm xmlns:a="http://schemas.openxmlformats.org/drawingml/2006/main">
            <a:off x="8267700" y="3019425"/>
            <a:ext cx="2705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B1020"/>
                </a:solidFill>
                <a:latin typeface="Aptos"/>
                <a:ea typeface="Aptos"/>
                <a:cs typeface="Aptos"/>
              </a:defRPr>
            </a:pPr>
            <a:r>
              <a:rPr sz="1425" b="1">
                <a:solidFill>
                  <a:srgbClr val="0B1020"/>
                </a:solidFill>
                <a:latin typeface="Aptos"/>
                <a:ea typeface="Aptos"/>
                <a:cs typeface="Aptos"/>
              </a:rPr>
              <a:t>Selective prediction</a:t>
            </a:r>
          </a:p>
        </p:txBody>
      </p:sp>
      <p:sp>
        <p:nvSpPr>
          <p:cNvPr id="14" name="">
            <a:extLst xmlns:a="http://schemas.openxmlformats.org/drawingml/2006/main">
              <a:ext uri="{FF2B5EF4-FFF2-40B4-BE49-F238E27FC236}">
                <a16:creationId xmlns:a16="http://schemas.microsoft.com/office/drawing/2014/main" id="{42F9BB10-DA8C-4D92-8965-C4DB8E78ABE4}"/>
              </a:ext>
            </a:extLst>
          </p:cNvPr>
          <p:cNvSpPr>
            <a:spLocks xmlns:a="http://schemas.openxmlformats.org/drawingml/2006/main" noGrp="1"/>
          </p:cNvSpPr>
          <p:nvPr/>
        </p:nvSpPr>
        <p:spPr>
          <a:xfrm xmlns:a="http://schemas.openxmlformats.org/drawingml/2006/main">
            <a:off x="8267700" y="3457575"/>
            <a:ext cx="2705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accuracy when retaining confident cases</a:t>
            </a:r>
          </a:p>
        </p:txBody>
      </p:sp>
      <p:sp>
        <p:nvSpPr>
          <p:cNvPr id="15" name="">
            <a:extLst xmlns:a="http://schemas.openxmlformats.org/drawingml/2006/main">
              <a:ext uri="{FF2B5EF4-FFF2-40B4-BE49-F238E27FC236}">
                <a16:creationId xmlns:a16="http://schemas.microsoft.com/office/drawing/2014/main" id="{6DBD94D9-B414-498B-AB46-D79D96D8B519}"/>
              </a:ext>
            </a:extLst>
          </p:cNvPr>
          <p:cNvSpPr>
            <a:spLocks xmlns:a="http://schemas.openxmlformats.org/drawingml/2006/main" noGrp="1"/>
          </p:cNvSpPr>
          <p:nvPr/>
        </p:nvSpPr>
        <p:spPr>
          <a:xfrm xmlns:a="http://schemas.openxmlformats.org/drawingml/2006/main">
            <a:off x="857250" y="4191000"/>
            <a:ext cx="3048000" cy="904875"/>
          </a:xfrm>
          <a:prstGeom xmlns:a="http://schemas.openxmlformats.org/drawingml/2006/main" prst="rect">
            <a:avLst/>
          </a:prstGeom>
          <a:solidFill xmlns:a="http://schemas.openxmlformats.org/drawingml/2006/main">
            <a:srgbClr val="EFE1C6"/>
          </a:solidFill>
          <a:ln xmlns:a="http://schemas.openxmlformats.org/drawingml/2006/main" w="9525">
            <a:solidFill>
              <a:srgbClr val="D0C7B5"/>
            </a:solidFill>
            <a:prstDash val="solid"/>
          </a:ln>
        </p:spPr>
      </p:sp>
      <p:sp>
        <p:nvSpPr>
          <p:cNvPr id="16" name="">
            <a:extLst xmlns:a="http://schemas.openxmlformats.org/drawingml/2006/main">
              <a:ext uri="{FF2B5EF4-FFF2-40B4-BE49-F238E27FC236}">
                <a16:creationId xmlns:a16="http://schemas.microsoft.com/office/drawing/2014/main" id="{CCDD70BE-39E7-4F9C-B919-B78473676F46}"/>
              </a:ext>
            </a:extLst>
          </p:cNvPr>
          <p:cNvSpPr>
            <a:spLocks xmlns:a="http://schemas.openxmlformats.org/drawingml/2006/main" noGrp="1"/>
          </p:cNvSpPr>
          <p:nvPr/>
        </p:nvSpPr>
        <p:spPr>
          <a:xfrm xmlns:a="http://schemas.openxmlformats.org/drawingml/2006/main">
            <a:off x="1028700" y="4305300"/>
            <a:ext cx="2705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B1020"/>
                </a:solidFill>
                <a:latin typeface="Aptos"/>
                <a:ea typeface="Aptos"/>
                <a:cs typeface="Aptos"/>
              </a:defRPr>
            </a:pPr>
            <a:r>
              <a:rPr sz="1425" b="1">
                <a:solidFill>
                  <a:srgbClr val="0B1020"/>
                </a:solidFill>
                <a:latin typeface="Aptos"/>
                <a:ea typeface="Aptos"/>
                <a:cs typeface="Aptos"/>
              </a:rPr>
              <a:t>Cross-environment validation</a:t>
            </a:r>
          </a:p>
        </p:txBody>
      </p:sp>
      <p:sp>
        <p:nvSpPr>
          <p:cNvPr id="17" name="">
            <a:extLst xmlns:a="http://schemas.openxmlformats.org/drawingml/2006/main">
              <a:ext uri="{FF2B5EF4-FFF2-40B4-BE49-F238E27FC236}">
                <a16:creationId xmlns:a16="http://schemas.microsoft.com/office/drawing/2014/main" id="{E689BBDD-C849-4CDC-BC24-CA3B01FE7491}"/>
              </a:ext>
            </a:extLst>
          </p:cNvPr>
          <p:cNvSpPr>
            <a:spLocks xmlns:a="http://schemas.openxmlformats.org/drawingml/2006/main" noGrp="1"/>
          </p:cNvSpPr>
          <p:nvPr/>
        </p:nvSpPr>
        <p:spPr>
          <a:xfrm xmlns:a="http://schemas.openxmlformats.org/drawingml/2006/main">
            <a:off x="1028700" y="4743450"/>
            <a:ext cx="2705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proxy distribution-shift behavior</a:t>
            </a:r>
          </a:p>
        </p:txBody>
      </p:sp>
      <p:sp>
        <p:nvSpPr>
          <p:cNvPr id="18" name="">
            <a:extLst xmlns:a="http://schemas.openxmlformats.org/drawingml/2006/main">
              <a:ext uri="{FF2B5EF4-FFF2-40B4-BE49-F238E27FC236}">
                <a16:creationId xmlns:a16="http://schemas.microsoft.com/office/drawing/2014/main" id="{576D89D8-445E-4713-A6A1-6E7B77CD21BC}"/>
              </a:ext>
            </a:extLst>
          </p:cNvPr>
          <p:cNvSpPr>
            <a:spLocks xmlns:a="http://schemas.openxmlformats.org/drawingml/2006/main" noGrp="1"/>
          </p:cNvSpPr>
          <p:nvPr/>
        </p:nvSpPr>
        <p:spPr>
          <a:xfrm xmlns:a="http://schemas.openxmlformats.org/drawingml/2006/main">
            <a:off x="4476750" y="4191000"/>
            <a:ext cx="3048000" cy="904875"/>
          </a:xfrm>
          <a:prstGeom xmlns:a="http://schemas.openxmlformats.org/drawingml/2006/main" prst="rect">
            <a:avLst/>
          </a:prstGeom>
          <a:solidFill xmlns:a="http://schemas.openxmlformats.org/drawingml/2006/main">
            <a:srgbClr val="DDE9DF"/>
          </a:solidFill>
          <a:ln xmlns:a="http://schemas.openxmlformats.org/drawingml/2006/main" w="9525">
            <a:solidFill>
              <a:srgbClr val="D0C7B5"/>
            </a:solidFill>
            <a:prstDash val="solid"/>
          </a:ln>
        </p:spPr>
      </p:sp>
      <p:sp>
        <p:nvSpPr>
          <p:cNvPr id="19" name="">
            <a:extLst xmlns:a="http://schemas.openxmlformats.org/drawingml/2006/main">
              <a:ext uri="{FF2B5EF4-FFF2-40B4-BE49-F238E27FC236}">
                <a16:creationId xmlns:a16="http://schemas.microsoft.com/office/drawing/2014/main" id="{1BD07B69-1091-4325-85D5-62529DF473B6}"/>
              </a:ext>
            </a:extLst>
          </p:cNvPr>
          <p:cNvSpPr>
            <a:spLocks xmlns:a="http://schemas.openxmlformats.org/drawingml/2006/main" noGrp="1"/>
          </p:cNvSpPr>
          <p:nvPr/>
        </p:nvSpPr>
        <p:spPr>
          <a:xfrm xmlns:a="http://schemas.openxmlformats.org/drawingml/2006/main">
            <a:off x="4648200" y="4305300"/>
            <a:ext cx="2705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B1020"/>
                </a:solidFill>
                <a:latin typeface="Aptos"/>
                <a:ea typeface="Aptos"/>
                <a:cs typeface="Aptos"/>
              </a:defRPr>
            </a:pPr>
            <a:r>
              <a:rPr sz="1425" b="1">
                <a:solidFill>
                  <a:srgbClr val="0B1020"/>
                </a:solidFill>
                <a:latin typeface="Aptos"/>
                <a:ea typeface="Aptos"/>
                <a:cs typeface="Aptos"/>
              </a:rPr>
              <a:t>Overconfidence checks</a:t>
            </a:r>
          </a:p>
        </p:txBody>
      </p:sp>
      <p:sp>
        <p:nvSpPr>
          <p:cNvPr id="20" name="">
            <a:extLst xmlns:a="http://schemas.openxmlformats.org/drawingml/2006/main">
              <a:ext uri="{FF2B5EF4-FFF2-40B4-BE49-F238E27FC236}">
                <a16:creationId xmlns:a16="http://schemas.microsoft.com/office/drawing/2014/main" id="{7E34EB71-7211-4797-AE2B-62F7C2E9BAFF}"/>
              </a:ext>
            </a:extLst>
          </p:cNvPr>
          <p:cNvSpPr>
            <a:spLocks xmlns:a="http://schemas.openxmlformats.org/drawingml/2006/main" noGrp="1"/>
          </p:cNvSpPr>
          <p:nvPr/>
        </p:nvSpPr>
        <p:spPr>
          <a:xfrm xmlns:a="http://schemas.openxmlformats.org/drawingml/2006/main">
            <a:off x="4648200" y="4743450"/>
            <a:ext cx="2705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34155"/>
                </a:solidFill>
                <a:latin typeface="Aptos"/>
                <a:ea typeface="Aptos"/>
                <a:cs typeface="Aptos"/>
              </a:defRPr>
            </a:pPr>
            <a:r>
              <a:rPr sz="975" b="0">
                <a:solidFill>
                  <a:srgbClr val="334155"/>
                </a:solidFill>
                <a:latin typeface="Aptos"/>
                <a:ea typeface="Aptos"/>
                <a:cs typeface="Aptos"/>
              </a:rPr>
              <a:t>confidence on incorrect predictions</a:t>
            </a:r>
          </a:p>
        </p:txBody>
      </p:sp>
      <p:sp>
        <p:nvSpPr>
          <p:cNvPr id="21" name="">
            <a:extLst xmlns:a="http://schemas.openxmlformats.org/drawingml/2006/main">
              <a:ext uri="{FF2B5EF4-FFF2-40B4-BE49-F238E27FC236}">
                <a16:creationId xmlns:a16="http://schemas.microsoft.com/office/drawing/2014/main" id="{05474C9E-135F-4FFC-98B7-A8D240D60B51}"/>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22" name="">
            <a:extLst xmlns:a="http://schemas.openxmlformats.org/drawingml/2006/main">
              <a:ext uri="{FF2B5EF4-FFF2-40B4-BE49-F238E27FC236}">
                <a16:creationId xmlns:a16="http://schemas.microsoft.com/office/drawing/2014/main" id="{FDB05173-4D30-4C4D-87C0-F57BAEC938BB}"/>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Sources: reports/uncertainty_reliability_summary.txt; reports/model_reliability_report.md</a:t>
            </a:r>
          </a:p>
        </p:txBody>
      </p:sp>
    </p:spTree>
    <p:extLst>
      <p:ext uri="{BB962C8B-B14F-4D97-AF65-F5344CB8AC3E}">
        <p14:creationId xmlns:p14="http://schemas.microsoft.com/office/powerpoint/2010/main" val="76838197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79F5F9-9FC1-4544-BEF5-CB60572E3B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F97768EC-E9B8-4616-B8EA-C01B05176758}"/>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2AED649E-DB9D-48B3-852F-C519386A0E19}"/>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CHEMISTRY-INFORMED FEATURES</a:t>
            </a:r>
          </a:p>
        </p:txBody>
      </p:sp>
      <p:sp>
        <p:nvSpPr>
          <p:cNvPr id="4" name="">
            <a:extLst xmlns:a="http://schemas.openxmlformats.org/drawingml/2006/main">
              <a:ext uri="{FF2B5EF4-FFF2-40B4-BE49-F238E27FC236}">
                <a16:creationId xmlns:a16="http://schemas.microsoft.com/office/drawing/2014/main" id="{6FAE510C-2655-4D7B-BEB4-A3B0B2B3881C}"/>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Chemistry-aware proxies helped, but did not magically solve the problem.</a:t>
            </a:r>
          </a:p>
        </p:txBody>
      </p:sp>
      <p:sp>
        <p:nvSpPr>
          <p:cNvPr id="5" name="">
            <a:extLst xmlns:a="http://schemas.openxmlformats.org/drawingml/2006/main">
              <a:ext uri="{FF2B5EF4-FFF2-40B4-BE49-F238E27FC236}">
                <a16:creationId xmlns:a16="http://schemas.microsoft.com/office/drawing/2014/main" id="{96B0067A-CB0C-4BED-BF74-F5D5BF14F0E3}"/>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The FNN improved under engineered features, while reliability still required full evaluation.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cb7348c022a468c"/>
          <a:stretch xmlns:a="http://schemas.openxmlformats.org/drawingml/2006/main"/>
        </p:blipFill>
        <p:spPr>
          <a:xfrm xmlns:a="http://schemas.openxmlformats.org/drawingml/2006/main">
            <a:off x="6313714" y="1809750"/>
            <a:ext cx="4898571"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4FA1AA-F178-4552-AA70-4C5CA440C061}"/>
              </a:ext>
            </a:extLst>
          </p:cNvPr>
          <p:cNvSpPr>
            <a:spLocks xmlns:a="http://schemas.openxmlformats.org/drawingml/2006/main" noGrp="1"/>
          </p:cNvSpPr>
          <p:nvPr/>
        </p:nvSpPr>
        <p:spPr>
          <a:xfrm xmlns:a="http://schemas.openxmlformats.org/drawingml/2006/main">
            <a:off x="666750" y="27051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8" name="">
            <a:extLst xmlns:a="http://schemas.openxmlformats.org/drawingml/2006/main">
              <a:ext uri="{FF2B5EF4-FFF2-40B4-BE49-F238E27FC236}">
                <a16:creationId xmlns:a16="http://schemas.microsoft.com/office/drawing/2014/main" id="{325F0A0A-E335-4EBD-831F-14CB341E734F}"/>
              </a:ext>
            </a:extLst>
          </p:cNvPr>
          <p:cNvSpPr>
            <a:spLocks xmlns:a="http://schemas.openxmlformats.org/drawingml/2006/main" noGrp="1"/>
          </p:cNvSpPr>
          <p:nvPr/>
        </p:nvSpPr>
        <p:spPr>
          <a:xfrm xmlns:a="http://schemas.openxmlformats.org/drawingml/2006/main">
            <a:off x="876300" y="2619375"/>
            <a:ext cx="514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0B1020"/>
                </a:solidFill>
                <a:latin typeface="Aptos"/>
                <a:ea typeface="Aptos"/>
                <a:cs typeface="Aptos"/>
              </a:defRPr>
            </a:pPr>
            <a:r>
              <a:rPr sz="1575" b="0">
                <a:solidFill>
                  <a:srgbClr val="0B1020"/>
                </a:solidFill>
                <a:latin typeface="Aptos"/>
                <a:ea typeface="Aptos"/>
                <a:cs typeface="Aptos"/>
              </a:rPr>
              <a:t>Proxy features summarized heteroatom, halogen, polarity, donor/acceptor, and topology signals.</a:t>
            </a:r>
          </a:p>
        </p:txBody>
      </p:sp>
      <p:sp>
        <p:nvSpPr>
          <p:cNvPr id="9" name="">
            <a:extLst xmlns:a="http://schemas.openxmlformats.org/drawingml/2006/main">
              <a:ext uri="{FF2B5EF4-FFF2-40B4-BE49-F238E27FC236}">
                <a16:creationId xmlns:a16="http://schemas.microsoft.com/office/drawing/2014/main" id="{B02F331D-085E-4BB3-B829-64642F4EA7A8}"/>
              </a:ext>
            </a:extLst>
          </p:cNvPr>
          <p:cNvSpPr>
            <a:spLocks xmlns:a="http://schemas.openxmlformats.org/drawingml/2006/main" noGrp="1"/>
          </p:cNvSpPr>
          <p:nvPr/>
        </p:nvSpPr>
        <p:spPr>
          <a:xfrm xmlns:a="http://schemas.openxmlformats.org/drawingml/2006/main">
            <a:off x="666750" y="32575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0" name="">
            <a:extLst xmlns:a="http://schemas.openxmlformats.org/drawingml/2006/main">
              <a:ext uri="{FF2B5EF4-FFF2-40B4-BE49-F238E27FC236}">
                <a16:creationId xmlns:a16="http://schemas.microsoft.com/office/drawing/2014/main" id="{1F2C112C-3C08-408A-9111-77B43FD89DC8}"/>
              </a:ext>
            </a:extLst>
          </p:cNvPr>
          <p:cNvSpPr>
            <a:spLocks xmlns:a="http://schemas.openxmlformats.org/drawingml/2006/main" noGrp="1"/>
          </p:cNvSpPr>
          <p:nvPr/>
        </p:nvSpPr>
        <p:spPr>
          <a:xfrm xmlns:a="http://schemas.openxmlformats.org/drawingml/2006/main">
            <a:off x="876300" y="3171825"/>
            <a:ext cx="514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0B1020"/>
                </a:solidFill>
                <a:latin typeface="Aptos"/>
                <a:ea typeface="Aptos"/>
                <a:cs typeface="Aptos"/>
              </a:defRPr>
            </a:pPr>
            <a:r>
              <a:rPr sz="1575" b="0">
                <a:solidFill>
                  <a:srgbClr val="0B1020"/>
                </a:solidFill>
                <a:latin typeface="Aptos"/>
                <a:ea typeface="Aptos"/>
                <a:cs typeface="Aptos"/>
              </a:rPr>
              <a:t>FNN recall improved from 0.8145 to 0.8399 in the reported feature-engineering comparison.</a:t>
            </a:r>
          </a:p>
        </p:txBody>
      </p:sp>
      <p:sp>
        <p:nvSpPr>
          <p:cNvPr id="11" name="">
            <a:extLst xmlns:a="http://schemas.openxmlformats.org/drawingml/2006/main">
              <a:ext uri="{FF2B5EF4-FFF2-40B4-BE49-F238E27FC236}">
                <a16:creationId xmlns:a16="http://schemas.microsoft.com/office/drawing/2014/main" id="{313FF557-EED1-4866-82E7-A7CD18D5E18E}"/>
              </a:ext>
            </a:extLst>
          </p:cNvPr>
          <p:cNvSpPr>
            <a:spLocks xmlns:a="http://schemas.openxmlformats.org/drawingml/2006/main" noGrp="1"/>
          </p:cNvSpPr>
          <p:nvPr/>
        </p:nvSpPr>
        <p:spPr>
          <a:xfrm xmlns:a="http://schemas.openxmlformats.org/drawingml/2006/main">
            <a:off x="666750" y="38100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2" name="">
            <a:extLst xmlns:a="http://schemas.openxmlformats.org/drawingml/2006/main">
              <a:ext uri="{FF2B5EF4-FFF2-40B4-BE49-F238E27FC236}">
                <a16:creationId xmlns:a16="http://schemas.microsoft.com/office/drawing/2014/main" id="{D1917D4B-7991-4CA2-815A-BD5DA5DFFB90}"/>
              </a:ext>
            </a:extLst>
          </p:cNvPr>
          <p:cNvSpPr>
            <a:spLocks xmlns:a="http://schemas.openxmlformats.org/drawingml/2006/main" noGrp="1"/>
          </p:cNvSpPr>
          <p:nvPr/>
        </p:nvSpPr>
        <p:spPr>
          <a:xfrm xmlns:a="http://schemas.openxmlformats.org/drawingml/2006/main">
            <a:off x="876300" y="3724275"/>
            <a:ext cx="514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0B1020"/>
                </a:solidFill>
                <a:latin typeface="Aptos"/>
                <a:ea typeface="Aptos"/>
                <a:cs typeface="Aptos"/>
              </a:defRPr>
            </a:pPr>
            <a:r>
              <a:rPr sz="1575" b="0">
                <a:solidFill>
                  <a:srgbClr val="0B1020"/>
                </a:solidFill>
                <a:latin typeface="Aptos"/>
                <a:ea typeface="Aptos"/>
                <a:cs typeface="Aptos"/>
              </a:rPr>
              <a:t>Proxy features are not true quantum descriptors.</a:t>
            </a:r>
          </a:p>
        </p:txBody>
      </p:sp>
      <p:sp>
        <p:nvSpPr>
          <p:cNvPr id="13" name="">
            <a:extLst xmlns:a="http://schemas.openxmlformats.org/drawingml/2006/main">
              <a:ext uri="{FF2B5EF4-FFF2-40B4-BE49-F238E27FC236}">
                <a16:creationId xmlns:a16="http://schemas.microsoft.com/office/drawing/2014/main" id="{7DDC0213-766A-49BE-9806-D6E193488441}"/>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4" name="">
            <a:extLst xmlns:a="http://schemas.openxmlformats.org/drawingml/2006/main">
              <a:ext uri="{FF2B5EF4-FFF2-40B4-BE49-F238E27FC236}">
                <a16:creationId xmlns:a16="http://schemas.microsoft.com/office/drawing/2014/main" id="{8766504D-735B-4DF7-8D4B-2B7C3035D5E9}"/>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Sources: reports/feature_engineering_summary.txt; results/tables/feature_engineering_model_results.csv</a:t>
            </a:r>
          </a:p>
        </p:txBody>
      </p:sp>
    </p:spTree>
    <p:extLst>
      <p:ext uri="{BB962C8B-B14F-4D97-AF65-F5344CB8AC3E}">
        <p14:creationId xmlns:p14="http://schemas.microsoft.com/office/powerpoint/2010/main" val="157229499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38BA3C-F7E1-4AE5-BC9B-7232B03445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E2B93B43-B808-4013-BB42-5C102D464779}"/>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8675BEB8-B6E0-4266-924F-A192A3B5A580}"/>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GENERALIZATION STRESS TEST</a:t>
            </a:r>
          </a:p>
        </p:txBody>
      </p:sp>
      <p:sp>
        <p:nvSpPr>
          <p:cNvPr id="4" name="">
            <a:extLst xmlns:a="http://schemas.openxmlformats.org/drawingml/2006/main">
              <a:ext uri="{FF2B5EF4-FFF2-40B4-BE49-F238E27FC236}">
                <a16:creationId xmlns:a16="http://schemas.microsoft.com/office/drawing/2014/main" id="{3CF9FE80-C552-4B31-9D28-B346F09DF181}"/>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Cross-environment validation revealed fragility.</a:t>
            </a:r>
          </a:p>
        </p:txBody>
      </p:sp>
      <p:sp>
        <p:nvSpPr>
          <p:cNvPr id="5" name="">
            <a:extLst xmlns:a="http://schemas.openxmlformats.org/drawingml/2006/main">
              <a:ext uri="{FF2B5EF4-FFF2-40B4-BE49-F238E27FC236}">
                <a16:creationId xmlns:a16="http://schemas.microsoft.com/office/drawing/2014/main" id="{88762BAE-0B70-4CC3-A0E3-95A81698BD9F}"/>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Models that looked strong in ordinary validation dropped under proxy descriptor-space shift.</a:t>
            </a:r>
          </a:p>
        </p:txBody>
      </p:sp>
      <p:sp>
        <p:nvSpPr>
          <p:cNvPr id="6" name="">
            <a:extLst xmlns:a="http://schemas.openxmlformats.org/drawingml/2006/main">
              <a:ext uri="{FF2B5EF4-FFF2-40B4-BE49-F238E27FC236}">
                <a16:creationId xmlns:a16="http://schemas.microsoft.com/office/drawing/2014/main" id="{7E863FB9-2BBE-4CB6-8D4B-1DFDDBEAD0B4}"/>
              </a:ext>
            </a:extLst>
          </p:cNvPr>
          <p:cNvSpPr>
            <a:spLocks xmlns:a="http://schemas.openxmlformats.org/drawingml/2006/main" noGrp="1"/>
          </p:cNvSpPr>
          <p:nvPr/>
        </p:nvSpPr>
        <p:spPr>
          <a:xfrm xmlns:a="http://schemas.openxmlformats.org/drawingml/2006/main">
            <a:off x="1047750" y="3000375"/>
            <a:ext cx="2238375"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B1020"/>
                </a:solidFill>
                <a:latin typeface="Aptos"/>
                <a:ea typeface="Aptos"/>
                <a:cs typeface="Aptos"/>
              </a:defRPr>
            </a:pPr>
            <a:r>
              <a:rPr sz="1200" b="0">
                <a:solidFill>
                  <a:srgbClr val="0B1020"/>
                </a:solidFill>
                <a:latin typeface="Aptos"/>
                <a:ea typeface="Aptos"/>
                <a:cs typeface="Aptos"/>
              </a:rPr>
              <a:t>Random Forest</a:t>
            </a:r>
          </a:p>
        </p:txBody>
      </p:sp>
      <p:sp>
        <p:nvSpPr>
          <p:cNvPr id="7" name="">
            <a:extLst xmlns:a="http://schemas.openxmlformats.org/drawingml/2006/main">
              <a:ext uri="{FF2B5EF4-FFF2-40B4-BE49-F238E27FC236}">
                <a16:creationId xmlns:a16="http://schemas.microsoft.com/office/drawing/2014/main" id="{E2971134-67C8-459E-A379-DFA7C0CF49C6}"/>
              </a:ext>
            </a:extLst>
          </p:cNvPr>
          <p:cNvSpPr>
            <a:spLocks xmlns:a="http://schemas.openxmlformats.org/drawingml/2006/main" noGrp="1"/>
          </p:cNvSpPr>
          <p:nvPr/>
        </p:nvSpPr>
        <p:spPr>
          <a:xfrm xmlns:a="http://schemas.openxmlformats.org/drawingml/2006/main">
            <a:off x="3429000" y="3057525"/>
            <a:ext cx="6381750" cy="333375"/>
          </a:xfrm>
          <a:prstGeom xmlns:a="http://schemas.openxmlformats.org/drawingml/2006/main" prst="rect">
            <a:avLst/>
          </a:prstGeom>
          <a:solidFill xmlns:a="http://schemas.openxmlformats.org/drawingml/2006/main">
            <a:srgbClr val="E7E2D8"/>
          </a:solidFill>
          <a:ln xmlns:a="http://schemas.openxmlformats.org/drawingml/2006/main" w="0">
            <a:solidFill>
              <a:srgbClr val="E7E2D8"/>
            </a:solidFill>
            <a:prstDash val="solid"/>
          </a:ln>
        </p:spPr>
      </p:sp>
      <p:sp>
        <p:nvSpPr>
          <p:cNvPr id="8" name="">
            <a:extLst xmlns:a="http://schemas.openxmlformats.org/drawingml/2006/main">
              <a:ext uri="{FF2B5EF4-FFF2-40B4-BE49-F238E27FC236}">
                <a16:creationId xmlns:a16="http://schemas.microsoft.com/office/drawing/2014/main" id="{8CBCED7B-988C-4C7E-9730-6B0B77F1E4C8}"/>
              </a:ext>
            </a:extLst>
          </p:cNvPr>
          <p:cNvSpPr>
            <a:spLocks xmlns:a="http://schemas.openxmlformats.org/drawingml/2006/main" noGrp="1"/>
          </p:cNvSpPr>
          <p:nvPr/>
        </p:nvSpPr>
        <p:spPr>
          <a:xfrm xmlns:a="http://schemas.openxmlformats.org/drawingml/2006/main">
            <a:off x="3429000" y="3057525"/>
            <a:ext cx="5373434" cy="333375"/>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9" name="">
            <a:extLst xmlns:a="http://schemas.openxmlformats.org/drawingml/2006/main">
              <a:ext uri="{FF2B5EF4-FFF2-40B4-BE49-F238E27FC236}">
                <a16:creationId xmlns:a16="http://schemas.microsoft.com/office/drawing/2014/main" id="{755187B7-1CA8-4EE3-B7ED-343346C2D241}"/>
              </a:ext>
            </a:extLst>
          </p:cNvPr>
          <p:cNvSpPr>
            <a:spLocks xmlns:a="http://schemas.openxmlformats.org/drawingml/2006/main" noGrp="1"/>
          </p:cNvSpPr>
          <p:nvPr/>
        </p:nvSpPr>
        <p:spPr>
          <a:xfrm xmlns:a="http://schemas.openxmlformats.org/drawingml/2006/main">
            <a:off x="9906000" y="3000375"/>
            <a:ext cx="666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0B1020"/>
                </a:solidFill>
                <a:latin typeface="Aptos"/>
                <a:ea typeface="Aptos"/>
                <a:cs typeface="Aptos"/>
              </a:defRPr>
            </a:pPr>
            <a:r>
              <a:rPr sz="1125" b="1">
                <a:solidFill>
                  <a:srgbClr val="0B1020"/>
                </a:solidFill>
                <a:latin typeface="Aptos"/>
                <a:ea typeface="Aptos"/>
                <a:cs typeface="Aptos"/>
              </a:rPr>
              <a:t>0.4210</a:t>
            </a:r>
          </a:p>
        </p:txBody>
      </p:sp>
      <p:sp>
        <p:nvSpPr>
          <p:cNvPr id="10" name="">
            <a:extLst xmlns:a="http://schemas.openxmlformats.org/drawingml/2006/main">
              <a:ext uri="{FF2B5EF4-FFF2-40B4-BE49-F238E27FC236}">
                <a16:creationId xmlns:a16="http://schemas.microsoft.com/office/drawing/2014/main" id="{5313CE7D-406E-4914-ABDF-AE7325664F89}"/>
              </a:ext>
            </a:extLst>
          </p:cNvPr>
          <p:cNvSpPr>
            <a:spLocks xmlns:a="http://schemas.openxmlformats.org/drawingml/2006/main" noGrp="1"/>
          </p:cNvSpPr>
          <p:nvPr/>
        </p:nvSpPr>
        <p:spPr>
          <a:xfrm xmlns:a="http://schemas.openxmlformats.org/drawingml/2006/main">
            <a:off x="1047750" y="3619500"/>
            <a:ext cx="2238375"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B1020"/>
                </a:solidFill>
                <a:latin typeface="Aptos"/>
                <a:ea typeface="Aptos"/>
                <a:cs typeface="Aptos"/>
              </a:defRPr>
            </a:pPr>
            <a:r>
              <a:rPr sz="1200" b="0">
                <a:solidFill>
                  <a:srgbClr val="0B1020"/>
                </a:solidFill>
                <a:latin typeface="Aptos"/>
                <a:ea typeface="Aptos"/>
                <a:cs typeface="Aptos"/>
              </a:rPr>
              <a:t>Logistic Regression</a:t>
            </a:r>
          </a:p>
        </p:txBody>
      </p:sp>
      <p:sp>
        <p:nvSpPr>
          <p:cNvPr id="11" name="">
            <a:extLst xmlns:a="http://schemas.openxmlformats.org/drawingml/2006/main">
              <a:ext uri="{FF2B5EF4-FFF2-40B4-BE49-F238E27FC236}">
                <a16:creationId xmlns:a16="http://schemas.microsoft.com/office/drawing/2014/main" id="{27295DF9-7F4E-400E-8CF3-1DDCB2375DC7}"/>
              </a:ext>
            </a:extLst>
          </p:cNvPr>
          <p:cNvSpPr>
            <a:spLocks xmlns:a="http://schemas.openxmlformats.org/drawingml/2006/main" noGrp="1"/>
          </p:cNvSpPr>
          <p:nvPr/>
        </p:nvSpPr>
        <p:spPr>
          <a:xfrm xmlns:a="http://schemas.openxmlformats.org/drawingml/2006/main">
            <a:off x="3429000" y="3676650"/>
            <a:ext cx="6381750" cy="333375"/>
          </a:xfrm>
          <a:prstGeom xmlns:a="http://schemas.openxmlformats.org/drawingml/2006/main" prst="rect">
            <a:avLst/>
          </a:prstGeom>
          <a:solidFill xmlns:a="http://schemas.openxmlformats.org/drawingml/2006/main">
            <a:srgbClr val="E7E2D8"/>
          </a:solidFill>
          <a:ln xmlns:a="http://schemas.openxmlformats.org/drawingml/2006/main" w="0">
            <a:solidFill>
              <a:srgbClr val="E7E2D8"/>
            </a:solidFill>
            <a:prstDash val="solid"/>
          </a:ln>
        </p:spPr>
      </p:sp>
      <p:sp>
        <p:nvSpPr>
          <p:cNvPr id="12" name="">
            <a:extLst xmlns:a="http://schemas.openxmlformats.org/drawingml/2006/main">
              <a:ext uri="{FF2B5EF4-FFF2-40B4-BE49-F238E27FC236}">
                <a16:creationId xmlns:a16="http://schemas.microsoft.com/office/drawing/2014/main" id="{5AA3B5D9-963B-4111-A5F8-09883AD4E0AB}"/>
              </a:ext>
            </a:extLst>
          </p:cNvPr>
          <p:cNvSpPr>
            <a:spLocks xmlns:a="http://schemas.openxmlformats.org/drawingml/2006/main" noGrp="1"/>
          </p:cNvSpPr>
          <p:nvPr/>
        </p:nvSpPr>
        <p:spPr>
          <a:xfrm xmlns:a="http://schemas.openxmlformats.org/drawingml/2006/main">
            <a:off x="3429000" y="3676650"/>
            <a:ext cx="4756956" cy="333375"/>
          </a:xfrm>
          <a:prstGeom xmlns:a="http://schemas.openxmlformats.org/drawingml/2006/main" prst="rect">
            <a:avLst/>
          </a:prstGeom>
          <a:solidFill xmlns:a="http://schemas.openxmlformats.org/drawingml/2006/main">
            <a:srgbClr val="2D6CDF"/>
          </a:solidFill>
          <a:ln xmlns:a="http://schemas.openxmlformats.org/drawingml/2006/main" w="0">
            <a:solidFill>
              <a:srgbClr val="2D6CDF"/>
            </a:solidFill>
            <a:prstDash val="solid"/>
          </a:ln>
        </p:spPr>
      </p:sp>
      <p:sp>
        <p:nvSpPr>
          <p:cNvPr id="13" name="">
            <a:extLst xmlns:a="http://schemas.openxmlformats.org/drawingml/2006/main">
              <a:ext uri="{FF2B5EF4-FFF2-40B4-BE49-F238E27FC236}">
                <a16:creationId xmlns:a16="http://schemas.microsoft.com/office/drawing/2014/main" id="{5DFF5BCB-3760-40C7-915D-2B4FF25794D3}"/>
              </a:ext>
            </a:extLst>
          </p:cNvPr>
          <p:cNvSpPr>
            <a:spLocks xmlns:a="http://schemas.openxmlformats.org/drawingml/2006/main" noGrp="1"/>
          </p:cNvSpPr>
          <p:nvPr/>
        </p:nvSpPr>
        <p:spPr>
          <a:xfrm xmlns:a="http://schemas.openxmlformats.org/drawingml/2006/main">
            <a:off x="9906000" y="3619500"/>
            <a:ext cx="666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0B1020"/>
                </a:solidFill>
                <a:latin typeface="Aptos"/>
                <a:ea typeface="Aptos"/>
                <a:cs typeface="Aptos"/>
              </a:defRPr>
            </a:pPr>
            <a:r>
              <a:rPr sz="1125" b="1">
                <a:solidFill>
                  <a:srgbClr val="0B1020"/>
                </a:solidFill>
                <a:latin typeface="Aptos"/>
                <a:ea typeface="Aptos"/>
                <a:cs typeface="Aptos"/>
              </a:rPr>
              <a:t>0.3727</a:t>
            </a:r>
          </a:p>
        </p:txBody>
      </p:sp>
      <p:sp>
        <p:nvSpPr>
          <p:cNvPr id="14" name="">
            <a:extLst xmlns:a="http://schemas.openxmlformats.org/drawingml/2006/main">
              <a:ext uri="{FF2B5EF4-FFF2-40B4-BE49-F238E27FC236}">
                <a16:creationId xmlns:a16="http://schemas.microsoft.com/office/drawing/2014/main" id="{56E7FA7A-81F9-4250-AA4B-2F5D03C7AFC6}"/>
              </a:ext>
            </a:extLst>
          </p:cNvPr>
          <p:cNvSpPr>
            <a:spLocks xmlns:a="http://schemas.openxmlformats.org/drawingml/2006/main" noGrp="1"/>
          </p:cNvSpPr>
          <p:nvPr/>
        </p:nvSpPr>
        <p:spPr>
          <a:xfrm xmlns:a="http://schemas.openxmlformats.org/drawingml/2006/main">
            <a:off x="1047750" y="4238625"/>
            <a:ext cx="2238375"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B1020"/>
                </a:solidFill>
                <a:latin typeface="Aptos"/>
                <a:ea typeface="Aptos"/>
                <a:cs typeface="Aptos"/>
              </a:defRPr>
            </a:pPr>
            <a:r>
              <a:rPr sz="1200" b="0">
                <a:solidFill>
                  <a:srgbClr val="0B1020"/>
                </a:solidFill>
                <a:latin typeface="Aptos"/>
                <a:ea typeface="Aptos"/>
                <a:cs typeface="Aptos"/>
              </a:rPr>
              <a:t>Descriptor graph</a:t>
            </a:r>
          </a:p>
        </p:txBody>
      </p:sp>
      <p:sp>
        <p:nvSpPr>
          <p:cNvPr id="15" name="">
            <a:extLst xmlns:a="http://schemas.openxmlformats.org/drawingml/2006/main">
              <a:ext uri="{FF2B5EF4-FFF2-40B4-BE49-F238E27FC236}">
                <a16:creationId xmlns:a16="http://schemas.microsoft.com/office/drawing/2014/main" id="{528E49D8-26E2-4721-926B-E74C838A0413}"/>
              </a:ext>
            </a:extLst>
          </p:cNvPr>
          <p:cNvSpPr>
            <a:spLocks xmlns:a="http://schemas.openxmlformats.org/drawingml/2006/main" noGrp="1"/>
          </p:cNvSpPr>
          <p:nvPr/>
        </p:nvSpPr>
        <p:spPr>
          <a:xfrm xmlns:a="http://schemas.openxmlformats.org/drawingml/2006/main">
            <a:off x="3429000" y="4295775"/>
            <a:ext cx="6381750" cy="333375"/>
          </a:xfrm>
          <a:prstGeom xmlns:a="http://schemas.openxmlformats.org/drawingml/2006/main" prst="rect">
            <a:avLst/>
          </a:prstGeom>
          <a:solidFill xmlns:a="http://schemas.openxmlformats.org/drawingml/2006/main">
            <a:srgbClr val="E7E2D8"/>
          </a:solidFill>
          <a:ln xmlns:a="http://schemas.openxmlformats.org/drawingml/2006/main" w="0">
            <a:solidFill>
              <a:srgbClr val="E7E2D8"/>
            </a:solidFill>
            <a:prstDash val="solid"/>
          </a:ln>
        </p:spPr>
      </p:sp>
      <p:sp>
        <p:nvSpPr>
          <p:cNvPr id="16" name="">
            <a:extLst xmlns:a="http://schemas.openxmlformats.org/drawingml/2006/main">
              <a:ext uri="{FF2B5EF4-FFF2-40B4-BE49-F238E27FC236}">
                <a16:creationId xmlns:a16="http://schemas.microsoft.com/office/drawing/2014/main" id="{C6826430-5E9F-4252-A822-6A13F9D2CBEE}"/>
              </a:ext>
            </a:extLst>
          </p:cNvPr>
          <p:cNvSpPr>
            <a:spLocks xmlns:a="http://schemas.openxmlformats.org/drawingml/2006/main" noGrp="1"/>
          </p:cNvSpPr>
          <p:nvPr/>
        </p:nvSpPr>
        <p:spPr>
          <a:xfrm xmlns:a="http://schemas.openxmlformats.org/drawingml/2006/main">
            <a:off x="3429000" y="4295775"/>
            <a:ext cx="4707179" cy="333375"/>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7" name="">
            <a:extLst xmlns:a="http://schemas.openxmlformats.org/drawingml/2006/main">
              <a:ext uri="{FF2B5EF4-FFF2-40B4-BE49-F238E27FC236}">
                <a16:creationId xmlns:a16="http://schemas.microsoft.com/office/drawing/2014/main" id="{E6B2F217-BD1E-4AD9-8D24-CBEE21E25320}"/>
              </a:ext>
            </a:extLst>
          </p:cNvPr>
          <p:cNvSpPr>
            <a:spLocks xmlns:a="http://schemas.openxmlformats.org/drawingml/2006/main" noGrp="1"/>
          </p:cNvSpPr>
          <p:nvPr/>
        </p:nvSpPr>
        <p:spPr>
          <a:xfrm xmlns:a="http://schemas.openxmlformats.org/drawingml/2006/main">
            <a:off x="9906000" y="4238625"/>
            <a:ext cx="666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0B1020"/>
                </a:solidFill>
                <a:latin typeface="Aptos"/>
                <a:ea typeface="Aptos"/>
                <a:cs typeface="Aptos"/>
              </a:defRPr>
            </a:pPr>
            <a:r>
              <a:rPr sz="1125" b="1">
                <a:solidFill>
                  <a:srgbClr val="0B1020"/>
                </a:solidFill>
                <a:latin typeface="Aptos"/>
                <a:ea typeface="Aptos"/>
                <a:cs typeface="Aptos"/>
              </a:rPr>
              <a:t>0.3688</a:t>
            </a:r>
          </a:p>
        </p:txBody>
      </p:sp>
      <p:sp>
        <p:nvSpPr>
          <p:cNvPr id="18" name="">
            <a:extLst xmlns:a="http://schemas.openxmlformats.org/drawingml/2006/main">
              <a:ext uri="{FF2B5EF4-FFF2-40B4-BE49-F238E27FC236}">
                <a16:creationId xmlns:a16="http://schemas.microsoft.com/office/drawing/2014/main" id="{F9A07A60-4FC6-4BBF-A5B5-179172852425}"/>
              </a:ext>
            </a:extLst>
          </p:cNvPr>
          <p:cNvSpPr>
            <a:spLocks xmlns:a="http://schemas.openxmlformats.org/drawingml/2006/main" noGrp="1"/>
          </p:cNvSpPr>
          <p:nvPr/>
        </p:nvSpPr>
        <p:spPr>
          <a:xfrm xmlns:a="http://schemas.openxmlformats.org/drawingml/2006/main">
            <a:off x="1047750" y="4857750"/>
            <a:ext cx="2238375"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200" b="0">
                <a:solidFill>
                  <a:srgbClr val="0B1020"/>
                </a:solidFill>
                <a:latin typeface="Aptos"/>
                <a:ea typeface="Aptos"/>
                <a:cs typeface="Aptos"/>
              </a:defRPr>
            </a:pPr>
            <a:r>
              <a:rPr sz="1200" b="0">
                <a:solidFill>
                  <a:srgbClr val="0B1020"/>
                </a:solidFill>
                <a:latin typeface="Aptos"/>
                <a:ea typeface="Aptos"/>
                <a:cs typeface="Aptos"/>
              </a:rPr>
              <a:t>Feedforward NN</a:t>
            </a:r>
          </a:p>
        </p:txBody>
      </p:sp>
      <p:sp>
        <p:nvSpPr>
          <p:cNvPr id="19" name="">
            <a:extLst xmlns:a="http://schemas.openxmlformats.org/drawingml/2006/main">
              <a:ext uri="{FF2B5EF4-FFF2-40B4-BE49-F238E27FC236}">
                <a16:creationId xmlns:a16="http://schemas.microsoft.com/office/drawing/2014/main" id="{9C6CFA25-CCB2-49ED-B8EB-B49F6AEB9D76}"/>
              </a:ext>
            </a:extLst>
          </p:cNvPr>
          <p:cNvSpPr>
            <a:spLocks xmlns:a="http://schemas.openxmlformats.org/drawingml/2006/main" noGrp="1"/>
          </p:cNvSpPr>
          <p:nvPr/>
        </p:nvSpPr>
        <p:spPr>
          <a:xfrm xmlns:a="http://schemas.openxmlformats.org/drawingml/2006/main">
            <a:off x="3429000" y="4914900"/>
            <a:ext cx="6381750" cy="333375"/>
          </a:xfrm>
          <a:prstGeom xmlns:a="http://schemas.openxmlformats.org/drawingml/2006/main" prst="rect">
            <a:avLst/>
          </a:prstGeom>
          <a:solidFill xmlns:a="http://schemas.openxmlformats.org/drawingml/2006/main">
            <a:srgbClr val="E7E2D8"/>
          </a:solidFill>
          <a:ln xmlns:a="http://schemas.openxmlformats.org/drawingml/2006/main" w="0">
            <a:solidFill>
              <a:srgbClr val="E7E2D8"/>
            </a:solidFill>
            <a:prstDash val="solid"/>
          </a:ln>
        </p:spPr>
      </p:sp>
      <p:sp>
        <p:nvSpPr>
          <p:cNvPr id="20" name="">
            <a:extLst xmlns:a="http://schemas.openxmlformats.org/drawingml/2006/main">
              <a:ext uri="{FF2B5EF4-FFF2-40B4-BE49-F238E27FC236}">
                <a16:creationId xmlns:a16="http://schemas.microsoft.com/office/drawing/2014/main" id="{21055BFA-3E7D-4972-B1F9-A2871361E2A9}"/>
              </a:ext>
            </a:extLst>
          </p:cNvPr>
          <p:cNvSpPr>
            <a:spLocks xmlns:a="http://schemas.openxmlformats.org/drawingml/2006/main" noGrp="1"/>
          </p:cNvSpPr>
          <p:nvPr/>
        </p:nvSpPr>
        <p:spPr>
          <a:xfrm xmlns:a="http://schemas.openxmlformats.org/drawingml/2006/main">
            <a:off x="3429000" y="4914900"/>
            <a:ext cx="4508068" cy="333375"/>
          </a:xfrm>
          <a:prstGeom xmlns:a="http://schemas.openxmlformats.org/drawingml/2006/main" prst="rect">
            <a:avLst/>
          </a:prstGeom>
          <a:solidFill xmlns:a="http://schemas.openxmlformats.org/drawingml/2006/main">
            <a:srgbClr val="B54747"/>
          </a:solidFill>
          <a:ln xmlns:a="http://schemas.openxmlformats.org/drawingml/2006/main" w="0">
            <a:solidFill>
              <a:srgbClr val="B54747"/>
            </a:solidFill>
            <a:prstDash val="solid"/>
          </a:ln>
        </p:spPr>
      </p:sp>
      <p:sp>
        <p:nvSpPr>
          <p:cNvPr id="21" name="">
            <a:extLst xmlns:a="http://schemas.openxmlformats.org/drawingml/2006/main">
              <a:ext uri="{FF2B5EF4-FFF2-40B4-BE49-F238E27FC236}">
                <a16:creationId xmlns:a16="http://schemas.microsoft.com/office/drawing/2014/main" id="{F8C8279E-45A6-4D21-9DA9-A84D5A437295}"/>
              </a:ext>
            </a:extLst>
          </p:cNvPr>
          <p:cNvSpPr>
            <a:spLocks xmlns:a="http://schemas.openxmlformats.org/drawingml/2006/main" noGrp="1"/>
          </p:cNvSpPr>
          <p:nvPr/>
        </p:nvSpPr>
        <p:spPr>
          <a:xfrm xmlns:a="http://schemas.openxmlformats.org/drawingml/2006/main">
            <a:off x="9906000" y="4857750"/>
            <a:ext cx="666750" cy="4476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r">
              <a:defRPr sz="1125" b="1">
                <a:solidFill>
                  <a:srgbClr val="0B1020"/>
                </a:solidFill>
                <a:latin typeface="Aptos"/>
                <a:ea typeface="Aptos"/>
                <a:cs typeface="Aptos"/>
              </a:defRPr>
            </a:pPr>
            <a:r>
              <a:rPr sz="1125" b="1">
                <a:solidFill>
                  <a:srgbClr val="0B1020"/>
                </a:solidFill>
                <a:latin typeface="Aptos"/>
                <a:ea typeface="Aptos"/>
                <a:cs typeface="Aptos"/>
              </a:rPr>
              <a:t>0.3532</a:t>
            </a:r>
          </a:p>
        </p:txBody>
      </p:sp>
      <p:sp>
        <p:nvSpPr>
          <p:cNvPr id="22" name="">
            <a:extLst xmlns:a="http://schemas.openxmlformats.org/drawingml/2006/main">
              <a:ext uri="{FF2B5EF4-FFF2-40B4-BE49-F238E27FC236}">
                <a16:creationId xmlns:a16="http://schemas.microsoft.com/office/drawing/2014/main" id="{341A0A05-4665-4C02-9676-EFAB7EA42443}"/>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23" name="">
            <a:extLst xmlns:a="http://schemas.openxmlformats.org/drawingml/2006/main">
              <a:ext uri="{FF2B5EF4-FFF2-40B4-BE49-F238E27FC236}">
                <a16:creationId xmlns:a16="http://schemas.microsoft.com/office/drawing/2014/main" id="{5E69DBA4-CE4C-4939-94F3-96CE672AF680}"/>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reports/cross_environment_validation.md</a:t>
            </a:r>
          </a:p>
        </p:txBody>
      </p:sp>
    </p:spTree>
    <p:extLst>
      <p:ext uri="{BB962C8B-B14F-4D97-AF65-F5344CB8AC3E}">
        <p14:creationId xmlns:p14="http://schemas.microsoft.com/office/powerpoint/2010/main" val="4549088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EA1460-BDF3-4C1E-8EDC-884FDC8848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FDAD5518-A08B-49F1-B609-04B87F9F93D2}"/>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A1566889-C70F-49D2-BF5B-7F122FC996A3}"/>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CALIBRATION AND UNCERTAINTY</a:t>
            </a:r>
          </a:p>
        </p:txBody>
      </p:sp>
      <p:sp>
        <p:nvSpPr>
          <p:cNvPr id="4" name="">
            <a:extLst xmlns:a="http://schemas.openxmlformats.org/drawingml/2006/main">
              <a:ext uri="{FF2B5EF4-FFF2-40B4-BE49-F238E27FC236}">
                <a16:creationId xmlns:a16="http://schemas.microsoft.com/office/drawing/2014/main" id="{99E8CAA8-346A-4B70-915D-9C877B895612}"/>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question became: can the model know when it may be wrong?</a:t>
            </a:r>
          </a:p>
        </p:txBody>
      </p:sp>
      <p:sp>
        <p:nvSpPr>
          <p:cNvPr id="5" name="">
            <a:extLst xmlns:a="http://schemas.openxmlformats.org/drawingml/2006/main">
              <a:ext uri="{FF2B5EF4-FFF2-40B4-BE49-F238E27FC236}">
                <a16:creationId xmlns:a16="http://schemas.microsoft.com/office/drawing/2014/main" id="{72000003-26D2-46F8-915F-034F447EC949}"/>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Uncertainty matters most when predictions enter scientific or environmental decisions.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25e662e529b4a6d"/>
          <a:stretch xmlns:a="http://schemas.openxmlformats.org/drawingml/2006/main"/>
        </p:blipFill>
        <p:spPr>
          <a:xfrm xmlns:a="http://schemas.openxmlformats.org/drawingml/2006/main">
            <a:off x="6543675" y="1666875"/>
            <a:ext cx="4343400" cy="3619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F5FFB1B-2C07-4A64-B5F7-B2B335221134}"/>
              </a:ext>
            </a:extLst>
          </p:cNvPr>
          <p:cNvSpPr>
            <a:spLocks xmlns:a="http://schemas.openxmlformats.org/drawingml/2006/main" noGrp="1"/>
          </p:cNvSpPr>
          <p:nvPr/>
        </p:nvSpPr>
        <p:spPr>
          <a:xfrm xmlns:a="http://schemas.openxmlformats.org/drawingml/2006/main">
            <a:off x="876300" y="3000375"/>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F7D5C"/>
                </a:solidFill>
                <a:latin typeface="Aptos Display"/>
                <a:ea typeface="Aptos Display"/>
                <a:cs typeface="Aptos Display"/>
              </a:defRPr>
            </a:pPr>
            <a:r>
              <a:rPr sz="3150" b="1">
                <a:solidFill>
                  <a:srgbClr val="2F7D5C"/>
                </a:solidFill>
                <a:latin typeface="Aptos Display"/>
                <a:ea typeface="Aptos Display"/>
                <a:cs typeface="Aptos Display"/>
              </a:rPr>
              <a:t>0.0950</a:t>
            </a:r>
          </a:p>
        </p:txBody>
      </p:sp>
      <p:sp>
        <p:nvSpPr>
          <p:cNvPr id="8" name="">
            <a:extLst xmlns:a="http://schemas.openxmlformats.org/drawingml/2006/main">
              <a:ext uri="{FF2B5EF4-FFF2-40B4-BE49-F238E27FC236}">
                <a16:creationId xmlns:a16="http://schemas.microsoft.com/office/drawing/2014/main" id="{13E1A4DB-31A1-4952-8501-54C558ED5811}"/>
              </a:ext>
            </a:extLst>
          </p:cNvPr>
          <p:cNvSpPr>
            <a:spLocks xmlns:a="http://schemas.openxmlformats.org/drawingml/2006/main" noGrp="1"/>
          </p:cNvSpPr>
          <p:nvPr/>
        </p:nvSpPr>
        <p:spPr>
          <a:xfrm xmlns:a="http://schemas.openxmlformats.org/drawingml/2006/main">
            <a:off x="876300" y="3552825"/>
            <a:ext cx="238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RF full-enhanced Brier</a:t>
            </a:r>
          </a:p>
        </p:txBody>
      </p:sp>
      <p:sp>
        <p:nvSpPr>
          <p:cNvPr id="9" name="">
            <a:extLst xmlns:a="http://schemas.openxmlformats.org/drawingml/2006/main">
              <a:ext uri="{FF2B5EF4-FFF2-40B4-BE49-F238E27FC236}">
                <a16:creationId xmlns:a16="http://schemas.microsoft.com/office/drawing/2014/main" id="{406CF4BB-80D4-486E-935F-4ABB81F772DB}"/>
              </a:ext>
            </a:extLst>
          </p:cNvPr>
          <p:cNvSpPr>
            <a:spLocks xmlns:a="http://schemas.openxmlformats.org/drawingml/2006/main" noGrp="1"/>
          </p:cNvSpPr>
          <p:nvPr/>
        </p:nvSpPr>
        <p:spPr>
          <a:xfrm xmlns:a="http://schemas.openxmlformats.org/drawingml/2006/main">
            <a:off x="3524250" y="3000375"/>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D6CDF"/>
                </a:solidFill>
                <a:latin typeface="Aptos Display"/>
                <a:ea typeface="Aptos Display"/>
                <a:cs typeface="Aptos Display"/>
              </a:defRPr>
            </a:pPr>
            <a:r>
              <a:rPr sz="3150" b="1">
                <a:solidFill>
                  <a:srgbClr val="2D6CDF"/>
                </a:solidFill>
                <a:latin typeface="Aptos Display"/>
                <a:ea typeface="Aptos Display"/>
                <a:cs typeface="Aptos Display"/>
              </a:rPr>
              <a:t>0.0297</a:t>
            </a:r>
          </a:p>
        </p:txBody>
      </p:sp>
      <p:sp>
        <p:nvSpPr>
          <p:cNvPr id="10" name="">
            <a:extLst xmlns:a="http://schemas.openxmlformats.org/drawingml/2006/main">
              <a:ext uri="{FF2B5EF4-FFF2-40B4-BE49-F238E27FC236}">
                <a16:creationId xmlns:a16="http://schemas.microsoft.com/office/drawing/2014/main" id="{A62B4F8F-1B98-4F5B-933C-C9C414357A7E}"/>
              </a:ext>
            </a:extLst>
          </p:cNvPr>
          <p:cNvSpPr>
            <a:spLocks xmlns:a="http://schemas.openxmlformats.org/drawingml/2006/main" noGrp="1"/>
          </p:cNvSpPr>
          <p:nvPr/>
        </p:nvSpPr>
        <p:spPr>
          <a:xfrm xmlns:a="http://schemas.openxmlformats.org/drawingml/2006/main">
            <a:off x="3524250" y="3552825"/>
            <a:ext cx="238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RF top-ranked ECE</a:t>
            </a:r>
          </a:p>
        </p:txBody>
      </p:sp>
      <p:sp>
        <p:nvSpPr>
          <p:cNvPr id="11" name="">
            <a:extLst xmlns:a="http://schemas.openxmlformats.org/drawingml/2006/main">
              <a:ext uri="{FF2B5EF4-FFF2-40B4-BE49-F238E27FC236}">
                <a16:creationId xmlns:a16="http://schemas.microsoft.com/office/drawing/2014/main" id="{BA2353FF-848F-4B30-A03C-79C5FC9C2C43}"/>
              </a:ext>
            </a:extLst>
          </p:cNvPr>
          <p:cNvSpPr>
            <a:spLocks xmlns:a="http://schemas.openxmlformats.org/drawingml/2006/main" noGrp="1"/>
          </p:cNvSpPr>
          <p:nvPr/>
        </p:nvSpPr>
        <p:spPr>
          <a:xfrm xmlns:a="http://schemas.openxmlformats.org/drawingml/2006/main">
            <a:off x="904875" y="48958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2" name="">
            <a:extLst xmlns:a="http://schemas.openxmlformats.org/drawingml/2006/main">
              <a:ext uri="{FF2B5EF4-FFF2-40B4-BE49-F238E27FC236}">
                <a16:creationId xmlns:a16="http://schemas.microsoft.com/office/drawing/2014/main" id="{F464669C-29C8-4CE8-9D2B-F80B445FEFCA}"/>
              </a:ext>
            </a:extLst>
          </p:cNvPr>
          <p:cNvSpPr>
            <a:spLocks xmlns:a="http://schemas.openxmlformats.org/drawingml/2006/main" noGrp="1"/>
          </p:cNvSpPr>
          <p:nvPr/>
        </p:nvSpPr>
        <p:spPr>
          <a:xfrm xmlns:a="http://schemas.openxmlformats.org/drawingml/2006/main">
            <a:off x="1114425" y="4810125"/>
            <a:ext cx="4953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Overconfidence under shift became a key risk.</a:t>
            </a:r>
          </a:p>
        </p:txBody>
      </p:sp>
      <p:sp>
        <p:nvSpPr>
          <p:cNvPr id="13" name="">
            <a:extLst xmlns:a="http://schemas.openxmlformats.org/drawingml/2006/main">
              <a:ext uri="{FF2B5EF4-FFF2-40B4-BE49-F238E27FC236}">
                <a16:creationId xmlns:a16="http://schemas.microsoft.com/office/drawing/2014/main" id="{19309802-BF04-47B7-A7EB-425883C952F2}"/>
              </a:ext>
            </a:extLst>
          </p:cNvPr>
          <p:cNvSpPr>
            <a:spLocks xmlns:a="http://schemas.openxmlformats.org/drawingml/2006/main" noGrp="1"/>
          </p:cNvSpPr>
          <p:nvPr/>
        </p:nvSpPr>
        <p:spPr>
          <a:xfrm xmlns:a="http://schemas.openxmlformats.org/drawingml/2006/main">
            <a:off x="904875" y="53149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4" name="">
            <a:extLst xmlns:a="http://schemas.openxmlformats.org/drawingml/2006/main">
              <a:ext uri="{FF2B5EF4-FFF2-40B4-BE49-F238E27FC236}">
                <a16:creationId xmlns:a16="http://schemas.microsoft.com/office/drawing/2014/main" id="{18CCB25A-E6F8-4E24-A402-FDBA709F1D07}"/>
              </a:ext>
            </a:extLst>
          </p:cNvPr>
          <p:cNvSpPr>
            <a:spLocks xmlns:a="http://schemas.openxmlformats.org/drawingml/2006/main" noGrp="1"/>
          </p:cNvSpPr>
          <p:nvPr/>
        </p:nvSpPr>
        <p:spPr>
          <a:xfrm xmlns:a="http://schemas.openxmlformats.org/drawingml/2006/main">
            <a:off x="1114425" y="5229225"/>
            <a:ext cx="4953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Selective prediction tested whether confidence filtering improved accuracy.</a:t>
            </a:r>
          </a:p>
        </p:txBody>
      </p:sp>
      <p:sp>
        <p:nvSpPr>
          <p:cNvPr id="15" name="">
            <a:extLst xmlns:a="http://schemas.openxmlformats.org/drawingml/2006/main">
              <a:ext uri="{FF2B5EF4-FFF2-40B4-BE49-F238E27FC236}">
                <a16:creationId xmlns:a16="http://schemas.microsoft.com/office/drawing/2014/main" id="{2BAFDA0F-34C8-49C3-8E5D-264A2E6D322A}"/>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6" name="">
            <a:extLst xmlns:a="http://schemas.openxmlformats.org/drawingml/2006/main">
              <a:ext uri="{FF2B5EF4-FFF2-40B4-BE49-F238E27FC236}">
                <a16:creationId xmlns:a16="http://schemas.microsoft.com/office/drawing/2014/main" id="{E05AEAE7-76A5-4FBC-A3DB-8E111F9C98AC}"/>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reports/uncertainty_reliability_summary.txt</a:t>
            </a:r>
          </a:p>
        </p:txBody>
      </p:sp>
    </p:spTree>
    <p:extLst>
      <p:ext uri="{BB962C8B-B14F-4D97-AF65-F5344CB8AC3E}">
        <p14:creationId xmlns:p14="http://schemas.microsoft.com/office/powerpoint/2010/main" val="173769427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1A4DD2-DD58-4019-9ABD-0A837077AE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AC586C0D-ACBB-4C0F-9F30-C48D002493BF}"/>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003285F9-D90E-4F98-BBDF-6354BC85409B}"/>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QUANTUM PRIMER</a:t>
            </a:r>
          </a:p>
        </p:txBody>
      </p:sp>
      <p:sp>
        <p:nvSpPr>
          <p:cNvPr id="4" name="">
            <a:extLst xmlns:a="http://schemas.openxmlformats.org/drawingml/2006/main">
              <a:ext uri="{FF2B5EF4-FFF2-40B4-BE49-F238E27FC236}">
                <a16:creationId xmlns:a16="http://schemas.microsoft.com/office/drawing/2014/main" id="{817C11EA-C335-4403-AD9E-3ACD971A67BD}"/>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Start with the simplest distinction: states versus amplitudes.</a:t>
            </a:r>
          </a:p>
        </p:txBody>
      </p:sp>
      <p:sp>
        <p:nvSpPr>
          <p:cNvPr id="5" name="">
            <a:extLst xmlns:a="http://schemas.openxmlformats.org/drawingml/2006/main">
              <a:ext uri="{FF2B5EF4-FFF2-40B4-BE49-F238E27FC236}">
                <a16:creationId xmlns:a16="http://schemas.microsoft.com/office/drawing/2014/main" id="{EA61892B-7B96-47A8-8FAC-0ED994CBCFA1}"/>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Classical computation can represent probabilities, but quantum computation physically evolves probability amplitudes.</a:t>
            </a:r>
          </a:p>
        </p:txBody>
      </p:sp>
      <p:sp>
        <p:nvSpPr>
          <p:cNvPr id="6" name="">
            <a:extLst xmlns:a="http://schemas.openxmlformats.org/drawingml/2006/main">
              <a:ext uri="{FF2B5EF4-FFF2-40B4-BE49-F238E27FC236}">
                <a16:creationId xmlns:a16="http://schemas.microsoft.com/office/drawing/2014/main" id="{249F22D1-9C99-4718-B164-65128D1F9390}"/>
              </a:ext>
            </a:extLst>
          </p:cNvPr>
          <p:cNvSpPr>
            <a:spLocks xmlns:a="http://schemas.openxmlformats.org/drawingml/2006/main" noGrp="1"/>
          </p:cNvSpPr>
          <p:nvPr/>
        </p:nvSpPr>
        <p:spPr>
          <a:xfrm xmlns:a="http://schemas.openxmlformats.org/drawingml/2006/main">
            <a:off x="1000125" y="2952750"/>
            <a:ext cx="2524125" cy="1238250"/>
          </a:xfrm>
          <a:prstGeom xmlns:a="http://schemas.openxmlformats.org/drawingml/2006/main" prst="rect">
            <a:avLst/>
          </a:prstGeom>
          <a:solidFill xmlns:a="http://schemas.openxmlformats.org/drawingml/2006/main">
            <a:srgbClr val="E7E2D8"/>
          </a:solidFill>
          <a:ln xmlns:a="http://schemas.openxmlformats.org/drawingml/2006/main" w="9525">
            <a:solidFill>
              <a:srgbClr val="FFFFFF">
                <a:alpha val="40000"/>
              </a:srgbClr>
            </a:solidFill>
            <a:prstDash val="solid"/>
          </a:ln>
        </p:spPr>
      </p:sp>
      <p:sp>
        <p:nvSpPr>
          <p:cNvPr id="7" name="">
            <a:extLst xmlns:a="http://schemas.openxmlformats.org/drawingml/2006/main">
              <a:ext uri="{FF2B5EF4-FFF2-40B4-BE49-F238E27FC236}">
                <a16:creationId xmlns:a16="http://schemas.microsoft.com/office/drawing/2014/main" id="{08095CFC-93D0-4A52-8040-B951614F3FE9}"/>
              </a:ext>
            </a:extLst>
          </p:cNvPr>
          <p:cNvSpPr>
            <a:spLocks xmlns:a="http://schemas.openxmlformats.org/drawingml/2006/main" noGrp="1"/>
          </p:cNvSpPr>
          <p:nvPr/>
        </p:nvSpPr>
        <p:spPr>
          <a:xfrm xmlns:a="http://schemas.openxmlformats.org/drawingml/2006/main">
            <a:off x="1152525" y="3086100"/>
            <a:ext cx="2219325"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Classical bit</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0 or 1</a:t>
            </a:r>
          </a:p>
        </p:txBody>
      </p:sp>
      <p:sp>
        <p:nvSpPr>
          <p:cNvPr id="8" name="">
            <a:extLst xmlns:a="http://schemas.openxmlformats.org/drawingml/2006/main">
              <a:ext uri="{FF2B5EF4-FFF2-40B4-BE49-F238E27FC236}">
                <a16:creationId xmlns:a16="http://schemas.microsoft.com/office/drawing/2014/main" id="{71A5BD17-B458-458D-A4BE-22CF8156C62F}"/>
              </a:ext>
            </a:extLst>
          </p:cNvPr>
          <p:cNvSpPr>
            <a:spLocks xmlns:a="http://schemas.openxmlformats.org/drawingml/2006/main" noGrp="1"/>
          </p:cNvSpPr>
          <p:nvPr/>
        </p:nvSpPr>
        <p:spPr>
          <a:xfrm xmlns:a="http://schemas.openxmlformats.org/drawingml/2006/main">
            <a:off x="3857625" y="2952750"/>
            <a:ext cx="2524125" cy="1238250"/>
          </a:xfrm>
          <a:prstGeom xmlns:a="http://schemas.openxmlformats.org/drawingml/2006/main" prst="rect">
            <a:avLst/>
          </a:prstGeom>
          <a:solidFill xmlns:a="http://schemas.openxmlformats.org/drawingml/2006/main">
            <a:srgbClr val="DDE7F7"/>
          </a:solidFill>
          <a:ln xmlns:a="http://schemas.openxmlformats.org/drawingml/2006/main" w="9525">
            <a:solidFill>
              <a:srgbClr val="FFFFFF">
                <a:alpha val="40000"/>
              </a:srgbClr>
            </a:solidFill>
            <a:prstDash val="solid"/>
          </a:ln>
        </p:spPr>
      </p:sp>
      <p:sp>
        <p:nvSpPr>
          <p:cNvPr id="9" name="">
            <a:extLst xmlns:a="http://schemas.openxmlformats.org/drawingml/2006/main">
              <a:ext uri="{FF2B5EF4-FFF2-40B4-BE49-F238E27FC236}">
                <a16:creationId xmlns:a16="http://schemas.microsoft.com/office/drawing/2014/main" id="{761EEBB6-4598-4BFD-85F6-E1B6607979A7}"/>
              </a:ext>
            </a:extLst>
          </p:cNvPr>
          <p:cNvSpPr>
            <a:spLocks xmlns:a="http://schemas.openxmlformats.org/drawingml/2006/main" noGrp="1"/>
          </p:cNvSpPr>
          <p:nvPr/>
        </p:nvSpPr>
        <p:spPr>
          <a:xfrm xmlns:a="http://schemas.openxmlformats.org/drawingml/2006/main">
            <a:off x="4010025" y="3086100"/>
            <a:ext cx="2219325"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Classical probability</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p(0), p(1)</a:t>
            </a:r>
          </a:p>
        </p:txBody>
      </p:sp>
      <p:sp>
        <p:nvSpPr>
          <p:cNvPr id="10" name="">
            <a:extLst xmlns:a="http://schemas.openxmlformats.org/drawingml/2006/main">
              <a:ext uri="{FF2B5EF4-FFF2-40B4-BE49-F238E27FC236}">
                <a16:creationId xmlns:a16="http://schemas.microsoft.com/office/drawing/2014/main" id="{947E5301-FC4F-4763-9D35-E42D7DF2FD33}"/>
              </a:ext>
            </a:extLst>
          </p:cNvPr>
          <p:cNvSpPr>
            <a:spLocks xmlns:a="http://schemas.openxmlformats.org/drawingml/2006/main" noGrp="1"/>
          </p:cNvSpPr>
          <p:nvPr/>
        </p:nvSpPr>
        <p:spPr>
          <a:xfrm xmlns:a="http://schemas.openxmlformats.org/drawingml/2006/main">
            <a:off x="6715125" y="2952750"/>
            <a:ext cx="2524125" cy="1238250"/>
          </a:xfrm>
          <a:prstGeom xmlns:a="http://schemas.openxmlformats.org/drawingml/2006/main" prst="rect">
            <a:avLst/>
          </a:prstGeom>
          <a:solidFill xmlns:a="http://schemas.openxmlformats.org/drawingml/2006/main">
            <a:srgbClr val="EFE1C6"/>
          </a:solidFill>
          <a:ln xmlns:a="http://schemas.openxmlformats.org/drawingml/2006/main" w="9525">
            <a:solidFill>
              <a:srgbClr val="FFFFFF">
                <a:alpha val="40000"/>
              </a:srgbClr>
            </a:solidFill>
            <a:prstDash val="solid"/>
          </a:ln>
        </p:spPr>
      </p:sp>
      <p:sp>
        <p:nvSpPr>
          <p:cNvPr id="11" name="">
            <a:extLst xmlns:a="http://schemas.openxmlformats.org/drawingml/2006/main">
              <a:ext uri="{FF2B5EF4-FFF2-40B4-BE49-F238E27FC236}">
                <a16:creationId xmlns:a16="http://schemas.microsoft.com/office/drawing/2014/main" id="{BE7393D3-3DA6-41C0-8A57-B1E4BE80F7BC}"/>
              </a:ext>
            </a:extLst>
          </p:cNvPr>
          <p:cNvSpPr>
            <a:spLocks xmlns:a="http://schemas.openxmlformats.org/drawingml/2006/main" noGrp="1"/>
          </p:cNvSpPr>
          <p:nvPr/>
        </p:nvSpPr>
        <p:spPr>
          <a:xfrm xmlns:a="http://schemas.openxmlformats.org/drawingml/2006/main">
            <a:off x="6867525" y="3086100"/>
            <a:ext cx="2219325"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Quantum state</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amplitudes alpha, beta</a:t>
            </a:r>
          </a:p>
        </p:txBody>
      </p:sp>
      <p:sp>
        <p:nvSpPr>
          <p:cNvPr id="12" name="">
            <a:extLst xmlns:a="http://schemas.openxmlformats.org/drawingml/2006/main">
              <a:ext uri="{FF2B5EF4-FFF2-40B4-BE49-F238E27FC236}">
                <a16:creationId xmlns:a16="http://schemas.microsoft.com/office/drawing/2014/main" id="{70994FA3-D501-436E-A5C2-D0D34D607A2B}"/>
              </a:ext>
            </a:extLst>
          </p:cNvPr>
          <p:cNvSpPr>
            <a:spLocks xmlns:a="http://schemas.openxmlformats.org/drawingml/2006/main" noGrp="1"/>
          </p:cNvSpPr>
          <p:nvPr/>
        </p:nvSpPr>
        <p:spPr>
          <a:xfrm xmlns:a="http://schemas.openxmlformats.org/drawingml/2006/main">
            <a:off x="9572625" y="2952750"/>
            <a:ext cx="1714500" cy="1238250"/>
          </a:xfrm>
          <a:prstGeom xmlns:a="http://schemas.openxmlformats.org/drawingml/2006/main" prst="rect">
            <a:avLst/>
          </a:prstGeom>
          <a:solidFill xmlns:a="http://schemas.openxmlformats.org/drawingml/2006/main">
            <a:srgbClr val="DDE9DF"/>
          </a:solidFill>
          <a:ln xmlns:a="http://schemas.openxmlformats.org/drawingml/2006/main" w="9525">
            <a:solidFill>
              <a:srgbClr val="FFFFFF">
                <a:alpha val="40000"/>
              </a:srgbClr>
            </a:solidFill>
            <a:prstDash val="solid"/>
          </a:ln>
        </p:spPr>
      </p:sp>
      <p:sp>
        <p:nvSpPr>
          <p:cNvPr id="13" name="">
            <a:extLst xmlns:a="http://schemas.openxmlformats.org/drawingml/2006/main">
              <a:ext uri="{FF2B5EF4-FFF2-40B4-BE49-F238E27FC236}">
                <a16:creationId xmlns:a16="http://schemas.microsoft.com/office/drawing/2014/main" id="{C9A41F49-FDF6-4D7F-BD5F-A21608B0AA9B}"/>
              </a:ext>
            </a:extLst>
          </p:cNvPr>
          <p:cNvSpPr>
            <a:spLocks xmlns:a="http://schemas.openxmlformats.org/drawingml/2006/main" noGrp="1"/>
          </p:cNvSpPr>
          <p:nvPr/>
        </p:nvSpPr>
        <p:spPr>
          <a:xfrm xmlns:a="http://schemas.openxmlformats.org/drawingml/2006/main">
            <a:off x="9725025" y="3086100"/>
            <a:ext cx="14097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Measurement</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probable outcome</a:t>
            </a:r>
          </a:p>
        </p:txBody>
      </p:sp>
      <p:sp>
        <p:nvSpPr>
          <p:cNvPr id="14" name="">
            <a:extLst xmlns:a="http://schemas.openxmlformats.org/drawingml/2006/main">
              <a:ext uri="{FF2B5EF4-FFF2-40B4-BE49-F238E27FC236}">
                <a16:creationId xmlns:a16="http://schemas.microsoft.com/office/drawing/2014/main" id="{DF596A3D-4676-4675-9E8A-1AE15407379C}"/>
              </a:ext>
            </a:extLst>
          </p:cNvPr>
          <p:cNvSpPr>
            <a:spLocks xmlns:a="http://schemas.openxmlformats.org/drawingml/2006/main" noGrp="1"/>
          </p:cNvSpPr>
          <p:nvPr/>
        </p:nvSpPr>
        <p:spPr>
          <a:xfrm xmlns:a="http://schemas.openxmlformats.org/drawingml/2006/main">
            <a:off x="1428750" y="49434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5" name="">
            <a:extLst xmlns:a="http://schemas.openxmlformats.org/drawingml/2006/main">
              <a:ext uri="{FF2B5EF4-FFF2-40B4-BE49-F238E27FC236}">
                <a16:creationId xmlns:a16="http://schemas.microsoft.com/office/drawing/2014/main" id="{CDD2CE25-5E81-4A92-96B8-61DE7E5EDF83}"/>
              </a:ext>
            </a:extLst>
          </p:cNvPr>
          <p:cNvSpPr>
            <a:spLocks xmlns:a="http://schemas.openxmlformats.org/drawingml/2006/main" noGrp="1"/>
          </p:cNvSpPr>
          <p:nvPr/>
        </p:nvSpPr>
        <p:spPr>
          <a:xfrm xmlns:a="http://schemas.openxmlformats.org/drawingml/2006/main">
            <a:off x="1638300" y="4857750"/>
            <a:ext cx="8953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A probability is nonnegative and directly describes likelihood.</a:t>
            </a:r>
          </a:p>
        </p:txBody>
      </p:sp>
      <p:sp>
        <p:nvSpPr>
          <p:cNvPr id="16" name="">
            <a:extLst xmlns:a="http://schemas.openxmlformats.org/drawingml/2006/main">
              <a:ext uri="{FF2B5EF4-FFF2-40B4-BE49-F238E27FC236}">
                <a16:creationId xmlns:a16="http://schemas.microsoft.com/office/drawing/2014/main" id="{92C9235E-99B3-4A44-A3C2-EF7FADC67486}"/>
              </a:ext>
            </a:extLst>
          </p:cNvPr>
          <p:cNvSpPr>
            <a:spLocks xmlns:a="http://schemas.openxmlformats.org/drawingml/2006/main" noGrp="1"/>
          </p:cNvSpPr>
          <p:nvPr/>
        </p:nvSpPr>
        <p:spPr>
          <a:xfrm xmlns:a="http://schemas.openxmlformats.org/drawingml/2006/main">
            <a:off x="1428750" y="53244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7" name="">
            <a:extLst xmlns:a="http://schemas.openxmlformats.org/drawingml/2006/main">
              <a:ext uri="{FF2B5EF4-FFF2-40B4-BE49-F238E27FC236}">
                <a16:creationId xmlns:a16="http://schemas.microsoft.com/office/drawing/2014/main" id="{9F16E107-A1EB-4B86-8A3D-C738B5FD5F7D}"/>
              </a:ext>
            </a:extLst>
          </p:cNvPr>
          <p:cNvSpPr>
            <a:spLocks xmlns:a="http://schemas.openxmlformats.org/drawingml/2006/main" noGrp="1"/>
          </p:cNvSpPr>
          <p:nvPr/>
        </p:nvSpPr>
        <p:spPr>
          <a:xfrm xmlns:a="http://schemas.openxmlformats.org/drawingml/2006/main">
            <a:off x="1638300" y="5238750"/>
            <a:ext cx="8953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A quantum amplitude can carry sign or phase before measurement.</a:t>
            </a:r>
          </a:p>
        </p:txBody>
      </p:sp>
      <p:sp>
        <p:nvSpPr>
          <p:cNvPr id="18" name="">
            <a:extLst xmlns:a="http://schemas.openxmlformats.org/drawingml/2006/main">
              <a:ext uri="{FF2B5EF4-FFF2-40B4-BE49-F238E27FC236}">
                <a16:creationId xmlns:a16="http://schemas.microsoft.com/office/drawing/2014/main" id="{999F2AF7-AF92-4D67-9262-58F434BA6C42}"/>
              </a:ext>
            </a:extLst>
          </p:cNvPr>
          <p:cNvSpPr>
            <a:spLocks xmlns:a="http://schemas.openxmlformats.org/drawingml/2006/main" noGrp="1"/>
          </p:cNvSpPr>
          <p:nvPr/>
        </p:nvSpPr>
        <p:spPr>
          <a:xfrm xmlns:a="http://schemas.openxmlformats.org/drawingml/2006/main">
            <a:off x="1428750" y="57054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9" name="">
            <a:extLst xmlns:a="http://schemas.openxmlformats.org/drawingml/2006/main">
              <a:ext uri="{FF2B5EF4-FFF2-40B4-BE49-F238E27FC236}">
                <a16:creationId xmlns:a16="http://schemas.microsoft.com/office/drawing/2014/main" id="{AED1A568-DBE4-41A6-94C4-DA49AD5760EF}"/>
              </a:ext>
            </a:extLst>
          </p:cNvPr>
          <p:cNvSpPr>
            <a:spLocks xmlns:a="http://schemas.openxmlformats.org/drawingml/2006/main" noGrp="1"/>
          </p:cNvSpPr>
          <p:nvPr/>
        </p:nvSpPr>
        <p:spPr>
          <a:xfrm xmlns:a="http://schemas.openxmlformats.org/drawingml/2006/main">
            <a:off x="1638300" y="5619750"/>
            <a:ext cx="8953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Interference is what lets amplitudes reinforce or cancel.</a:t>
            </a:r>
          </a:p>
        </p:txBody>
      </p:sp>
      <p:sp>
        <p:nvSpPr>
          <p:cNvPr id="20" name="">
            <a:extLst xmlns:a="http://schemas.openxmlformats.org/drawingml/2006/main">
              <a:ext uri="{FF2B5EF4-FFF2-40B4-BE49-F238E27FC236}">
                <a16:creationId xmlns:a16="http://schemas.microsoft.com/office/drawing/2014/main" id="{8C38A8FA-286A-4087-99AB-1D301C999911}"/>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21" name="">
            <a:extLst xmlns:a="http://schemas.openxmlformats.org/drawingml/2006/main">
              <a:ext uri="{FF2B5EF4-FFF2-40B4-BE49-F238E27FC236}">
                <a16:creationId xmlns:a16="http://schemas.microsoft.com/office/drawing/2014/main" id="{C0FDBE37-2494-4EE3-BA47-979610B52E8E}"/>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Conceptual primer. Add quantum information citation before external submission.</a:t>
            </a:r>
          </a:p>
        </p:txBody>
      </p:sp>
    </p:spTree>
    <p:extLst>
      <p:ext uri="{BB962C8B-B14F-4D97-AF65-F5344CB8AC3E}">
        <p14:creationId xmlns:p14="http://schemas.microsoft.com/office/powerpoint/2010/main" val="8529406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FEB360-0AF3-4CB2-8FDE-B8332DAEF1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B4633CEC-88D1-4682-9199-37634B1D64D4}"/>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793D27C9-5B8B-4B23-9BEF-9B39DF4B4CFB}"/>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PROBABILITY AND STATISTICAL MECHANICS INTUITION</a:t>
            </a:r>
          </a:p>
        </p:txBody>
      </p:sp>
      <p:sp>
        <p:nvSpPr>
          <p:cNvPr id="4" name="">
            <a:extLst xmlns:a="http://schemas.openxmlformats.org/drawingml/2006/main">
              <a:ext uri="{FF2B5EF4-FFF2-40B4-BE49-F238E27FC236}">
                <a16:creationId xmlns:a16="http://schemas.microsoft.com/office/drawing/2014/main" id="{0885A721-B7CC-42F2-86F0-121A0B35C88D}"/>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Many scientific systems are understood through distributions.</a:t>
            </a:r>
          </a:p>
        </p:txBody>
      </p:sp>
      <p:sp>
        <p:nvSpPr>
          <p:cNvPr id="5" name="">
            <a:extLst xmlns:a="http://schemas.openxmlformats.org/drawingml/2006/main">
              <a:ext uri="{FF2B5EF4-FFF2-40B4-BE49-F238E27FC236}">
                <a16:creationId xmlns:a16="http://schemas.microsoft.com/office/drawing/2014/main" id="{B71A8F4B-1643-4629-A832-72793F220A8C}"/>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Statistical mechanics gives an intuition: we often cannot track every microscopic path, so we reason over ensembles and likely states.</a:t>
            </a:r>
          </a:p>
        </p:txBody>
      </p:sp>
      <p:sp>
        <p:nvSpPr>
          <p:cNvPr id="6" name="">
            <a:extLst xmlns:a="http://schemas.openxmlformats.org/drawingml/2006/main">
              <a:ext uri="{FF2B5EF4-FFF2-40B4-BE49-F238E27FC236}">
                <a16:creationId xmlns:a16="http://schemas.microsoft.com/office/drawing/2014/main" id="{F1E2E82B-2B89-421C-A90A-868031380E66}"/>
              </a:ext>
            </a:extLst>
          </p:cNvPr>
          <p:cNvSpPr>
            <a:spLocks xmlns:a="http://schemas.openxmlformats.org/drawingml/2006/main" noGrp="1"/>
          </p:cNvSpPr>
          <p:nvPr/>
        </p:nvSpPr>
        <p:spPr>
          <a:xfrm xmlns:a="http://schemas.openxmlformats.org/drawingml/2006/main">
            <a:off x="857250" y="2857500"/>
            <a:ext cx="2857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B1020"/>
                </a:solidFill>
                <a:latin typeface="Aptos"/>
                <a:ea typeface="Aptos"/>
                <a:cs typeface="Aptos"/>
              </a:defRPr>
            </a:pPr>
            <a:r>
              <a:rPr sz="1650" b="1">
                <a:solidFill>
                  <a:srgbClr val="0B1020"/>
                </a:solidFill>
                <a:latin typeface="Aptos"/>
                <a:ea typeface="Aptos"/>
                <a:cs typeface="Aptos"/>
              </a:rPr>
              <a:t>Microscopic possibilities</a:t>
            </a:r>
          </a:p>
        </p:txBody>
      </p:sp>
      <p:sp>
        <p:nvSpPr>
          <p:cNvPr id="7" name="">
            <a:extLst xmlns:a="http://schemas.openxmlformats.org/drawingml/2006/main">
              <a:ext uri="{FF2B5EF4-FFF2-40B4-BE49-F238E27FC236}">
                <a16:creationId xmlns:a16="http://schemas.microsoft.com/office/drawing/2014/main" id="{A7075022-63D5-45D5-A27A-93355BC69A9F}"/>
              </a:ext>
            </a:extLst>
          </p:cNvPr>
          <p:cNvSpPr>
            <a:spLocks xmlns:a="http://schemas.openxmlformats.org/drawingml/2006/main" noGrp="1"/>
          </p:cNvSpPr>
          <p:nvPr/>
        </p:nvSpPr>
        <p:spPr>
          <a:xfrm xmlns:a="http://schemas.openxmlformats.org/drawingml/2006/main">
            <a:off x="1095375" y="3602355"/>
            <a:ext cx="285750" cy="16002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8" name="">
            <a:extLst xmlns:a="http://schemas.openxmlformats.org/drawingml/2006/main">
              <a:ext uri="{FF2B5EF4-FFF2-40B4-BE49-F238E27FC236}">
                <a16:creationId xmlns:a16="http://schemas.microsoft.com/office/drawing/2014/main" id="{F3D059C2-2EE6-4A0F-8C0D-027C5BD124B8}"/>
              </a:ext>
            </a:extLst>
          </p:cNvPr>
          <p:cNvSpPr>
            <a:spLocks xmlns:a="http://schemas.openxmlformats.org/drawingml/2006/main" noGrp="1"/>
          </p:cNvSpPr>
          <p:nvPr/>
        </p:nvSpPr>
        <p:spPr>
          <a:xfrm xmlns:a="http://schemas.openxmlformats.org/drawingml/2006/main">
            <a:off x="1552575" y="3408045"/>
            <a:ext cx="285750" cy="35433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9" name="">
            <a:extLst xmlns:a="http://schemas.openxmlformats.org/drawingml/2006/main">
              <a:ext uri="{FF2B5EF4-FFF2-40B4-BE49-F238E27FC236}">
                <a16:creationId xmlns:a16="http://schemas.microsoft.com/office/drawing/2014/main" id="{77FFC3BF-4F30-4A51-9B4D-39FBB5802016}"/>
              </a:ext>
            </a:extLst>
          </p:cNvPr>
          <p:cNvSpPr>
            <a:spLocks xmlns:a="http://schemas.openxmlformats.org/drawingml/2006/main" noGrp="1"/>
          </p:cNvSpPr>
          <p:nvPr/>
        </p:nvSpPr>
        <p:spPr>
          <a:xfrm xmlns:a="http://schemas.openxmlformats.org/drawingml/2006/main">
            <a:off x="2009775" y="3213735"/>
            <a:ext cx="285750" cy="54864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0" name="">
            <a:extLst xmlns:a="http://schemas.openxmlformats.org/drawingml/2006/main">
              <a:ext uri="{FF2B5EF4-FFF2-40B4-BE49-F238E27FC236}">
                <a16:creationId xmlns:a16="http://schemas.microsoft.com/office/drawing/2014/main" id="{23475B7E-5D16-4BA8-A068-0839A58F489A}"/>
              </a:ext>
            </a:extLst>
          </p:cNvPr>
          <p:cNvSpPr>
            <a:spLocks xmlns:a="http://schemas.openxmlformats.org/drawingml/2006/main" noGrp="1"/>
          </p:cNvSpPr>
          <p:nvPr/>
        </p:nvSpPr>
        <p:spPr>
          <a:xfrm xmlns:a="http://schemas.openxmlformats.org/drawingml/2006/main">
            <a:off x="2466975" y="2973705"/>
            <a:ext cx="285750" cy="78867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1" name="">
            <a:extLst xmlns:a="http://schemas.openxmlformats.org/drawingml/2006/main">
              <a:ext uri="{FF2B5EF4-FFF2-40B4-BE49-F238E27FC236}">
                <a16:creationId xmlns:a16="http://schemas.microsoft.com/office/drawing/2014/main" id="{4641ADD2-3829-4C3A-8AB0-A28EE70D4912}"/>
              </a:ext>
            </a:extLst>
          </p:cNvPr>
          <p:cNvSpPr>
            <a:spLocks xmlns:a="http://schemas.openxmlformats.org/drawingml/2006/main" noGrp="1"/>
          </p:cNvSpPr>
          <p:nvPr/>
        </p:nvSpPr>
        <p:spPr>
          <a:xfrm xmlns:a="http://schemas.openxmlformats.org/drawingml/2006/main">
            <a:off x="2924175" y="2756535"/>
            <a:ext cx="285750" cy="100584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2" name="">
            <a:extLst xmlns:a="http://schemas.openxmlformats.org/drawingml/2006/main">
              <a:ext uri="{FF2B5EF4-FFF2-40B4-BE49-F238E27FC236}">
                <a16:creationId xmlns:a16="http://schemas.microsoft.com/office/drawing/2014/main" id="{91582898-E680-428C-8593-60B40466967D}"/>
              </a:ext>
            </a:extLst>
          </p:cNvPr>
          <p:cNvSpPr>
            <a:spLocks xmlns:a="http://schemas.openxmlformats.org/drawingml/2006/main" noGrp="1"/>
          </p:cNvSpPr>
          <p:nvPr/>
        </p:nvSpPr>
        <p:spPr>
          <a:xfrm xmlns:a="http://schemas.openxmlformats.org/drawingml/2006/main">
            <a:off x="809625" y="4095750"/>
            <a:ext cx="2952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334155"/>
                </a:solidFill>
                <a:latin typeface="Aptos"/>
                <a:ea typeface="Aptos"/>
                <a:cs typeface="Aptos"/>
              </a:defRPr>
            </a:pPr>
            <a:r>
              <a:rPr sz="1200" b="0">
                <a:solidFill>
                  <a:srgbClr val="334155"/>
                </a:solidFill>
                <a:latin typeface="Aptos"/>
                <a:ea typeface="Aptos"/>
                <a:cs typeface="Aptos"/>
              </a:rPr>
              <a:t>probability distribution</a:t>
            </a:r>
          </a:p>
        </p:txBody>
      </p:sp>
      <p:sp>
        <p:nvSpPr>
          <p:cNvPr id="13" name="">
            <a:extLst xmlns:a="http://schemas.openxmlformats.org/drawingml/2006/main">
              <a:ext uri="{FF2B5EF4-FFF2-40B4-BE49-F238E27FC236}">
                <a16:creationId xmlns:a16="http://schemas.microsoft.com/office/drawing/2014/main" id="{14FEBF0D-7B09-4DC3-A73E-F998F96BBEB4}"/>
              </a:ext>
            </a:extLst>
          </p:cNvPr>
          <p:cNvSpPr>
            <a:spLocks xmlns:a="http://schemas.openxmlformats.org/drawingml/2006/main" noGrp="1"/>
          </p:cNvSpPr>
          <p:nvPr/>
        </p:nvSpPr>
        <p:spPr>
          <a:xfrm xmlns:a="http://schemas.openxmlformats.org/drawingml/2006/main">
            <a:off x="4333875" y="3352800"/>
            <a:ext cx="1476375" cy="2857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4" name="">
            <a:extLst xmlns:a="http://schemas.openxmlformats.org/drawingml/2006/main">
              <a:ext uri="{FF2B5EF4-FFF2-40B4-BE49-F238E27FC236}">
                <a16:creationId xmlns:a16="http://schemas.microsoft.com/office/drawing/2014/main" id="{A2A57A2D-C270-4C2B-9BA3-834D7926B783}"/>
              </a:ext>
            </a:extLst>
          </p:cNvPr>
          <p:cNvSpPr>
            <a:spLocks xmlns:a="http://schemas.openxmlformats.org/drawingml/2006/main" noGrp="1"/>
          </p:cNvSpPr>
          <p:nvPr/>
        </p:nvSpPr>
        <p:spPr>
          <a:xfrm xmlns:a="http://schemas.openxmlformats.org/drawingml/2006/main">
            <a:off x="4000500" y="3667125"/>
            <a:ext cx="214312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334155"/>
                </a:solidFill>
                <a:latin typeface="Aptos"/>
                <a:ea typeface="Aptos"/>
                <a:cs typeface="Aptos"/>
              </a:defRPr>
            </a:pPr>
            <a:r>
              <a:rPr sz="1200" b="0">
                <a:solidFill>
                  <a:srgbClr val="334155"/>
                </a:solidFill>
                <a:latin typeface="Aptos"/>
                <a:ea typeface="Aptos"/>
                <a:cs typeface="Aptos"/>
              </a:rPr>
              <a:t>sampling / measurement</a:t>
            </a:r>
          </a:p>
        </p:txBody>
      </p:sp>
      <p:sp>
        <p:nvSpPr>
          <p:cNvPr id="15" name="">
            <a:extLst xmlns:a="http://schemas.openxmlformats.org/drawingml/2006/main">
              <a:ext uri="{FF2B5EF4-FFF2-40B4-BE49-F238E27FC236}">
                <a16:creationId xmlns:a16="http://schemas.microsoft.com/office/drawing/2014/main" id="{BF41BDFF-E158-4F7C-9A39-DA30CDB3811A}"/>
              </a:ext>
            </a:extLst>
          </p:cNvPr>
          <p:cNvSpPr>
            <a:spLocks xmlns:a="http://schemas.openxmlformats.org/drawingml/2006/main" noGrp="1"/>
          </p:cNvSpPr>
          <p:nvPr/>
        </p:nvSpPr>
        <p:spPr>
          <a:xfrm xmlns:a="http://schemas.openxmlformats.org/drawingml/2006/main">
            <a:off x="6572250" y="2857500"/>
            <a:ext cx="3333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B1020"/>
                </a:solidFill>
                <a:latin typeface="Aptos"/>
                <a:ea typeface="Aptos"/>
                <a:cs typeface="Aptos"/>
              </a:defRPr>
            </a:pPr>
            <a:r>
              <a:rPr sz="1650" b="1">
                <a:solidFill>
                  <a:srgbClr val="0B1020"/>
                </a:solidFill>
                <a:latin typeface="Aptos"/>
                <a:ea typeface="Aptos"/>
                <a:cs typeface="Aptos"/>
              </a:rPr>
              <a:t>Observed behavior</a:t>
            </a:r>
          </a:p>
        </p:txBody>
      </p:sp>
      <p:sp>
        <p:nvSpPr>
          <p:cNvPr id="16" name="">
            <a:extLst xmlns:a="http://schemas.openxmlformats.org/drawingml/2006/main">
              <a:ext uri="{FF2B5EF4-FFF2-40B4-BE49-F238E27FC236}">
                <a16:creationId xmlns:a16="http://schemas.microsoft.com/office/drawing/2014/main" id="{3484DB27-D403-45F5-985F-41C915164E22}"/>
              </a:ext>
            </a:extLst>
          </p:cNvPr>
          <p:cNvSpPr>
            <a:spLocks xmlns:a="http://schemas.openxmlformats.org/drawingml/2006/main" noGrp="1"/>
          </p:cNvSpPr>
          <p:nvPr/>
        </p:nvSpPr>
        <p:spPr>
          <a:xfrm xmlns:a="http://schemas.openxmlformats.org/drawingml/2006/main">
            <a:off x="7239000" y="3476625"/>
            <a:ext cx="2000250" cy="762000"/>
          </a:xfrm>
          <a:prstGeom xmlns:a="http://schemas.openxmlformats.org/drawingml/2006/main" prst="rect">
            <a:avLst/>
          </a:prstGeom>
          <a:solidFill xmlns:a="http://schemas.openxmlformats.org/drawingml/2006/main">
            <a:srgbClr val="DDE9DF"/>
          </a:solidFill>
          <a:ln xmlns:a="http://schemas.openxmlformats.org/drawingml/2006/main" w="9525">
            <a:solidFill>
              <a:srgbClr val="AFC8B5"/>
            </a:solidFill>
            <a:prstDash val="solid"/>
          </a:ln>
        </p:spPr>
      </p:sp>
      <p:sp>
        <p:nvSpPr>
          <p:cNvPr id="17" name="">
            <a:extLst xmlns:a="http://schemas.openxmlformats.org/drawingml/2006/main">
              <a:ext uri="{FF2B5EF4-FFF2-40B4-BE49-F238E27FC236}">
                <a16:creationId xmlns:a16="http://schemas.microsoft.com/office/drawing/2014/main" id="{4D29B9E0-2BEF-4041-9308-879532EF368D}"/>
              </a:ext>
            </a:extLst>
          </p:cNvPr>
          <p:cNvSpPr>
            <a:spLocks xmlns:a="http://schemas.openxmlformats.org/drawingml/2006/main" noGrp="1"/>
          </p:cNvSpPr>
          <p:nvPr/>
        </p:nvSpPr>
        <p:spPr>
          <a:xfrm xmlns:a="http://schemas.openxmlformats.org/drawingml/2006/main">
            <a:off x="7524750" y="3638550"/>
            <a:ext cx="14287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most likely states</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become visible</a:t>
            </a:r>
          </a:p>
        </p:txBody>
      </p:sp>
      <p:sp>
        <p:nvSpPr>
          <p:cNvPr id="18" name="">
            <a:extLst xmlns:a="http://schemas.openxmlformats.org/drawingml/2006/main">
              <a:ext uri="{FF2B5EF4-FFF2-40B4-BE49-F238E27FC236}">
                <a16:creationId xmlns:a16="http://schemas.microsoft.com/office/drawing/2014/main" id="{806CA062-3BB1-4BD6-B0B7-26F2DDDDE2EF}"/>
              </a:ext>
            </a:extLst>
          </p:cNvPr>
          <p:cNvSpPr>
            <a:spLocks xmlns:a="http://schemas.openxmlformats.org/drawingml/2006/main" noGrp="1"/>
          </p:cNvSpPr>
          <p:nvPr/>
        </p:nvSpPr>
        <p:spPr>
          <a:xfrm xmlns:a="http://schemas.openxmlformats.org/drawingml/2006/main">
            <a:off x="1238250" y="50387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9" name="">
            <a:extLst xmlns:a="http://schemas.openxmlformats.org/drawingml/2006/main">
              <a:ext uri="{FF2B5EF4-FFF2-40B4-BE49-F238E27FC236}">
                <a16:creationId xmlns:a16="http://schemas.microsoft.com/office/drawing/2014/main" id="{4223C1E2-F034-45A1-AAAB-F02B0092341A}"/>
              </a:ext>
            </a:extLst>
          </p:cNvPr>
          <p:cNvSpPr>
            <a:spLocks xmlns:a="http://schemas.openxmlformats.org/drawingml/2006/main" noGrp="1"/>
          </p:cNvSpPr>
          <p:nvPr/>
        </p:nvSpPr>
        <p:spPr>
          <a:xfrm xmlns:a="http://schemas.openxmlformats.org/drawingml/2006/main">
            <a:off x="1447800" y="4953000"/>
            <a:ext cx="9525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In ML, predicted probabilities are a classical distribution over labels.</a:t>
            </a:r>
          </a:p>
        </p:txBody>
      </p:sp>
      <p:sp>
        <p:nvSpPr>
          <p:cNvPr id="20" name="">
            <a:extLst xmlns:a="http://schemas.openxmlformats.org/drawingml/2006/main">
              <a:ext uri="{FF2B5EF4-FFF2-40B4-BE49-F238E27FC236}">
                <a16:creationId xmlns:a16="http://schemas.microsoft.com/office/drawing/2014/main" id="{B0EAE444-C7DA-4669-B2E5-A18C7C733033}"/>
              </a:ext>
            </a:extLst>
          </p:cNvPr>
          <p:cNvSpPr>
            <a:spLocks xmlns:a="http://schemas.openxmlformats.org/drawingml/2006/main" noGrp="1"/>
          </p:cNvSpPr>
          <p:nvPr/>
        </p:nvSpPr>
        <p:spPr>
          <a:xfrm xmlns:a="http://schemas.openxmlformats.org/drawingml/2006/main">
            <a:off x="1238250" y="54006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21" name="">
            <a:extLst xmlns:a="http://schemas.openxmlformats.org/drawingml/2006/main">
              <a:ext uri="{FF2B5EF4-FFF2-40B4-BE49-F238E27FC236}">
                <a16:creationId xmlns:a16="http://schemas.microsoft.com/office/drawing/2014/main" id="{49149DE2-C9F4-495F-A92F-63E8A0639CB3}"/>
              </a:ext>
            </a:extLst>
          </p:cNvPr>
          <p:cNvSpPr>
            <a:spLocks xmlns:a="http://schemas.openxmlformats.org/drawingml/2006/main" noGrp="1"/>
          </p:cNvSpPr>
          <p:nvPr/>
        </p:nvSpPr>
        <p:spPr>
          <a:xfrm xmlns:a="http://schemas.openxmlformats.org/drawingml/2006/main">
            <a:off x="1447800" y="5314950"/>
            <a:ext cx="9525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In quantum computing, amplitudes evolve before becoming probabilities.</a:t>
            </a:r>
          </a:p>
        </p:txBody>
      </p:sp>
      <p:sp>
        <p:nvSpPr>
          <p:cNvPr id="22" name="">
            <a:extLst xmlns:a="http://schemas.openxmlformats.org/drawingml/2006/main">
              <a:ext uri="{FF2B5EF4-FFF2-40B4-BE49-F238E27FC236}">
                <a16:creationId xmlns:a16="http://schemas.microsoft.com/office/drawing/2014/main" id="{7793AD67-DF65-4C21-9417-9A7765FA0F96}"/>
              </a:ext>
            </a:extLst>
          </p:cNvPr>
          <p:cNvSpPr>
            <a:spLocks xmlns:a="http://schemas.openxmlformats.org/drawingml/2006/main" noGrp="1"/>
          </p:cNvSpPr>
          <p:nvPr/>
        </p:nvSpPr>
        <p:spPr>
          <a:xfrm xmlns:a="http://schemas.openxmlformats.org/drawingml/2006/main">
            <a:off x="1238250" y="57626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23" name="">
            <a:extLst xmlns:a="http://schemas.openxmlformats.org/drawingml/2006/main">
              <a:ext uri="{FF2B5EF4-FFF2-40B4-BE49-F238E27FC236}">
                <a16:creationId xmlns:a16="http://schemas.microsoft.com/office/drawing/2014/main" id="{6DC1B94D-7753-492F-9F06-4AE47A2A452C}"/>
              </a:ext>
            </a:extLst>
          </p:cNvPr>
          <p:cNvSpPr>
            <a:spLocks xmlns:a="http://schemas.openxmlformats.org/drawingml/2006/main" noGrp="1"/>
          </p:cNvSpPr>
          <p:nvPr/>
        </p:nvSpPr>
        <p:spPr>
          <a:xfrm xmlns:a="http://schemas.openxmlformats.org/drawingml/2006/main">
            <a:off x="1447800" y="5676900"/>
            <a:ext cx="9525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334155"/>
                </a:solidFill>
                <a:latin typeface="Aptos"/>
                <a:ea typeface="Aptos"/>
                <a:cs typeface="Aptos"/>
              </a:defRPr>
            </a:pPr>
            <a:r>
              <a:rPr sz="1575" b="0">
                <a:solidFill>
                  <a:srgbClr val="334155"/>
                </a:solidFill>
                <a:latin typeface="Aptos"/>
                <a:ea typeface="Aptos"/>
                <a:cs typeface="Aptos"/>
              </a:rPr>
              <a:t>This project used classical probabilities, but the mindset reinforced why uncertainty had to be measured.</a:t>
            </a:r>
          </a:p>
        </p:txBody>
      </p:sp>
      <p:sp>
        <p:nvSpPr>
          <p:cNvPr id="24" name="">
            <a:extLst xmlns:a="http://schemas.openxmlformats.org/drawingml/2006/main">
              <a:ext uri="{FF2B5EF4-FFF2-40B4-BE49-F238E27FC236}">
                <a16:creationId xmlns:a16="http://schemas.microsoft.com/office/drawing/2014/main" id="{07F46514-3779-44DE-862C-63D9C08B933A}"/>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25" name="">
            <a:extLst xmlns:a="http://schemas.openxmlformats.org/drawingml/2006/main">
              <a:ext uri="{FF2B5EF4-FFF2-40B4-BE49-F238E27FC236}">
                <a16:creationId xmlns:a16="http://schemas.microsoft.com/office/drawing/2014/main" id="{CED5CAEA-2857-4D2C-BD31-737AF2E3006F}"/>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Conceptual analogy only. This project did not implement statistical mechanics simulation or quantum ML.</a:t>
            </a:r>
          </a:p>
        </p:txBody>
      </p:sp>
    </p:spTree>
    <p:extLst>
      <p:ext uri="{BB962C8B-B14F-4D97-AF65-F5344CB8AC3E}">
        <p14:creationId xmlns:p14="http://schemas.microsoft.com/office/powerpoint/2010/main" val="37519024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081E33-BB25-43C2-B0A0-97860351EF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B1020"/>
            </a:solidFill>
            <a:prstDash val="solid"/>
          </a:ln>
        </p:spPr>
      </p:sp>
      <p:sp>
        <p:nvSpPr>
          <p:cNvPr id="2" name="">
            <a:extLst xmlns:a="http://schemas.openxmlformats.org/drawingml/2006/main">
              <a:ext uri="{FF2B5EF4-FFF2-40B4-BE49-F238E27FC236}">
                <a16:creationId xmlns:a16="http://schemas.microsoft.com/office/drawing/2014/main" id="{EC017113-8F42-47A1-BD8E-FF00C8E5D212}"/>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3" name="">
            <a:extLst xmlns:a="http://schemas.openxmlformats.org/drawingml/2006/main">
              <a:ext uri="{FF2B5EF4-FFF2-40B4-BE49-F238E27FC236}">
                <a16:creationId xmlns:a16="http://schemas.microsoft.com/office/drawing/2014/main" id="{33B52FC8-1532-41DC-A6A1-4E71E1E6675B}"/>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C58B2B"/>
                </a:solidFill>
                <a:latin typeface="Aptos"/>
                <a:ea typeface="Aptos"/>
                <a:cs typeface="Aptos"/>
              </a:defRPr>
            </a:pPr>
            <a:r>
              <a:rPr sz="1050" b="1">
                <a:solidFill>
                  <a:srgbClr val="C58B2B"/>
                </a:solidFill>
                <a:latin typeface="Aptos"/>
                <a:ea typeface="Aptos"/>
                <a:cs typeface="Aptos"/>
              </a:rPr>
              <a:t>A QUANTUM DETOUR, CAREFULLY BOUNDED</a:t>
            </a:r>
          </a:p>
        </p:txBody>
      </p:sp>
      <p:sp>
        <p:nvSpPr>
          <p:cNvPr id="4" name="">
            <a:extLst xmlns:a="http://schemas.openxmlformats.org/drawingml/2006/main">
              <a:ext uri="{FF2B5EF4-FFF2-40B4-BE49-F238E27FC236}">
                <a16:creationId xmlns:a16="http://schemas.microsoft.com/office/drawing/2014/main" id="{3BF69A6E-5E9B-43D9-A4AC-05BC83E96A8B}"/>
              </a:ext>
            </a:extLst>
          </p:cNvPr>
          <p:cNvSpPr>
            <a:spLocks xmlns:a="http://schemas.openxmlformats.org/drawingml/2006/main" noGrp="1"/>
          </p:cNvSpPr>
          <p:nvPr/>
        </p:nvSpPr>
        <p:spPr>
          <a:xfrm xmlns:a="http://schemas.openxmlformats.org/drawingml/2006/main">
            <a:off x="514350" y="781050"/>
            <a:ext cx="72390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FFFFFF"/>
                </a:solidFill>
                <a:latin typeface="Aptos Display"/>
                <a:ea typeface="Aptos Display"/>
                <a:cs typeface="Aptos Display"/>
              </a:defRPr>
            </a:pPr>
            <a:r>
              <a:rPr sz="2700" b="1">
                <a:solidFill>
                  <a:srgbClr val="FFFFFF"/>
                </a:solidFill>
                <a:latin typeface="Aptos Display"/>
                <a:ea typeface="Aptos Display"/>
                <a:cs typeface="Aptos Display"/>
              </a:rPr>
              <a:t>Classical computing manipulates states. Quantum computing manipulates amplitudes.</a:t>
            </a:r>
          </a:p>
        </p:txBody>
      </p:sp>
      <p:sp>
        <p:nvSpPr>
          <p:cNvPr id="5" name="">
            <a:extLst xmlns:a="http://schemas.openxmlformats.org/drawingml/2006/main">
              <a:ext uri="{FF2B5EF4-FFF2-40B4-BE49-F238E27FC236}">
                <a16:creationId xmlns:a16="http://schemas.microsoft.com/office/drawing/2014/main" id="{C59AAA57-9271-4B15-BD2C-E2D005F6369B}"/>
              </a:ext>
            </a:extLst>
          </p:cNvPr>
          <p:cNvSpPr>
            <a:spLocks xmlns:a="http://schemas.openxmlformats.org/drawingml/2006/main" noGrp="1"/>
          </p:cNvSpPr>
          <p:nvPr/>
        </p:nvSpPr>
        <p:spPr>
          <a:xfrm xmlns:a="http://schemas.openxmlformats.org/drawingml/2006/main">
            <a:off x="533400" y="2333625"/>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DCE3EA"/>
                </a:solidFill>
                <a:latin typeface="Aptos"/>
                <a:ea typeface="Aptos"/>
                <a:cs typeface="Aptos"/>
              </a:defRPr>
            </a:pPr>
            <a:r>
              <a:rPr sz="1500" b="0">
                <a:solidFill>
                  <a:srgbClr val="DCE3EA"/>
                </a:solidFill>
                <a:latin typeface="Aptos"/>
                <a:ea typeface="Aptos"/>
                <a:cs typeface="Aptos"/>
              </a:rPr>
              <a:t>That distinction matters conceptually, but it is not a result of this project.</a:t>
            </a:r>
          </a:p>
        </p:txBody>
      </p:sp>
      <p:sp>
        <p:nvSpPr>
          <p:cNvPr id="6" name="">
            <a:extLst xmlns:a="http://schemas.openxmlformats.org/drawingml/2006/main">
              <a:ext uri="{FF2B5EF4-FFF2-40B4-BE49-F238E27FC236}">
                <a16:creationId xmlns:a16="http://schemas.microsoft.com/office/drawing/2014/main" id="{7D82EB31-1B69-4F95-A98C-2EF4C9EB66FE}"/>
              </a:ext>
            </a:extLst>
          </p:cNvPr>
          <p:cNvSpPr>
            <a:spLocks xmlns:a="http://schemas.openxmlformats.org/drawingml/2006/main" noGrp="1"/>
          </p:cNvSpPr>
          <p:nvPr/>
        </p:nvSpPr>
        <p:spPr>
          <a:xfrm xmlns:a="http://schemas.openxmlformats.org/drawingml/2006/main">
            <a:off x="1047750" y="3667125"/>
            <a:ext cx="28575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FFFFFF">
                <a:alpha val="40000"/>
              </a:srgbClr>
            </a:solidFill>
            <a:prstDash val="solid"/>
          </a:ln>
        </p:spPr>
      </p:sp>
      <p:sp>
        <p:nvSpPr>
          <p:cNvPr id="7" name="">
            <a:extLst xmlns:a="http://schemas.openxmlformats.org/drawingml/2006/main">
              <a:ext uri="{FF2B5EF4-FFF2-40B4-BE49-F238E27FC236}">
                <a16:creationId xmlns:a16="http://schemas.microsoft.com/office/drawing/2014/main" id="{E7DC7540-C26C-4E4A-A832-7BFDA45C48EF}"/>
              </a:ext>
            </a:extLst>
          </p:cNvPr>
          <p:cNvSpPr>
            <a:spLocks xmlns:a="http://schemas.openxmlformats.org/drawingml/2006/main" noGrp="1"/>
          </p:cNvSpPr>
          <p:nvPr/>
        </p:nvSpPr>
        <p:spPr>
          <a:xfrm xmlns:a="http://schemas.openxmlformats.org/drawingml/2006/main">
            <a:off x="1200150" y="3800475"/>
            <a:ext cx="25527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Classical</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explicit states</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0 or 1</a:t>
            </a:r>
          </a:p>
        </p:txBody>
      </p:sp>
      <p:sp>
        <p:nvSpPr>
          <p:cNvPr id="8" name="">
            <a:extLst xmlns:a="http://schemas.openxmlformats.org/drawingml/2006/main">
              <a:ext uri="{FF2B5EF4-FFF2-40B4-BE49-F238E27FC236}">
                <a16:creationId xmlns:a16="http://schemas.microsoft.com/office/drawing/2014/main" id="{E0DC23E5-3DF3-49CC-A1E7-431A683B41A9}"/>
              </a:ext>
            </a:extLst>
          </p:cNvPr>
          <p:cNvSpPr>
            <a:spLocks xmlns:a="http://schemas.openxmlformats.org/drawingml/2006/main" noGrp="1"/>
          </p:cNvSpPr>
          <p:nvPr/>
        </p:nvSpPr>
        <p:spPr>
          <a:xfrm xmlns:a="http://schemas.openxmlformats.org/drawingml/2006/main">
            <a:off x="4667250" y="3667125"/>
            <a:ext cx="2857500" cy="1238250"/>
          </a:xfrm>
          <a:prstGeom xmlns:a="http://schemas.openxmlformats.org/drawingml/2006/main" prst="rect">
            <a:avLst/>
          </a:prstGeom>
          <a:solidFill xmlns:a="http://schemas.openxmlformats.org/drawingml/2006/main">
            <a:srgbClr val="EFE1C6"/>
          </a:solidFill>
          <a:ln xmlns:a="http://schemas.openxmlformats.org/drawingml/2006/main" w="9525">
            <a:solidFill>
              <a:srgbClr val="FFFFFF">
                <a:alpha val="40000"/>
              </a:srgbClr>
            </a:solidFill>
            <a:prstDash val="solid"/>
          </a:ln>
        </p:spPr>
      </p:sp>
      <p:sp>
        <p:nvSpPr>
          <p:cNvPr id="9" name="">
            <a:extLst xmlns:a="http://schemas.openxmlformats.org/drawingml/2006/main">
              <a:ext uri="{FF2B5EF4-FFF2-40B4-BE49-F238E27FC236}">
                <a16:creationId xmlns:a16="http://schemas.microsoft.com/office/drawing/2014/main" id="{767E3161-54C9-4D49-96B8-AB21D309E2B4}"/>
              </a:ext>
            </a:extLst>
          </p:cNvPr>
          <p:cNvSpPr>
            <a:spLocks xmlns:a="http://schemas.openxmlformats.org/drawingml/2006/main" noGrp="1"/>
          </p:cNvSpPr>
          <p:nvPr/>
        </p:nvSpPr>
        <p:spPr>
          <a:xfrm xmlns:a="http://schemas.openxmlformats.org/drawingml/2006/main">
            <a:off x="4819650" y="3800475"/>
            <a:ext cx="25527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Quantum</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probability amplitudes</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superposition</a:t>
            </a:r>
          </a:p>
        </p:txBody>
      </p:sp>
      <p:sp>
        <p:nvSpPr>
          <p:cNvPr id="10" name="">
            <a:extLst xmlns:a="http://schemas.openxmlformats.org/drawingml/2006/main">
              <a:ext uri="{FF2B5EF4-FFF2-40B4-BE49-F238E27FC236}">
                <a16:creationId xmlns:a16="http://schemas.microsoft.com/office/drawing/2014/main" id="{608329E9-F9AC-438F-83B8-52C71CC12CD9}"/>
              </a:ext>
            </a:extLst>
          </p:cNvPr>
          <p:cNvSpPr>
            <a:spLocks xmlns:a="http://schemas.openxmlformats.org/drawingml/2006/main" noGrp="1"/>
          </p:cNvSpPr>
          <p:nvPr/>
        </p:nvSpPr>
        <p:spPr>
          <a:xfrm xmlns:a="http://schemas.openxmlformats.org/drawingml/2006/main">
            <a:off x="8286750" y="3667125"/>
            <a:ext cx="2857500" cy="1238250"/>
          </a:xfrm>
          <a:prstGeom xmlns:a="http://schemas.openxmlformats.org/drawingml/2006/main" prst="rect">
            <a:avLst/>
          </a:prstGeom>
          <a:solidFill xmlns:a="http://schemas.openxmlformats.org/drawingml/2006/main">
            <a:srgbClr val="DDE9DF"/>
          </a:solidFill>
          <a:ln xmlns:a="http://schemas.openxmlformats.org/drawingml/2006/main" w="9525">
            <a:solidFill>
              <a:srgbClr val="FFFFFF">
                <a:alpha val="40000"/>
              </a:srgbClr>
            </a:solidFill>
            <a:prstDash val="solid"/>
          </a:ln>
        </p:spPr>
      </p:sp>
      <p:sp>
        <p:nvSpPr>
          <p:cNvPr id="11" name="">
            <a:extLst xmlns:a="http://schemas.openxmlformats.org/drawingml/2006/main">
              <a:ext uri="{FF2B5EF4-FFF2-40B4-BE49-F238E27FC236}">
                <a16:creationId xmlns:a16="http://schemas.microsoft.com/office/drawing/2014/main" id="{EF81E2E0-975A-46A1-8CE0-80BCA43EB2AC}"/>
              </a:ext>
            </a:extLst>
          </p:cNvPr>
          <p:cNvSpPr>
            <a:spLocks xmlns:a="http://schemas.openxmlformats.org/drawingml/2006/main" noGrp="1"/>
          </p:cNvSpPr>
          <p:nvPr/>
        </p:nvSpPr>
        <p:spPr>
          <a:xfrm xmlns:a="http://schemas.openxmlformats.org/drawingml/2006/main">
            <a:off x="8439150" y="3800475"/>
            <a:ext cx="25527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Interference</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amplify / suppress</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candidate outcomes</a:t>
            </a:r>
          </a:p>
        </p:txBody>
      </p:sp>
      <p:sp>
        <p:nvSpPr>
          <p:cNvPr id="12" name="">
            <a:extLst xmlns:a="http://schemas.openxmlformats.org/drawingml/2006/main">
              <a:ext uri="{FF2B5EF4-FFF2-40B4-BE49-F238E27FC236}">
                <a16:creationId xmlns:a16="http://schemas.microsoft.com/office/drawing/2014/main" id="{9519E1E3-E01B-40C2-86EE-B88E70F19CC6}"/>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3" name="">
            <a:extLst xmlns:a="http://schemas.openxmlformats.org/drawingml/2006/main">
              <a:ext uri="{FF2B5EF4-FFF2-40B4-BE49-F238E27FC236}">
                <a16:creationId xmlns:a16="http://schemas.microsoft.com/office/drawing/2014/main" id="{4F1D9186-9DB6-4FDC-AEAF-D42496019589}"/>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Conceptual rationale only. Citation needed before submission. No quantum ML implemented in this repository.</a:t>
            </a:r>
          </a:p>
        </p:txBody>
      </p:sp>
    </p:spTree>
    <p:extLst>
      <p:ext uri="{BB962C8B-B14F-4D97-AF65-F5344CB8AC3E}">
        <p14:creationId xmlns:p14="http://schemas.microsoft.com/office/powerpoint/2010/main" val="19047787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A86CEF-52E1-42A6-B00F-976647FA25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574FAB61-30DD-4E52-A91A-757275EF81DF}"/>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86D9D2AF-4BCB-4D05-9467-27B5452E50BE}"/>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WHY NOT STOP AT CLASSICAL DESCRIPTORS?</a:t>
            </a:r>
          </a:p>
        </p:txBody>
      </p:sp>
      <p:sp>
        <p:nvSpPr>
          <p:cNvPr id="4" name="">
            <a:extLst xmlns:a="http://schemas.openxmlformats.org/drawingml/2006/main">
              <a:ext uri="{FF2B5EF4-FFF2-40B4-BE49-F238E27FC236}">
                <a16:creationId xmlns:a16="http://schemas.microsoft.com/office/drawing/2014/main" id="{096C95AA-5FDB-42CA-9BC9-7D6291551411}"/>
              </a:ext>
            </a:extLst>
          </p:cNvPr>
          <p:cNvSpPr>
            <a:spLocks xmlns:a="http://schemas.openxmlformats.org/drawingml/2006/main" noGrp="1"/>
          </p:cNvSpPr>
          <p:nvPr/>
        </p:nvSpPr>
        <p:spPr>
          <a:xfrm xmlns:a="http://schemas.openxmlformats.org/drawingml/2006/main">
            <a:off x="514350" y="781050"/>
            <a:ext cx="72390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625" b="1">
                <a:solidFill>
                  <a:srgbClr val="0B1020"/>
                </a:solidFill>
                <a:latin typeface="Aptos Display"/>
                <a:ea typeface="Aptos Display"/>
                <a:cs typeface="Aptos Display"/>
              </a:defRPr>
            </a:pPr>
            <a:r>
              <a:rPr sz="2625" b="1">
                <a:solidFill>
                  <a:srgbClr val="0B1020"/>
                </a:solidFill>
                <a:latin typeface="Aptos Display"/>
                <a:ea typeface="Aptos Display"/>
                <a:cs typeface="Aptos Display"/>
              </a:rPr>
              <a:t>Quantum was considered alongside classical descriptors, not chosen over them.</a:t>
            </a:r>
          </a:p>
        </p:txBody>
      </p:sp>
      <p:sp>
        <p:nvSpPr>
          <p:cNvPr id="5" name="">
            <a:extLst xmlns:a="http://schemas.openxmlformats.org/drawingml/2006/main">
              <a:ext uri="{FF2B5EF4-FFF2-40B4-BE49-F238E27FC236}">
                <a16:creationId xmlns:a16="http://schemas.microsoft.com/office/drawing/2014/main" id="{C59459AE-3459-43F2-A303-54073B703608}"/>
              </a:ext>
            </a:extLst>
          </p:cNvPr>
          <p:cNvSpPr>
            <a:spLocks xmlns:a="http://schemas.openxmlformats.org/drawingml/2006/main" noGrp="1"/>
          </p:cNvSpPr>
          <p:nvPr/>
        </p:nvSpPr>
        <p:spPr>
          <a:xfrm xmlns:a="http://schemas.openxmlformats.org/drawingml/2006/main">
            <a:off x="533400" y="23622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34155"/>
                </a:solidFill>
                <a:latin typeface="Aptos"/>
                <a:ea typeface="Aptos"/>
                <a:cs typeface="Aptos"/>
              </a:defRPr>
            </a:pPr>
            <a:r>
              <a:rPr sz="1425" b="0">
                <a:solidFill>
                  <a:srgbClr val="334155"/>
                </a:solidFill>
                <a:latin typeface="Aptos"/>
                <a:ea typeface="Aptos"/>
                <a:cs typeface="Aptos"/>
              </a:rPr>
              <a:t>Classical descriptors powered the current results; quantum thinking clarified what richer future representations could add.</a:t>
            </a:r>
          </a:p>
        </p:txBody>
      </p:sp>
      <p:sp>
        <p:nvSpPr>
          <p:cNvPr id="6" name="">
            <a:extLst xmlns:a="http://schemas.openxmlformats.org/drawingml/2006/main">
              <a:ext uri="{FF2B5EF4-FFF2-40B4-BE49-F238E27FC236}">
                <a16:creationId xmlns:a16="http://schemas.microsoft.com/office/drawing/2014/main" id="{B7FDDD3B-EE88-4508-BB83-6F5D3C276634}"/>
              </a:ext>
            </a:extLst>
          </p:cNvPr>
          <p:cNvSpPr>
            <a:spLocks xmlns:a="http://schemas.openxmlformats.org/drawingml/2006/main" noGrp="1"/>
          </p:cNvSpPr>
          <p:nvPr/>
        </p:nvSpPr>
        <p:spPr>
          <a:xfrm xmlns:a="http://schemas.openxmlformats.org/drawingml/2006/main">
            <a:off x="819150" y="3190875"/>
            <a:ext cx="2952750" cy="1123950"/>
          </a:xfrm>
          <a:prstGeom xmlns:a="http://schemas.openxmlformats.org/drawingml/2006/main" prst="rect">
            <a:avLst/>
          </a:prstGeom>
          <a:solidFill xmlns:a="http://schemas.openxmlformats.org/drawingml/2006/main">
            <a:srgbClr val="DDE7F7"/>
          </a:solidFill>
          <a:ln xmlns:a="http://schemas.openxmlformats.org/drawingml/2006/main" w="9525">
            <a:solidFill>
              <a:srgbClr val="FFFFFF">
                <a:alpha val="40000"/>
              </a:srgbClr>
            </a:solidFill>
            <a:prstDash val="solid"/>
          </a:ln>
        </p:spPr>
      </p:sp>
      <p:sp>
        <p:nvSpPr>
          <p:cNvPr id="7" name="">
            <a:extLst xmlns:a="http://schemas.openxmlformats.org/drawingml/2006/main">
              <a:ext uri="{FF2B5EF4-FFF2-40B4-BE49-F238E27FC236}">
                <a16:creationId xmlns:a16="http://schemas.microsoft.com/office/drawing/2014/main" id="{9B3E54FE-9BD6-4A8B-8039-475F960907F6}"/>
              </a:ext>
            </a:extLst>
          </p:cNvPr>
          <p:cNvSpPr>
            <a:spLocks xmlns:a="http://schemas.openxmlformats.org/drawingml/2006/main" noGrp="1"/>
          </p:cNvSpPr>
          <p:nvPr/>
        </p:nvSpPr>
        <p:spPr>
          <a:xfrm xmlns:a="http://schemas.openxmlformats.org/drawingml/2006/main">
            <a:off x="971550" y="3324225"/>
            <a:ext cx="26479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Current project</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classical QSAR descriptors</a:t>
            </a:r>
          </a:p>
        </p:txBody>
      </p:sp>
      <p:sp>
        <p:nvSpPr>
          <p:cNvPr id="8" name="">
            <a:extLst xmlns:a="http://schemas.openxmlformats.org/drawingml/2006/main">
              <a:ext uri="{FF2B5EF4-FFF2-40B4-BE49-F238E27FC236}">
                <a16:creationId xmlns:a16="http://schemas.microsoft.com/office/drawing/2014/main" id="{9CF64602-E2EF-471F-B75C-62E5B0659996}"/>
              </a:ext>
            </a:extLst>
          </p:cNvPr>
          <p:cNvSpPr>
            <a:spLocks xmlns:a="http://schemas.openxmlformats.org/drawingml/2006/main" noGrp="1"/>
          </p:cNvSpPr>
          <p:nvPr/>
        </p:nvSpPr>
        <p:spPr>
          <a:xfrm xmlns:a="http://schemas.openxmlformats.org/drawingml/2006/main">
            <a:off x="4619625" y="3190875"/>
            <a:ext cx="2952750" cy="1123950"/>
          </a:xfrm>
          <a:prstGeom xmlns:a="http://schemas.openxmlformats.org/drawingml/2006/main" prst="rect">
            <a:avLst/>
          </a:prstGeom>
          <a:solidFill xmlns:a="http://schemas.openxmlformats.org/drawingml/2006/main">
            <a:srgbClr val="EFE1C6"/>
          </a:solidFill>
          <a:ln xmlns:a="http://schemas.openxmlformats.org/drawingml/2006/main" w="9525">
            <a:solidFill>
              <a:srgbClr val="FFFFFF">
                <a:alpha val="40000"/>
              </a:srgbClr>
            </a:solidFill>
            <a:prstDash val="solid"/>
          </a:ln>
        </p:spPr>
      </p:sp>
      <p:sp>
        <p:nvSpPr>
          <p:cNvPr id="9" name="">
            <a:extLst xmlns:a="http://schemas.openxmlformats.org/drawingml/2006/main">
              <a:ext uri="{FF2B5EF4-FFF2-40B4-BE49-F238E27FC236}">
                <a16:creationId xmlns:a16="http://schemas.microsoft.com/office/drawing/2014/main" id="{B8200155-9E57-479C-9E06-CAE57203A1FD}"/>
              </a:ext>
            </a:extLst>
          </p:cNvPr>
          <p:cNvSpPr>
            <a:spLocks xmlns:a="http://schemas.openxmlformats.org/drawingml/2006/main" noGrp="1"/>
          </p:cNvSpPr>
          <p:nvPr/>
        </p:nvSpPr>
        <p:spPr>
          <a:xfrm xmlns:a="http://schemas.openxmlformats.org/drawingml/2006/main">
            <a:off x="4772025" y="3324225"/>
            <a:ext cx="26479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Proxy chemistry</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engineered summaries</a:t>
            </a:r>
          </a:p>
        </p:txBody>
      </p:sp>
      <p:sp>
        <p:nvSpPr>
          <p:cNvPr id="10" name="">
            <a:extLst xmlns:a="http://schemas.openxmlformats.org/drawingml/2006/main">
              <a:ext uri="{FF2B5EF4-FFF2-40B4-BE49-F238E27FC236}">
                <a16:creationId xmlns:a16="http://schemas.microsoft.com/office/drawing/2014/main" id="{4C3D6BBF-B53E-439D-B7E1-A0EC5C1305AE}"/>
              </a:ext>
            </a:extLst>
          </p:cNvPr>
          <p:cNvSpPr>
            <a:spLocks xmlns:a="http://schemas.openxmlformats.org/drawingml/2006/main" noGrp="1"/>
          </p:cNvSpPr>
          <p:nvPr/>
        </p:nvSpPr>
        <p:spPr>
          <a:xfrm xmlns:a="http://schemas.openxmlformats.org/drawingml/2006/main">
            <a:off x="8420100" y="3190875"/>
            <a:ext cx="2952750" cy="1123950"/>
          </a:xfrm>
          <a:prstGeom xmlns:a="http://schemas.openxmlformats.org/drawingml/2006/main" prst="rect">
            <a:avLst/>
          </a:prstGeom>
          <a:solidFill xmlns:a="http://schemas.openxmlformats.org/drawingml/2006/main">
            <a:srgbClr val="DDE9DF"/>
          </a:solidFill>
          <a:ln xmlns:a="http://schemas.openxmlformats.org/drawingml/2006/main" w="9525">
            <a:solidFill>
              <a:srgbClr val="FFFFFF">
                <a:alpha val="40000"/>
              </a:srgbClr>
            </a:solidFill>
            <a:prstDash val="solid"/>
          </a:ln>
        </p:spPr>
      </p:sp>
      <p:sp>
        <p:nvSpPr>
          <p:cNvPr id="11" name="">
            <a:extLst xmlns:a="http://schemas.openxmlformats.org/drawingml/2006/main">
              <a:ext uri="{FF2B5EF4-FFF2-40B4-BE49-F238E27FC236}">
                <a16:creationId xmlns:a16="http://schemas.microsoft.com/office/drawing/2014/main" id="{3EABD264-2829-45FF-BAAA-29B06FE26A03}"/>
              </a:ext>
            </a:extLst>
          </p:cNvPr>
          <p:cNvSpPr>
            <a:spLocks xmlns:a="http://schemas.openxmlformats.org/drawingml/2006/main" noGrp="1"/>
          </p:cNvSpPr>
          <p:nvPr/>
        </p:nvSpPr>
        <p:spPr>
          <a:xfrm xmlns:a="http://schemas.openxmlformats.org/drawingml/2006/main">
            <a:off x="8572500" y="3324225"/>
            <a:ext cx="26479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Future direction</a:t>
            </a:r>
          </a:p>
          <a:p xmlns:a="http://schemas.openxmlformats.org/drawingml/2006/main">
            <a:pPr algn="ctr">
              <a:defRPr sz="1425" b="1">
                <a:solidFill>
                  <a:srgbClr val="0B1020"/>
                </a:solidFill>
                <a:latin typeface="Aptos"/>
                <a:ea typeface="Aptos"/>
                <a:cs typeface="Aptos"/>
              </a:defRPr>
            </a:pPr>
            <a:r>
              <a:rPr sz="1425" b="1">
                <a:solidFill>
                  <a:srgbClr val="0B1020"/>
                </a:solidFill>
                <a:latin typeface="Aptos"/>
                <a:ea typeface="Aptos"/>
                <a:cs typeface="Aptos"/>
              </a:rPr>
              <a:t>computed quantum descriptors</a:t>
            </a:r>
          </a:p>
        </p:txBody>
      </p:sp>
      <p:sp>
        <p:nvSpPr>
          <p:cNvPr id="12" name="">
            <a:extLst xmlns:a="http://schemas.openxmlformats.org/drawingml/2006/main">
              <a:ext uri="{FF2B5EF4-FFF2-40B4-BE49-F238E27FC236}">
                <a16:creationId xmlns:a16="http://schemas.microsoft.com/office/drawing/2014/main" id="{2C490036-3BEE-4071-A5F4-B6FE2CA086BE}"/>
              </a:ext>
            </a:extLst>
          </p:cNvPr>
          <p:cNvSpPr>
            <a:spLocks xmlns:a="http://schemas.openxmlformats.org/drawingml/2006/main" noGrp="1"/>
          </p:cNvSpPr>
          <p:nvPr/>
        </p:nvSpPr>
        <p:spPr>
          <a:xfrm xmlns:a="http://schemas.openxmlformats.org/drawingml/2006/main">
            <a:off x="1000125" y="49434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3" name="">
            <a:extLst xmlns:a="http://schemas.openxmlformats.org/drawingml/2006/main">
              <a:ext uri="{FF2B5EF4-FFF2-40B4-BE49-F238E27FC236}">
                <a16:creationId xmlns:a16="http://schemas.microsoft.com/office/drawing/2014/main" id="{0069835F-B9BA-417B-A774-A77257AC0719}"/>
              </a:ext>
            </a:extLst>
          </p:cNvPr>
          <p:cNvSpPr>
            <a:spLocks xmlns:a="http://schemas.openxmlformats.org/drawingml/2006/main" noGrp="1"/>
          </p:cNvSpPr>
          <p:nvPr/>
        </p:nvSpPr>
        <p:spPr>
          <a:xfrm xmlns:a="http://schemas.openxmlformats.org/drawingml/2006/main">
            <a:off x="1209675" y="4857750"/>
            <a:ext cx="1000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Classical descriptors are practical, reproducible, and already supported by the dataset.</a:t>
            </a:r>
          </a:p>
        </p:txBody>
      </p:sp>
      <p:sp>
        <p:nvSpPr>
          <p:cNvPr id="14" name="">
            <a:extLst xmlns:a="http://schemas.openxmlformats.org/drawingml/2006/main">
              <a:ext uri="{FF2B5EF4-FFF2-40B4-BE49-F238E27FC236}">
                <a16:creationId xmlns:a16="http://schemas.microsoft.com/office/drawing/2014/main" id="{CD08E728-9EE9-40DD-969A-D53E1821E56F}"/>
              </a:ext>
            </a:extLst>
          </p:cNvPr>
          <p:cNvSpPr>
            <a:spLocks xmlns:a="http://schemas.openxmlformats.org/drawingml/2006/main" noGrp="1"/>
          </p:cNvSpPr>
          <p:nvPr/>
        </p:nvSpPr>
        <p:spPr>
          <a:xfrm xmlns:a="http://schemas.openxmlformats.org/drawingml/2006/main">
            <a:off x="1000125" y="53054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5" name="">
            <a:extLst xmlns:a="http://schemas.openxmlformats.org/drawingml/2006/main">
              <a:ext uri="{FF2B5EF4-FFF2-40B4-BE49-F238E27FC236}">
                <a16:creationId xmlns:a16="http://schemas.microsoft.com/office/drawing/2014/main" id="{F2E1232E-74A8-47A1-855A-74D457F245C2}"/>
              </a:ext>
            </a:extLst>
          </p:cNvPr>
          <p:cNvSpPr>
            <a:spLocks xmlns:a="http://schemas.openxmlformats.org/drawingml/2006/main" noGrp="1"/>
          </p:cNvSpPr>
          <p:nvPr/>
        </p:nvSpPr>
        <p:spPr>
          <a:xfrm xmlns:a="http://schemas.openxmlformats.org/drawingml/2006/main">
            <a:off x="1209675" y="5219700"/>
            <a:ext cx="1000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They may not fully represent electronic structure, conformational behavior, or interaction-driven chemistry.</a:t>
            </a:r>
          </a:p>
        </p:txBody>
      </p:sp>
      <p:sp>
        <p:nvSpPr>
          <p:cNvPr id="16" name="">
            <a:extLst xmlns:a="http://schemas.openxmlformats.org/drawingml/2006/main">
              <a:ext uri="{FF2B5EF4-FFF2-40B4-BE49-F238E27FC236}">
                <a16:creationId xmlns:a16="http://schemas.microsoft.com/office/drawing/2014/main" id="{B7CF83EA-2F47-4409-8593-1249D756AE18}"/>
              </a:ext>
            </a:extLst>
          </p:cNvPr>
          <p:cNvSpPr>
            <a:spLocks xmlns:a="http://schemas.openxmlformats.org/drawingml/2006/main" noGrp="1"/>
          </p:cNvSpPr>
          <p:nvPr/>
        </p:nvSpPr>
        <p:spPr>
          <a:xfrm xmlns:a="http://schemas.openxmlformats.org/drawingml/2006/main">
            <a:off x="1000125" y="56673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7" name="">
            <a:extLst xmlns:a="http://schemas.openxmlformats.org/drawingml/2006/main">
              <a:ext uri="{FF2B5EF4-FFF2-40B4-BE49-F238E27FC236}">
                <a16:creationId xmlns:a16="http://schemas.microsoft.com/office/drawing/2014/main" id="{4A76EF1E-BF77-412C-BC8B-A74618D0DFE7}"/>
              </a:ext>
            </a:extLst>
          </p:cNvPr>
          <p:cNvSpPr>
            <a:spLocks xmlns:a="http://schemas.openxmlformats.org/drawingml/2006/main" noGrp="1"/>
          </p:cNvSpPr>
          <p:nvPr/>
        </p:nvSpPr>
        <p:spPr>
          <a:xfrm xmlns:a="http://schemas.openxmlformats.org/drawingml/2006/main">
            <a:off x="1209675" y="5581650"/>
            <a:ext cx="1000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Quantum descriptors could eventually add HOMO-LUMO gap, dipole moment, polarizability, and charge-distribution information.</a:t>
            </a:r>
          </a:p>
        </p:txBody>
      </p:sp>
      <p:sp>
        <p:nvSpPr>
          <p:cNvPr id="18" name="">
            <a:extLst xmlns:a="http://schemas.openxmlformats.org/drawingml/2006/main">
              <a:ext uri="{FF2B5EF4-FFF2-40B4-BE49-F238E27FC236}">
                <a16:creationId xmlns:a16="http://schemas.microsoft.com/office/drawing/2014/main" id="{7501AA8C-4372-4B38-B47A-CF215BF54922}"/>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9" name="">
            <a:extLst xmlns:a="http://schemas.openxmlformats.org/drawingml/2006/main">
              <a:ext uri="{FF2B5EF4-FFF2-40B4-BE49-F238E27FC236}">
                <a16:creationId xmlns:a16="http://schemas.microsoft.com/office/drawing/2014/main" id="{09829B7C-CE8D-41EB-8B15-921CF6799784}"/>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Sources: reports/feature_engineering_summary.txt; paper/manuscript_draft.md. Future-work rationale only.</a:t>
            </a:r>
          </a:p>
        </p:txBody>
      </p:sp>
    </p:spTree>
    <p:extLst>
      <p:ext uri="{BB962C8B-B14F-4D97-AF65-F5344CB8AC3E}">
        <p14:creationId xmlns:p14="http://schemas.microsoft.com/office/powerpoint/2010/main" val="44567758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A93BC49-29FE-43BF-89EB-439F28E81E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6F37400C-9FEB-486E-8A18-9BDF575FB424}"/>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D2029741-1EC4-4C51-8A74-BD2072B025BA}"/>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HOW DID IT BENEFIT THE PROJECT?</a:t>
            </a:r>
          </a:p>
        </p:txBody>
      </p:sp>
      <p:sp>
        <p:nvSpPr>
          <p:cNvPr id="4" name="">
            <a:extLst xmlns:a="http://schemas.openxmlformats.org/drawingml/2006/main">
              <a:ext uri="{FF2B5EF4-FFF2-40B4-BE49-F238E27FC236}">
                <a16:creationId xmlns:a16="http://schemas.microsoft.com/office/drawing/2014/main" id="{E74B0172-3E08-4E94-B4B2-29CF82AC8755}"/>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benefit was conceptual and methodological.</a:t>
            </a:r>
          </a:p>
        </p:txBody>
      </p:sp>
      <p:sp>
        <p:nvSpPr>
          <p:cNvPr id="5" name="">
            <a:extLst xmlns:a="http://schemas.openxmlformats.org/drawingml/2006/main">
              <a:ext uri="{FF2B5EF4-FFF2-40B4-BE49-F238E27FC236}">
                <a16:creationId xmlns:a16="http://schemas.microsoft.com/office/drawing/2014/main" id="{F318F056-1556-45F0-ABA8-EB7F4680467B}"/>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Quantum framing did not improve metrics yet, but it sharpened the scientific roadmap.</a:t>
            </a:r>
          </a:p>
        </p:txBody>
      </p:sp>
      <p:sp>
        <p:nvSpPr>
          <p:cNvPr id="6" name="">
            <a:extLst xmlns:a="http://schemas.openxmlformats.org/drawingml/2006/main">
              <a:ext uri="{FF2B5EF4-FFF2-40B4-BE49-F238E27FC236}">
                <a16:creationId xmlns:a16="http://schemas.microsoft.com/office/drawing/2014/main" id="{F98205D4-A7E9-420B-9EC6-151B2A84CD9E}"/>
              </a:ext>
            </a:extLst>
          </p:cNvPr>
          <p:cNvSpPr>
            <a:spLocks xmlns:a="http://schemas.openxmlformats.org/drawingml/2006/main" noGrp="1"/>
          </p:cNvSpPr>
          <p:nvPr/>
        </p:nvSpPr>
        <p:spPr>
          <a:xfrm xmlns:a="http://schemas.openxmlformats.org/drawingml/2006/main">
            <a:off x="1143000" y="28003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7" name="">
            <a:extLst xmlns:a="http://schemas.openxmlformats.org/drawingml/2006/main">
              <a:ext uri="{FF2B5EF4-FFF2-40B4-BE49-F238E27FC236}">
                <a16:creationId xmlns:a16="http://schemas.microsoft.com/office/drawing/2014/main" id="{B6C93C83-581D-488E-9E58-DD75D079C67D}"/>
              </a:ext>
            </a:extLst>
          </p:cNvPr>
          <p:cNvSpPr>
            <a:spLocks xmlns:a="http://schemas.openxmlformats.org/drawingml/2006/main" noGrp="1"/>
          </p:cNvSpPr>
          <p:nvPr/>
        </p:nvSpPr>
        <p:spPr>
          <a:xfrm xmlns:a="http://schemas.openxmlformats.org/drawingml/2006/main">
            <a:off x="1352550" y="2714625"/>
            <a:ext cx="9334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0B1020"/>
                </a:solidFill>
                <a:latin typeface="Aptos"/>
                <a:ea typeface="Aptos"/>
                <a:cs typeface="Aptos"/>
              </a:defRPr>
            </a:pPr>
            <a:r>
              <a:rPr sz="1800" b="0">
                <a:solidFill>
                  <a:srgbClr val="0B1020"/>
                </a:solidFill>
                <a:latin typeface="Aptos"/>
                <a:ea typeface="Aptos"/>
                <a:cs typeface="Aptos"/>
              </a:rPr>
              <a:t>It separated proxy chemistry features from true computed quantum descriptors.</a:t>
            </a:r>
          </a:p>
        </p:txBody>
      </p:sp>
      <p:sp>
        <p:nvSpPr>
          <p:cNvPr id="8" name="">
            <a:extLst xmlns:a="http://schemas.openxmlformats.org/drawingml/2006/main">
              <a:ext uri="{FF2B5EF4-FFF2-40B4-BE49-F238E27FC236}">
                <a16:creationId xmlns:a16="http://schemas.microsoft.com/office/drawing/2014/main" id="{9E2E343C-F4DA-4EB8-AEAD-39513804B044}"/>
              </a:ext>
            </a:extLst>
          </p:cNvPr>
          <p:cNvSpPr>
            <a:spLocks xmlns:a="http://schemas.openxmlformats.org/drawingml/2006/main" noGrp="1"/>
          </p:cNvSpPr>
          <p:nvPr/>
        </p:nvSpPr>
        <p:spPr>
          <a:xfrm xmlns:a="http://schemas.openxmlformats.org/drawingml/2006/main">
            <a:off x="1143000" y="34099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9" name="">
            <a:extLst xmlns:a="http://schemas.openxmlformats.org/drawingml/2006/main">
              <a:ext uri="{FF2B5EF4-FFF2-40B4-BE49-F238E27FC236}">
                <a16:creationId xmlns:a16="http://schemas.microsoft.com/office/drawing/2014/main" id="{E607B280-CDE1-4A43-8203-9937969F1F4A}"/>
              </a:ext>
            </a:extLst>
          </p:cNvPr>
          <p:cNvSpPr>
            <a:spLocks xmlns:a="http://schemas.openxmlformats.org/drawingml/2006/main" noGrp="1"/>
          </p:cNvSpPr>
          <p:nvPr/>
        </p:nvSpPr>
        <p:spPr>
          <a:xfrm xmlns:a="http://schemas.openxmlformats.org/drawingml/2006/main">
            <a:off x="1352550" y="3324225"/>
            <a:ext cx="9334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0B1020"/>
                </a:solidFill>
                <a:latin typeface="Aptos"/>
                <a:ea typeface="Aptos"/>
                <a:cs typeface="Aptos"/>
              </a:defRPr>
            </a:pPr>
            <a:r>
              <a:rPr sz="1800" b="0">
                <a:solidFill>
                  <a:srgbClr val="0B1020"/>
                </a:solidFill>
                <a:latin typeface="Aptos"/>
                <a:ea typeface="Aptos"/>
                <a:cs typeface="Aptos"/>
              </a:rPr>
              <a:t>It reinforced that biodegradation prediction is probabilistic, not merely deterministic label lookup.</a:t>
            </a:r>
          </a:p>
        </p:txBody>
      </p:sp>
      <p:sp>
        <p:nvSpPr>
          <p:cNvPr id="10" name="">
            <a:extLst xmlns:a="http://schemas.openxmlformats.org/drawingml/2006/main">
              <a:ext uri="{FF2B5EF4-FFF2-40B4-BE49-F238E27FC236}">
                <a16:creationId xmlns:a16="http://schemas.microsoft.com/office/drawing/2014/main" id="{AA6F22CF-DD30-4DB9-A4D6-41864BC12EB8}"/>
              </a:ext>
            </a:extLst>
          </p:cNvPr>
          <p:cNvSpPr>
            <a:spLocks xmlns:a="http://schemas.openxmlformats.org/drawingml/2006/main" noGrp="1"/>
          </p:cNvSpPr>
          <p:nvPr/>
        </p:nvSpPr>
        <p:spPr>
          <a:xfrm xmlns:a="http://schemas.openxmlformats.org/drawingml/2006/main">
            <a:off x="1143000" y="40195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1" name="">
            <a:extLst xmlns:a="http://schemas.openxmlformats.org/drawingml/2006/main">
              <a:ext uri="{FF2B5EF4-FFF2-40B4-BE49-F238E27FC236}">
                <a16:creationId xmlns:a16="http://schemas.microsoft.com/office/drawing/2014/main" id="{81E449B0-9DB9-4CC3-9505-C0C941A89F98}"/>
              </a:ext>
            </a:extLst>
          </p:cNvPr>
          <p:cNvSpPr>
            <a:spLocks xmlns:a="http://schemas.openxmlformats.org/drawingml/2006/main" noGrp="1"/>
          </p:cNvSpPr>
          <p:nvPr/>
        </p:nvSpPr>
        <p:spPr>
          <a:xfrm xmlns:a="http://schemas.openxmlformats.org/drawingml/2006/main">
            <a:off x="1352550" y="3933825"/>
            <a:ext cx="9334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0B1020"/>
                </a:solidFill>
                <a:latin typeface="Aptos"/>
                <a:ea typeface="Aptos"/>
                <a:cs typeface="Aptos"/>
              </a:defRPr>
            </a:pPr>
            <a:r>
              <a:rPr sz="1800" b="0">
                <a:solidFill>
                  <a:srgbClr val="0B1020"/>
                </a:solidFill>
                <a:latin typeface="Aptos"/>
                <a:ea typeface="Aptos"/>
                <a:cs typeface="Aptos"/>
              </a:rPr>
              <a:t>It supported the decision to evaluate calibration, uncertainty, and overconfidence.</a:t>
            </a:r>
          </a:p>
        </p:txBody>
      </p:sp>
      <p:sp>
        <p:nvSpPr>
          <p:cNvPr id="12" name="">
            <a:extLst xmlns:a="http://schemas.openxmlformats.org/drawingml/2006/main">
              <a:ext uri="{FF2B5EF4-FFF2-40B4-BE49-F238E27FC236}">
                <a16:creationId xmlns:a16="http://schemas.microsoft.com/office/drawing/2014/main" id="{E8042F8E-AD07-47D9-BEDC-9EE5E4A40353}"/>
              </a:ext>
            </a:extLst>
          </p:cNvPr>
          <p:cNvSpPr>
            <a:spLocks xmlns:a="http://schemas.openxmlformats.org/drawingml/2006/main" noGrp="1"/>
          </p:cNvSpPr>
          <p:nvPr/>
        </p:nvSpPr>
        <p:spPr>
          <a:xfrm xmlns:a="http://schemas.openxmlformats.org/drawingml/2006/main">
            <a:off x="1143000" y="46291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3" name="">
            <a:extLst xmlns:a="http://schemas.openxmlformats.org/drawingml/2006/main">
              <a:ext uri="{FF2B5EF4-FFF2-40B4-BE49-F238E27FC236}">
                <a16:creationId xmlns:a16="http://schemas.microsoft.com/office/drawing/2014/main" id="{0CA13498-04E0-4B4E-B5CE-B47FA8EDB61F}"/>
              </a:ext>
            </a:extLst>
          </p:cNvPr>
          <p:cNvSpPr>
            <a:spLocks xmlns:a="http://schemas.openxmlformats.org/drawingml/2006/main" noGrp="1"/>
          </p:cNvSpPr>
          <p:nvPr/>
        </p:nvSpPr>
        <p:spPr>
          <a:xfrm xmlns:a="http://schemas.openxmlformats.org/drawingml/2006/main">
            <a:off x="1352550" y="4543425"/>
            <a:ext cx="9334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0B1020"/>
                </a:solidFill>
                <a:latin typeface="Aptos"/>
                <a:ea typeface="Aptos"/>
                <a:cs typeface="Aptos"/>
              </a:defRPr>
            </a:pPr>
            <a:r>
              <a:rPr sz="1800" b="0">
                <a:solidFill>
                  <a:srgbClr val="0B1020"/>
                </a:solidFill>
                <a:latin typeface="Aptos"/>
                <a:ea typeface="Aptos"/>
                <a:cs typeface="Aptos"/>
              </a:rPr>
              <a:t>It created a future benchmark question: do richer representations improve reliability, not just accuracy?</a:t>
            </a:r>
          </a:p>
        </p:txBody>
      </p:sp>
      <p:sp>
        <p:nvSpPr>
          <p:cNvPr id="14" name="">
            <a:extLst xmlns:a="http://schemas.openxmlformats.org/drawingml/2006/main">
              <a:ext uri="{FF2B5EF4-FFF2-40B4-BE49-F238E27FC236}">
                <a16:creationId xmlns:a16="http://schemas.microsoft.com/office/drawing/2014/main" id="{6E762E82-0D6E-4CD9-B159-0398CE14D16D}"/>
              </a:ext>
            </a:extLst>
          </p:cNvPr>
          <p:cNvSpPr>
            <a:spLocks xmlns:a="http://schemas.openxmlformats.org/drawingml/2006/main" noGrp="1"/>
          </p:cNvSpPr>
          <p:nvPr/>
        </p:nvSpPr>
        <p:spPr>
          <a:xfrm xmlns:a="http://schemas.openxmlformats.org/drawingml/2006/main">
            <a:off x="1524000" y="5619750"/>
            <a:ext cx="9144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B54747"/>
                </a:solidFill>
                <a:latin typeface="Aptos"/>
                <a:ea typeface="Aptos"/>
                <a:cs typeface="Aptos"/>
              </a:defRPr>
            </a:pPr>
            <a:r>
              <a:rPr sz="1650" b="1">
                <a:solidFill>
                  <a:srgbClr val="B54747"/>
                </a:solidFill>
                <a:latin typeface="Aptos"/>
                <a:ea typeface="Aptos"/>
                <a:cs typeface="Aptos"/>
              </a:rPr>
              <a:t>No implemented quantum model. No claimed quantum advantage. No metric improvement attributed to quantum methods.</a:t>
            </a:r>
          </a:p>
        </p:txBody>
      </p:sp>
      <p:sp>
        <p:nvSpPr>
          <p:cNvPr id="15" name="">
            <a:extLst xmlns:a="http://schemas.openxmlformats.org/drawingml/2006/main">
              <a:ext uri="{FF2B5EF4-FFF2-40B4-BE49-F238E27FC236}">
                <a16:creationId xmlns:a16="http://schemas.microsoft.com/office/drawing/2014/main" id="{6499BB20-EB46-4A02-B2D6-96C4AFD517CF}"/>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6" name="">
            <a:extLst xmlns:a="http://schemas.openxmlformats.org/drawingml/2006/main">
              <a:ext uri="{FF2B5EF4-FFF2-40B4-BE49-F238E27FC236}">
                <a16:creationId xmlns:a16="http://schemas.microsoft.com/office/drawing/2014/main" id="{EF3F1E9C-09BF-436B-BE82-44827E43FEFE}"/>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Evidence boundary: current results come from classical ML models and reliability analysis.</a:t>
            </a:r>
          </a:p>
        </p:txBody>
      </p:sp>
    </p:spTree>
    <p:extLst>
      <p:ext uri="{BB962C8B-B14F-4D97-AF65-F5344CB8AC3E}">
        <p14:creationId xmlns:p14="http://schemas.microsoft.com/office/powerpoint/2010/main" val="197200291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646B6AA-D995-4155-A413-3E8CA5782F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5956F16E-64CA-4ECA-B27D-6CD7F5ED7F0B}"/>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61746807-AF66-40FA-BB24-5471A9687A68}"/>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WHY QUANTUM METHODS WERE CONSIDERED</a:t>
            </a:r>
          </a:p>
        </p:txBody>
      </p:sp>
      <p:sp>
        <p:nvSpPr>
          <p:cNvPr id="4" name="">
            <a:extLst xmlns:a="http://schemas.openxmlformats.org/drawingml/2006/main">
              <a:ext uri="{FF2B5EF4-FFF2-40B4-BE49-F238E27FC236}">
                <a16:creationId xmlns:a16="http://schemas.microsoft.com/office/drawing/2014/main" id="{F5F07A49-567B-437F-A06C-2664E01D0173}"/>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motivation was representation, not hype.</a:t>
            </a:r>
          </a:p>
        </p:txBody>
      </p:sp>
      <p:sp>
        <p:nvSpPr>
          <p:cNvPr id="5" name="">
            <a:extLst xmlns:a="http://schemas.openxmlformats.org/drawingml/2006/main">
              <a:ext uri="{FF2B5EF4-FFF2-40B4-BE49-F238E27FC236}">
                <a16:creationId xmlns:a16="http://schemas.microsoft.com/office/drawing/2014/main" id="{6D39B3C1-2E3F-403D-BE80-4E485D235879}"/>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For chemical prediction, the interesting question is whether alternative probabilistic representations help.</a:t>
            </a:r>
          </a:p>
        </p:txBody>
      </p:sp>
      <p:sp>
        <p:nvSpPr>
          <p:cNvPr id="6" name="">
            <a:extLst xmlns:a="http://schemas.openxmlformats.org/drawingml/2006/main">
              <a:ext uri="{FF2B5EF4-FFF2-40B4-BE49-F238E27FC236}">
                <a16:creationId xmlns:a16="http://schemas.microsoft.com/office/drawing/2014/main" id="{A186B816-03AF-445B-836D-CF77781EB1F3}"/>
              </a:ext>
            </a:extLst>
          </p:cNvPr>
          <p:cNvSpPr>
            <a:spLocks xmlns:a="http://schemas.openxmlformats.org/drawingml/2006/main" noGrp="1"/>
          </p:cNvSpPr>
          <p:nvPr/>
        </p:nvSpPr>
        <p:spPr>
          <a:xfrm xmlns:a="http://schemas.openxmlformats.org/drawingml/2006/main">
            <a:off x="1104900" y="27527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7" name="">
            <a:extLst xmlns:a="http://schemas.openxmlformats.org/drawingml/2006/main">
              <a:ext uri="{FF2B5EF4-FFF2-40B4-BE49-F238E27FC236}">
                <a16:creationId xmlns:a16="http://schemas.microsoft.com/office/drawing/2014/main" id="{A48DA1CF-14FE-4AD8-AEDD-304C5A78F077}"/>
              </a:ext>
            </a:extLst>
          </p:cNvPr>
          <p:cNvSpPr>
            <a:spLocks xmlns:a="http://schemas.openxmlformats.org/drawingml/2006/main" noGrp="1"/>
          </p:cNvSpPr>
          <p:nvPr/>
        </p:nvSpPr>
        <p:spPr>
          <a:xfrm xmlns:a="http://schemas.openxmlformats.org/drawingml/2006/main">
            <a:off x="1314450" y="2667000"/>
            <a:ext cx="9525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0B1020"/>
                </a:solidFill>
                <a:latin typeface="Aptos"/>
                <a:ea typeface="Aptos"/>
                <a:cs typeface="Aptos"/>
              </a:defRPr>
            </a:pPr>
            <a:r>
              <a:rPr sz="1800" b="0">
                <a:solidFill>
                  <a:srgbClr val="0B1020"/>
                </a:solidFill>
                <a:latin typeface="Aptos"/>
                <a:ea typeface="Aptos"/>
                <a:cs typeface="Aptos"/>
              </a:rPr>
              <a:t>High-dimensional chemical relationships can be nonlinear and uncertain.</a:t>
            </a:r>
          </a:p>
        </p:txBody>
      </p:sp>
      <p:sp>
        <p:nvSpPr>
          <p:cNvPr id="8" name="">
            <a:extLst xmlns:a="http://schemas.openxmlformats.org/drawingml/2006/main">
              <a:ext uri="{FF2B5EF4-FFF2-40B4-BE49-F238E27FC236}">
                <a16:creationId xmlns:a16="http://schemas.microsoft.com/office/drawing/2014/main" id="{E4DBB499-56BD-4BBC-AE90-1DBD5EF15564}"/>
              </a:ext>
            </a:extLst>
          </p:cNvPr>
          <p:cNvSpPr>
            <a:spLocks xmlns:a="http://schemas.openxmlformats.org/drawingml/2006/main" noGrp="1"/>
          </p:cNvSpPr>
          <p:nvPr/>
        </p:nvSpPr>
        <p:spPr>
          <a:xfrm xmlns:a="http://schemas.openxmlformats.org/drawingml/2006/main">
            <a:off x="1104900" y="33813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9" name="">
            <a:extLst xmlns:a="http://schemas.openxmlformats.org/drawingml/2006/main">
              <a:ext uri="{FF2B5EF4-FFF2-40B4-BE49-F238E27FC236}">
                <a16:creationId xmlns:a16="http://schemas.microsoft.com/office/drawing/2014/main" id="{E5F905F7-E063-495A-90AE-E109F50F29F4}"/>
              </a:ext>
            </a:extLst>
          </p:cNvPr>
          <p:cNvSpPr>
            <a:spLocks xmlns:a="http://schemas.openxmlformats.org/drawingml/2006/main" noGrp="1"/>
          </p:cNvSpPr>
          <p:nvPr/>
        </p:nvSpPr>
        <p:spPr>
          <a:xfrm xmlns:a="http://schemas.openxmlformats.org/drawingml/2006/main">
            <a:off x="1314450" y="3295650"/>
            <a:ext cx="9525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0B1020"/>
                </a:solidFill>
                <a:latin typeface="Aptos"/>
                <a:ea typeface="Aptos"/>
                <a:cs typeface="Aptos"/>
              </a:defRPr>
            </a:pPr>
            <a:r>
              <a:rPr sz="1800" b="0">
                <a:solidFill>
                  <a:srgbClr val="0B1020"/>
                </a:solidFill>
                <a:latin typeface="Aptos"/>
                <a:ea typeface="Aptos"/>
                <a:cs typeface="Aptos"/>
              </a:rPr>
              <a:t>Quantum algorithms can be understood as engineering probability-amplitude evolution.</a:t>
            </a:r>
          </a:p>
        </p:txBody>
      </p:sp>
      <p:sp>
        <p:nvSpPr>
          <p:cNvPr id="10" name="">
            <a:extLst xmlns:a="http://schemas.openxmlformats.org/drawingml/2006/main">
              <a:ext uri="{FF2B5EF4-FFF2-40B4-BE49-F238E27FC236}">
                <a16:creationId xmlns:a16="http://schemas.microsoft.com/office/drawing/2014/main" id="{F2C602BE-5E78-48A4-BC5F-F08D32E0F48E}"/>
              </a:ext>
            </a:extLst>
          </p:cNvPr>
          <p:cNvSpPr>
            <a:spLocks xmlns:a="http://schemas.openxmlformats.org/drawingml/2006/main" noGrp="1"/>
          </p:cNvSpPr>
          <p:nvPr/>
        </p:nvSpPr>
        <p:spPr>
          <a:xfrm xmlns:a="http://schemas.openxmlformats.org/drawingml/2006/main">
            <a:off x="1104900" y="40100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1" name="">
            <a:extLst xmlns:a="http://schemas.openxmlformats.org/drawingml/2006/main">
              <a:ext uri="{FF2B5EF4-FFF2-40B4-BE49-F238E27FC236}">
                <a16:creationId xmlns:a16="http://schemas.microsoft.com/office/drawing/2014/main" id="{3D63DF53-788B-4285-BFEF-4FD285BC0745}"/>
              </a:ext>
            </a:extLst>
          </p:cNvPr>
          <p:cNvSpPr>
            <a:spLocks xmlns:a="http://schemas.openxmlformats.org/drawingml/2006/main" noGrp="1"/>
          </p:cNvSpPr>
          <p:nvPr/>
        </p:nvSpPr>
        <p:spPr>
          <a:xfrm xmlns:a="http://schemas.openxmlformats.org/drawingml/2006/main">
            <a:off x="1314450" y="3924300"/>
            <a:ext cx="9525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0B1020"/>
                </a:solidFill>
                <a:latin typeface="Aptos"/>
                <a:ea typeface="Aptos"/>
                <a:cs typeface="Aptos"/>
              </a:defRPr>
            </a:pPr>
            <a:r>
              <a:rPr sz="1800" b="0">
                <a:solidFill>
                  <a:srgbClr val="0B1020"/>
                </a:solidFill>
                <a:latin typeface="Aptos"/>
                <a:ea typeface="Aptos"/>
                <a:cs typeface="Aptos"/>
              </a:rPr>
              <a:t>Future work would need a defined encoding, simulator or hardware constraints, and direct comparison against classical reliability metrics.</a:t>
            </a:r>
          </a:p>
        </p:txBody>
      </p:sp>
      <p:sp>
        <p:nvSpPr>
          <p:cNvPr id="12" name="">
            <a:extLst xmlns:a="http://schemas.openxmlformats.org/drawingml/2006/main">
              <a:ext uri="{FF2B5EF4-FFF2-40B4-BE49-F238E27FC236}">
                <a16:creationId xmlns:a16="http://schemas.microsoft.com/office/drawing/2014/main" id="{2C909477-7314-4140-9102-F602DCFEAFF7}"/>
              </a:ext>
            </a:extLst>
          </p:cNvPr>
          <p:cNvSpPr>
            <a:spLocks xmlns:a="http://schemas.openxmlformats.org/drawingml/2006/main" noGrp="1"/>
          </p:cNvSpPr>
          <p:nvPr/>
        </p:nvSpPr>
        <p:spPr>
          <a:xfrm xmlns:a="http://schemas.openxmlformats.org/drawingml/2006/main">
            <a:off x="1104900" y="463867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3" name="">
            <a:extLst xmlns:a="http://schemas.openxmlformats.org/drawingml/2006/main">
              <a:ext uri="{FF2B5EF4-FFF2-40B4-BE49-F238E27FC236}">
                <a16:creationId xmlns:a16="http://schemas.microsoft.com/office/drawing/2014/main" id="{7556933B-B7F1-4E02-987E-D7629230025B}"/>
              </a:ext>
            </a:extLst>
          </p:cNvPr>
          <p:cNvSpPr>
            <a:spLocks xmlns:a="http://schemas.openxmlformats.org/drawingml/2006/main" noGrp="1"/>
          </p:cNvSpPr>
          <p:nvPr/>
        </p:nvSpPr>
        <p:spPr>
          <a:xfrm xmlns:a="http://schemas.openxmlformats.org/drawingml/2006/main">
            <a:off x="1314450" y="4552950"/>
            <a:ext cx="95250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0B1020"/>
                </a:solidFill>
                <a:latin typeface="Aptos"/>
                <a:ea typeface="Aptos"/>
                <a:cs typeface="Aptos"/>
              </a:defRPr>
            </a:pPr>
            <a:r>
              <a:rPr sz="1800" b="0">
                <a:solidFill>
                  <a:srgbClr val="0B1020"/>
                </a:solidFill>
                <a:latin typeface="Aptos"/>
                <a:ea typeface="Aptos"/>
                <a:cs typeface="Aptos"/>
              </a:rPr>
              <a:t>No claim of quantum speedup or quantum advantage is made here.</a:t>
            </a:r>
          </a:p>
        </p:txBody>
      </p:sp>
      <p:sp>
        <p:nvSpPr>
          <p:cNvPr id="14" name="">
            <a:extLst xmlns:a="http://schemas.openxmlformats.org/drawingml/2006/main">
              <a:ext uri="{FF2B5EF4-FFF2-40B4-BE49-F238E27FC236}">
                <a16:creationId xmlns:a16="http://schemas.microsoft.com/office/drawing/2014/main" id="{92A6BFD7-B874-4908-96A5-66E7CC6F1AB2}"/>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5" name="">
            <a:extLst xmlns:a="http://schemas.openxmlformats.org/drawingml/2006/main">
              <a:ext uri="{FF2B5EF4-FFF2-40B4-BE49-F238E27FC236}">
                <a16:creationId xmlns:a16="http://schemas.microsoft.com/office/drawing/2014/main" id="{3F8CC4B2-1C89-40D0-87A9-D13FFEBC2864}"/>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paper/manuscript_draft.md, Section 4.7. Quantum information citation still needed.</a:t>
            </a:r>
          </a:p>
        </p:txBody>
      </p:sp>
    </p:spTree>
    <p:extLst>
      <p:ext uri="{BB962C8B-B14F-4D97-AF65-F5344CB8AC3E}">
        <p14:creationId xmlns:p14="http://schemas.microsoft.com/office/powerpoint/2010/main" val="1544560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B10FBC-0968-47AE-92C9-3F0675B3F5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ADD6992C-3184-4A88-87A8-E66DB0B14968}"/>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CDDA1B32-A014-4761-ACEE-94953FEBD722}"/>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FINAL MODEL SELECTION</a:t>
            </a:r>
          </a:p>
        </p:txBody>
      </p:sp>
      <p:sp>
        <p:nvSpPr>
          <p:cNvPr id="4" name="">
            <a:extLst xmlns:a="http://schemas.openxmlformats.org/drawingml/2006/main">
              <a:ext uri="{FF2B5EF4-FFF2-40B4-BE49-F238E27FC236}">
                <a16:creationId xmlns:a16="http://schemas.microsoft.com/office/drawing/2014/main" id="{D8642A53-2496-4332-904C-DA22CC537170}"/>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final choice was balanced, not one-metric-best.</a:t>
            </a:r>
          </a:p>
        </p:txBody>
      </p:sp>
      <p:sp>
        <p:nvSpPr>
          <p:cNvPr id="5" name="">
            <a:extLst xmlns:a="http://schemas.openxmlformats.org/drawingml/2006/main">
              <a:ext uri="{FF2B5EF4-FFF2-40B4-BE49-F238E27FC236}">
                <a16:creationId xmlns:a16="http://schemas.microsoft.com/office/drawing/2014/main" id="{10AF9728-2CF1-4F74-9E58-85EFCFCAB0DB}"/>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34155"/>
                </a:solidFill>
                <a:latin typeface="Aptos"/>
                <a:ea typeface="Aptos"/>
                <a:cs typeface="Aptos"/>
              </a:defRPr>
            </a:pPr>
            <a:r>
              <a:rPr sz="1500" b="0">
                <a:solidFill>
                  <a:srgbClr val="334155"/>
                </a:solidFill>
                <a:latin typeface="Aptos"/>
                <a:ea typeface="Aptos"/>
                <a:cs typeface="Aptos"/>
              </a:rPr>
              <a:t>The top-ranked Random Forest was selected by the composite reliability scoreboard.</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b170275355946b2"/>
          <a:stretch xmlns:a="http://schemas.openxmlformats.org/drawingml/2006/main"/>
        </p:blipFill>
        <p:spPr>
          <a:xfrm xmlns:a="http://schemas.openxmlformats.org/drawingml/2006/main">
            <a:off x="6191250" y="2370138"/>
            <a:ext cx="4953000" cy="2889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BA9808F-5CAF-49CE-8D17-60CA93D57CA1}"/>
              </a:ext>
            </a:extLst>
          </p:cNvPr>
          <p:cNvSpPr>
            <a:spLocks xmlns:a="http://schemas.openxmlformats.org/drawingml/2006/main" noGrp="1"/>
          </p:cNvSpPr>
          <p:nvPr/>
        </p:nvSpPr>
        <p:spPr>
          <a:xfrm xmlns:a="http://schemas.openxmlformats.org/drawingml/2006/main">
            <a:off x="781050" y="3000375"/>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F7D5C"/>
                </a:solidFill>
                <a:latin typeface="Aptos Display"/>
                <a:ea typeface="Aptos Display"/>
                <a:cs typeface="Aptos Display"/>
              </a:defRPr>
            </a:pPr>
            <a:r>
              <a:rPr sz="3150" b="1">
                <a:solidFill>
                  <a:srgbClr val="2F7D5C"/>
                </a:solidFill>
                <a:latin typeface="Aptos Display"/>
                <a:ea typeface="Aptos Display"/>
                <a:cs typeface="Aptos Display"/>
              </a:rPr>
              <a:t>0.8860</a:t>
            </a:r>
          </a:p>
        </p:txBody>
      </p:sp>
      <p:sp>
        <p:nvSpPr>
          <p:cNvPr id="8" name="">
            <a:extLst xmlns:a="http://schemas.openxmlformats.org/drawingml/2006/main">
              <a:ext uri="{FF2B5EF4-FFF2-40B4-BE49-F238E27FC236}">
                <a16:creationId xmlns:a16="http://schemas.microsoft.com/office/drawing/2014/main" id="{D1C07C3D-396D-4605-8363-08C2B50BF865}"/>
              </a:ext>
            </a:extLst>
          </p:cNvPr>
          <p:cNvSpPr>
            <a:spLocks xmlns:a="http://schemas.openxmlformats.org/drawingml/2006/main" noGrp="1"/>
          </p:cNvSpPr>
          <p:nvPr/>
        </p:nvSpPr>
        <p:spPr>
          <a:xfrm xmlns:a="http://schemas.openxmlformats.org/drawingml/2006/main">
            <a:off x="781050" y="3552825"/>
            <a:ext cx="238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reliability score</a:t>
            </a:r>
          </a:p>
        </p:txBody>
      </p:sp>
      <p:sp>
        <p:nvSpPr>
          <p:cNvPr id="9" name="">
            <a:extLst xmlns:a="http://schemas.openxmlformats.org/drawingml/2006/main">
              <a:ext uri="{FF2B5EF4-FFF2-40B4-BE49-F238E27FC236}">
                <a16:creationId xmlns:a16="http://schemas.microsoft.com/office/drawing/2014/main" id="{4D541991-845B-4C41-8460-C443C1D1CE10}"/>
              </a:ext>
            </a:extLst>
          </p:cNvPr>
          <p:cNvSpPr>
            <a:spLocks xmlns:a="http://schemas.openxmlformats.org/drawingml/2006/main" noGrp="1"/>
          </p:cNvSpPr>
          <p:nvPr/>
        </p:nvSpPr>
        <p:spPr>
          <a:xfrm xmlns:a="http://schemas.openxmlformats.org/drawingml/2006/main">
            <a:off x="3429000" y="3000375"/>
            <a:ext cx="2000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D6CDF"/>
                </a:solidFill>
                <a:latin typeface="Aptos Display"/>
                <a:ea typeface="Aptos Display"/>
                <a:cs typeface="Aptos Display"/>
              </a:defRPr>
            </a:pPr>
            <a:r>
              <a:rPr sz="3150" b="1">
                <a:solidFill>
                  <a:srgbClr val="2D6CDF"/>
                </a:solidFill>
                <a:latin typeface="Aptos Display"/>
                <a:ea typeface="Aptos Display"/>
                <a:cs typeface="Aptos Display"/>
              </a:rPr>
              <a:t>0.8626</a:t>
            </a:r>
          </a:p>
        </p:txBody>
      </p:sp>
      <p:sp>
        <p:nvSpPr>
          <p:cNvPr id="10" name="">
            <a:extLst xmlns:a="http://schemas.openxmlformats.org/drawingml/2006/main">
              <a:ext uri="{FF2B5EF4-FFF2-40B4-BE49-F238E27FC236}">
                <a16:creationId xmlns:a16="http://schemas.microsoft.com/office/drawing/2014/main" id="{F3D564A1-4275-4CB0-9C7F-3AD166115809}"/>
              </a:ext>
            </a:extLst>
          </p:cNvPr>
          <p:cNvSpPr>
            <a:spLocks xmlns:a="http://schemas.openxmlformats.org/drawingml/2006/main" noGrp="1"/>
          </p:cNvSpPr>
          <p:nvPr/>
        </p:nvSpPr>
        <p:spPr>
          <a:xfrm xmlns:a="http://schemas.openxmlformats.org/drawingml/2006/main">
            <a:off x="3429000" y="3552825"/>
            <a:ext cx="2000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CV accuracy</a:t>
            </a:r>
          </a:p>
        </p:txBody>
      </p:sp>
      <p:sp>
        <p:nvSpPr>
          <p:cNvPr id="11" name="">
            <a:extLst xmlns:a="http://schemas.openxmlformats.org/drawingml/2006/main">
              <a:ext uri="{FF2B5EF4-FFF2-40B4-BE49-F238E27FC236}">
                <a16:creationId xmlns:a16="http://schemas.microsoft.com/office/drawing/2014/main" id="{0BA0A48D-1406-4E5B-AC7C-4421C76DF43A}"/>
              </a:ext>
            </a:extLst>
          </p:cNvPr>
          <p:cNvSpPr>
            <a:spLocks xmlns:a="http://schemas.openxmlformats.org/drawingml/2006/main" noGrp="1"/>
          </p:cNvSpPr>
          <p:nvPr/>
        </p:nvSpPr>
        <p:spPr>
          <a:xfrm xmlns:a="http://schemas.openxmlformats.org/drawingml/2006/main">
            <a:off x="781050" y="4429125"/>
            <a:ext cx="2381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C58B2B"/>
                </a:solidFill>
                <a:latin typeface="Aptos Display"/>
                <a:ea typeface="Aptos Display"/>
                <a:cs typeface="Aptos Display"/>
              </a:defRPr>
            </a:pPr>
            <a:r>
              <a:rPr sz="3150" b="1">
                <a:solidFill>
                  <a:srgbClr val="C58B2B"/>
                </a:solidFill>
                <a:latin typeface="Aptos Display"/>
                <a:ea typeface="Aptos Display"/>
                <a:cs typeface="Aptos Display"/>
              </a:rPr>
              <a:t>0.5848</a:t>
            </a:r>
          </a:p>
        </p:txBody>
      </p:sp>
      <p:sp>
        <p:nvSpPr>
          <p:cNvPr id="12" name="">
            <a:extLst xmlns:a="http://schemas.openxmlformats.org/drawingml/2006/main">
              <a:ext uri="{FF2B5EF4-FFF2-40B4-BE49-F238E27FC236}">
                <a16:creationId xmlns:a16="http://schemas.microsoft.com/office/drawing/2014/main" id="{94C419AA-343C-4D5C-A0B3-6EA63828565F}"/>
              </a:ext>
            </a:extLst>
          </p:cNvPr>
          <p:cNvSpPr>
            <a:spLocks xmlns:a="http://schemas.openxmlformats.org/drawingml/2006/main" noGrp="1"/>
          </p:cNvSpPr>
          <p:nvPr/>
        </p:nvSpPr>
        <p:spPr>
          <a:xfrm xmlns:a="http://schemas.openxmlformats.org/drawingml/2006/main">
            <a:off x="781050" y="4981575"/>
            <a:ext cx="2381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cross-env accuracy</a:t>
            </a:r>
          </a:p>
        </p:txBody>
      </p:sp>
      <p:sp>
        <p:nvSpPr>
          <p:cNvPr id="13" name="">
            <a:extLst xmlns:a="http://schemas.openxmlformats.org/drawingml/2006/main">
              <a:ext uri="{FF2B5EF4-FFF2-40B4-BE49-F238E27FC236}">
                <a16:creationId xmlns:a16="http://schemas.microsoft.com/office/drawing/2014/main" id="{C7C114CC-BDF0-43ED-8034-41632A16D4A3}"/>
              </a:ext>
            </a:extLst>
          </p:cNvPr>
          <p:cNvSpPr>
            <a:spLocks xmlns:a="http://schemas.openxmlformats.org/drawingml/2006/main" noGrp="1"/>
          </p:cNvSpPr>
          <p:nvPr/>
        </p:nvSpPr>
        <p:spPr>
          <a:xfrm xmlns:a="http://schemas.openxmlformats.org/drawingml/2006/main">
            <a:off x="3429000" y="4429125"/>
            <a:ext cx="2000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2F7D5C"/>
                </a:solidFill>
                <a:latin typeface="Aptos Display"/>
                <a:ea typeface="Aptos Display"/>
                <a:cs typeface="Aptos Display"/>
              </a:defRPr>
            </a:pPr>
            <a:r>
              <a:rPr sz="3150" b="1">
                <a:solidFill>
                  <a:srgbClr val="2F7D5C"/>
                </a:solidFill>
                <a:latin typeface="Aptos Display"/>
                <a:ea typeface="Aptos Display"/>
                <a:cs typeface="Aptos Display"/>
              </a:rPr>
              <a:t>0.1003</a:t>
            </a:r>
          </a:p>
        </p:txBody>
      </p:sp>
      <p:sp>
        <p:nvSpPr>
          <p:cNvPr id="14" name="">
            <a:extLst xmlns:a="http://schemas.openxmlformats.org/drawingml/2006/main">
              <a:ext uri="{FF2B5EF4-FFF2-40B4-BE49-F238E27FC236}">
                <a16:creationId xmlns:a16="http://schemas.microsoft.com/office/drawing/2014/main" id="{D9B26C2A-6FDD-4AE5-945A-726ABE254AA9}"/>
              </a:ext>
            </a:extLst>
          </p:cNvPr>
          <p:cNvSpPr>
            <a:spLocks xmlns:a="http://schemas.openxmlformats.org/drawingml/2006/main" noGrp="1"/>
          </p:cNvSpPr>
          <p:nvPr/>
        </p:nvSpPr>
        <p:spPr>
          <a:xfrm xmlns:a="http://schemas.openxmlformats.org/drawingml/2006/main">
            <a:off x="3429000" y="4981575"/>
            <a:ext cx="2000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334155"/>
                </a:solidFill>
                <a:latin typeface="Aptos"/>
                <a:ea typeface="Aptos"/>
                <a:cs typeface="Aptos"/>
              </a:defRPr>
            </a:pPr>
            <a:r>
              <a:rPr sz="1125" b="0">
                <a:solidFill>
                  <a:srgbClr val="334155"/>
                </a:solidFill>
                <a:latin typeface="Aptos"/>
                <a:ea typeface="Aptos"/>
                <a:cs typeface="Aptos"/>
              </a:rPr>
              <a:t>Brier score</a:t>
            </a:r>
          </a:p>
        </p:txBody>
      </p:sp>
      <p:sp>
        <p:nvSpPr>
          <p:cNvPr id="15" name="">
            <a:extLst xmlns:a="http://schemas.openxmlformats.org/drawingml/2006/main">
              <a:ext uri="{FF2B5EF4-FFF2-40B4-BE49-F238E27FC236}">
                <a16:creationId xmlns:a16="http://schemas.microsoft.com/office/drawing/2014/main" id="{024418B9-7F4F-49BC-8F58-98CF2DF7DE3C}"/>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6" name="">
            <a:extLst xmlns:a="http://schemas.openxmlformats.org/drawingml/2006/main">
              <a:ext uri="{FF2B5EF4-FFF2-40B4-BE49-F238E27FC236}">
                <a16:creationId xmlns:a16="http://schemas.microsoft.com/office/drawing/2014/main" id="{C77CB25B-270D-40E4-A475-169A9DDD45C4}"/>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reports/model_reliability_report.md; results/tables/model_reliability_scoreboard.csv</a:t>
            </a:r>
          </a:p>
        </p:txBody>
      </p:sp>
    </p:spTree>
    <p:extLst>
      <p:ext uri="{BB962C8B-B14F-4D97-AF65-F5344CB8AC3E}">
        <p14:creationId xmlns:p14="http://schemas.microsoft.com/office/powerpoint/2010/main" val="201465448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0992D7-27CD-4837-ACC4-EDB6D407FB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408DF176-2A4F-4E10-A086-553512B59DBF}"/>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87FEFBAD-FB8C-4429-B01A-F838A21C8E3E}"/>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WHAT WE LEARNED</a:t>
            </a:r>
          </a:p>
        </p:txBody>
      </p:sp>
      <p:sp>
        <p:nvSpPr>
          <p:cNvPr id="4" name="">
            <a:extLst xmlns:a="http://schemas.openxmlformats.org/drawingml/2006/main">
              <a:ext uri="{FF2B5EF4-FFF2-40B4-BE49-F238E27FC236}">
                <a16:creationId xmlns:a16="http://schemas.microsoft.com/office/drawing/2014/main" id="{1618632F-285F-4BAC-83F6-A6FE35FB3BD8}"/>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strongest finding is methodological.</a:t>
            </a:r>
          </a:p>
        </p:txBody>
      </p:sp>
      <p:sp>
        <p:nvSpPr>
          <p:cNvPr id="5" name="">
            <a:extLst xmlns:a="http://schemas.openxmlformats.org/drawingml/2006/main">
              <a:ext uri="{FF2B5EF4-FFF2-40B4-BE49-F238E27FC236}">
                <a16:creationId xmlns:a16="http://schemas.microsoft.com/office/drawing/2014/main" id="{C47CAA19-2D7D-4DB3-9F72-4C9BB01C54DE}"/>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Trustworthy biodegradation prediction needs evaluation beyond accuracy.</a:t>
            </a:r>
          </a:p>
        </p:txBody>
      </p:sp>
      <p:sp>
        <p:nvSpPr>
          <p:cNvPr id="6" name="">
            <a:extLst xmlns:a="http://schemas.openxmlformats.org/drawingml/2006/main">
              <a:ext uri="{FF2B5EF4-FFF2-40B4-BE49-F238E27FC236}">
                <a16:creationId xmlns:a16="http://schemas.microsoft.com/office/drawing/2014/main" id="{B8F4EF96-61F0-488B-8ADA-3AC40591F160}"/>
              </a:ext>
            </a:extLst>
          </p:cNvPr>
          <p:cNvSpPr>
            <a:spLocks xmlns:a="http://schemas.openxmlformats.org/drawingml/2006/main" noGrp="1"/>
          </p:cNvSpPr>
          <p:nvPr/>
        </p:nvSpPr>
        <p:spPr>
          <a:xfrm xmlns:a="http://schemas.openxmlformats.org/drawingml/2006/main">
            <a:off x="1143000" y="28003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7" name="">
            <a:extLst xmlns:a="http://schemas.openxmlformats.org/drawingml/2006/main">
              <a:ext uri="{FF2B5EF4-FFF2-40B4-BE49-F238E27FC236}">
                <a16:creationId xmlns:a16="http://schemas.microsoft.com/office/drawing/2014/main" id="{7BBB3348-A24D-48AB-B465-B6B34E1638BE}"/>
              </a:ext>
            </a:extLst>
          </p:cNvPr>
          <p:cNvSpPr>
            <a:spLocks xmlns:a="http://schemas.openxmlformats.org/drawingml/2006/main" noGrp="1"/>
          </p:cNvSpPr>
          <p:nvPr/>
        </p:nvSpPr>
        <p:spPr>
          <a:xfrm xmlns:a="http://schemas.openxmlformats.org/drawingml/2006/main">
            <a:off x="1352550" y="2714625"/>
            <a:ext cx="9525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0B1020"/>
                </a:solidFill>
                <a:latin typeface="Aptos"/>
                <a:ea typeface="Aptos"/>
                <a:cs typeface="Aptos"/>
              </a:defRPr>
            </a:pPr>
            <a:r>
              <a:rPr sz="1875" b="0">
                <a:solidFill>
                  <a:srgbClr val="0B1020"/>
                </a:solidFill>
                <a:latin typeface="Aptos"/>
                <a:ea typeface="Aptos"/>
                <a:cs typeface="Aptos"/>
              </a:rPr>
              <a:t>Random Forest gave the strongest overall reliability profile.</a:t>
            </a:r>
          </a:p>
        </p:txBody>
      </p:sp>
      <p:sp>
        <p:nvSpPr>
          <p:cNvPr id="8" name="">
            <a:extLst xmlns:a="http://schemas.openxmlformats.org/drawingml/2006/main">
              <a:ext uri="{FF2B5EF4-FFF2-40B4-BE49-F238E27FC236}">
                <a16:creationId xmlns:a16="http://schemas.microsoft.com/office/drawing/2014/main" id="{B66DA135-E6DC-4B5F-8638-34AA6662BC07}"/>
              </a:ext>
            </a:extLst>
          </p:cNvPr>
          <p:cNvSpPr>
            <a:spLocks xmlns:a="http://schemas.openxmlformats.org/drawingml/2006/main" noGrp="1"/>
          </p:cNvSpPr>
          <p:nvPr/>
        </p:nvSpPr>
        <p:spPr>
          <a:xfrm xmlns:a="http://schemas.openxmlformats.org/drawingml/2006/main">
            <a:off x="1143000" y="33718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9" name="">
            <a:extLst xmlns:a="http://schemas.openxmlformats.org/drawingml/2006/main">
              <a:ext uri="{FF2B5EF4-FFF2-40B4-BE49-F238E27FC236}">
                <a16:creationId xmlns:a16="http://schemas.microsoft.com/office/drawing/2014/main" id="{DF6AFB94-7B86-41A0-B958-629417F71CDA}"/>
              </a:ext>
            </a:extLst>
          </p:cNvPr>
          <p:cNvSpPr>
            <a:spLocks xmlns:a="http://schemas.openxmlformats.org/drawingml/2006/main" noGrp="1"/>
          </p:cNvSpPr>
          <p:nvPr/>
        </p:nvSpPr>
        <p:spPr>
          <a:xfrm xmlns:a="http://schemas.openxmlformats.org/drawingml/2006/main">
            <a:off x="1352550" y="3286125"/>
            <a:ext cx="9525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0B1020"/>
                </a:solidFill>
                <a:latin typeface="Aptos"/>
                <a:ea typeface="Aptos"/>
                <a:cs typeface="Aptos"/>
              </a:defRPr>
            </a:pPr>
            <a:r>
              <a:rPr sz="1875" b="0">
                <a:solidFill>
                  <a:srgbClr val="0B1020"/>
                </a:solidFill>
                <a:latin typeface="Aptos"/>
                <a:ea typeface="Aptos"/>
                <a:cs typeface="Aptos"/>
              </a:rPr>
              <a:t>Chemistry-aware features helped selected models, especially the neural baseline.</a:t>
            </a:r>
          </a:p>
        </p:txBody>
      </p:sp>
      <p:sp>
        <p:nvSpPr>
          <p:cNvPr id="10" name="">
            <a:extLst xmlns:a="http://schemas.openxmlformats.org/drawingml/2006/main">
              <a:ext uri="{FF2B5EF4-FFF2-40B4-BE49-F238E27FC236}">
                <a16:creationId xmlns:a16="http://schemas.microsoft.com/office/drawing/2014/main" id="{0ABD9CAA-6F31-489E-9DE1-A07A4FBDB43C}"/>
              </a:ext>
            </a:extLst>
          </p:cNvPr>
          <p:cNvSpPr>
            <a:spLocks xmlns:a="http://schemas.openxmlformats.org/drawingml/2006/main" noGrp="1"/>
          </p:cNvSpPr>
          <p:nvPr/>
        </p:nvSpPr>
        <p:spPr>
          <a:xfrm xmlns:a="http://schemas.openxmlformats.org/drawingml/2006/main">
            <a:off x="1143000" y="39433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1" name="">
            <a:extLst xmlns:a="http://schemas.openxmlformats.org/drawingml/2006/main">
              <a:ext uri="{FF2B5EF4-FFF2-40B4-BE49-F238E27FC236}">
                <a16:creationId xmlns:a16="http://schemas.microsoft.com/office/drawing/2014/main" id="{EC422EDC-E1E9-4EF4-9C10-A9A3301297FB}"/>
              </a:ext>
            </a:extLst>
          </p:cNvPr>
          <p:cNvSpPr>
            <a:spLocks xmlns:a="http://schemas.openxmlformats.org/drawingml/2006/main" noGrp="1"/>
          </p:cNvSpPr>
          <p:nvPr/>
        </p:nvSpPr>
        <p:spPr>
          <a:xfrm xmlns:a="http://schemas.openxmlformats.org/drawingml/2006/main">
            <a:off x="1352550" y="3857625"/>
            <a:ext cx="9525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0B1020"/>
                </a:solidFill>
                <a:latin typeface="Aptos"/>
                <a:ea typeface="Aptos"/>
                <a:cs typeface="Aptos"/>
              </a:defRPr>
            </a:pPr>
            <a:r>
              <a:rPr sz="1875" b="0">
                <a:solidFill>
                  <a:srgbClr val="0B1020"/>
                </a:solidFill>
                <a:latin typeface="Aptos"/>
                <a:ea typeface="Aptos"/>
                <a:cs typeface="Aptos"/>
              </a:rPr>
              <a:t>Neural complexity alone did not dominate classical baselines.</a:t>
            </a:r>
          </a:p>
        </p:txBody>
      </p:sp>
      <p:sp>
        <p:nvSpPr>
          <p:cNvPr id="12" name="">
            <a:extLst xmlns:a="http://schemas.openxmlformats.org/drawingml/2006/main">
              <a:ext uri="{FF2B5EF4-FFF2-40B4-BE49-F238E27FC236}">
                <a16:creationId xmlns:a16="http://schemas.microsoft.com/office/drawing/2014/main" id="{1E11704F-D1DD-455D-A551-2836082E213C}"/>
              </a:ext>
            </a:extLst>
          </p:cNvPr>
          <p:cNvSpPr>
            <a:spLocks xmlns:a="http://schemas.openxmlformats.org/drawingml/2006/main" noGrp="1"/>
          </p:cNvSpPr>
          <p:nvPr/>
        </p:nvSpPr>
        <p:spPr>
          <a:xfrm xmlns:a="http://schemas.openxmlformats.org/drawingml/2006/main">
            <a:off x="1143000" y="45148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3" name="">
            <a:extLst xmlns:a="http://schemas.openxmlformats.org/drawingml/2006/main">
              <a:ext uri="{FF2B5EF4-FFF2-40B4-BE49-F238E27FC236}">
                <a16:creationId xmlns:a16="http://schemas.microsoft.com/office/drawing/2014/main" id="{C2EDAC66-E7EC-4BC0-BFBB-DACF93BA84CF}"/>
              </a:ext>
            </a:extLst>
          </p:cNvPr>
          <p:cNvSpPr>
            <a:spLocks xmlns:a="http://schemas.openxmlformats.org/drawingml/2006/main" noGrp="1"/>
          </p:cNvSpPr>
          <p:nvPr/>
        </p:nvSpPr>
        <p:spPr>
          <a:xfrm xmlns:a="http://schemas.openxmlformats.org/drawingml/2006/main">
            <a:off x="1352550" y="4429125"/>
            <a:ext cx="9525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0B1020"/>
                </a:solidFill>
                <a:latin typeface="Aptos"/>
                <a:ea typeface="Aptos"/>
                <a:cs typeface="Aptos"/>
              </a:defRPr>
            </a:pPr>
            <a:r>
              <a:rPr sz="1875" b="0">
                <a:solidFill>
                  <a:srgbClr val="0B1020"/>
                </a:solidFill>
                <a:latin typeface="Aptos"/>
                <a:ea typeface="Aptos"/>
                <a:cs typeface="Aptos"/>
              </a:rPr>
              <a:t>Cross-environment testing exposed generalization risk.</a:t>
            </a:r>
          </a:p>
        </p:txBody>
      </p:sp>
      <p:sp>
        <p:nvSpPr>
          <p:cNvPr id="14" name="">
            <a:extLst xmlns:a="http://schemas.openxmlformats.org/drawingml/2006/main">
              <a:ext uri="{FF2B5EF4-FFF2-40B4-BE49-F238E27FC236}">
                <a16:creationId xmlns:a16="http://schemas.microsoft.com/office/drawing/2014/main" id="{009B8EDF-AF21-4600-9E94-1EA3DEBD2815}"/>
              </a:ext>
            </a:extLst>
          </p:cNvPr>
          <p:cNvSpPr>
            <a:spLocks xmlns:a="http://schemas.openxmlformats.org/drawingml/2006/main" noGrp="1"/>
          </p:cNvSpPr>
          <p:nvPr/>
        </p:nvSpPr>
        <p:spPr>
          <a:xfrm xmlns:a="http://schemas.openxmlformats.org/drawingml/2006/main">
            <a:off x="1143000" y="508635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5" name="">
            <a:extLst xmlns:a="http://schemas.openxmlformats.org/drawingml/2006/main">
              <a:ext uri="{FF2B5EF4-FFF2-40B4-BE49-F238E27FC236}">
                <a16:creationId xmlns:a16="http://schemas.microsoft.com/office/drawing/2014/main" id="{3F220743-004F-41FB-9D5E-C5097251BB83}"/>
              </a:ext>
            </a:extLst>
          </p:cNvPr>
          <p:cNvSpPr>
            <a:spLocks xmlns:a="http://schemas.openxmlformats.org/drawingml/2006/main" noGrp="1"/>
          </p:cNvSpPr>
          <p:nvPr/>
        </p:nvSpPr>
        <p:spPr>
          <a:xfrm xmlns:a="http://schemas.openxmlformats.org/drawingml/2006/main">
            <a:off x="1352550" y="5000625"/>
            <a:ext cx="9525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0B1020"/>
                </a:solidFill>
                <a:latin typeface="Aptos"/>
                <a:ea typeface="Aptos"/>
                <a:cs typeface="Aptos"/>
              </a:defRPr>
            </a:pPr>
            <a:r>
              <a:rPr sz="1875" b="0">
                <a:solidFill>
                  <a:srgbClr val="0B1020"/>
                </a:solidFill>
                <a:latin typeface="Aptos"/>
                <a:ea typeface="Aptos"/>
                <a:cs typeface="Aptos"/>
              </a:rPr>
              <a:t>Overconfidence under shift is a scientific reliability problem.</a:t>
            </a:r>
          </a:p>
        </p:txBody>
      </p:sp>
      <p:sp>
        <p:nvSpPr>
          <p:cNvPr id="16" name="">
            <a:extLst xmlns:a="http://schemas.openxmlformats.org/drawingml/2006/main">
              <a:ext uri="{FF2B5EF4-FFF2-40B4-BE49-F238E27FC236}">
                <a16:creationId xmlns:a16="http://schemas.microsoft.com/office/drawing/2014/main" id="{F1B4AA71-2631-4F71-9E87-E75B4CDB549E}"/>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7" name="">
            <a:extLst xmlns:a="http://schemas.openxmlformats.org/drawingml/2006/main">
              <a:ext uri="{FF2B5EF4-FFF2-40B4-BE49-F238E27FC236}">
                <a16:creationId xmlns:a16="http://schemas.microsoft.com/office/drawing/2014/main" id="{E14605D2-104B-4AE1-BFAE-777190A6F300}"/>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reports/main_findings.md</a:t>
            </a:r>
          </a:p>
        </p:txBody>
      </p:sp>
    </p:spTree>
    <p:extLst>
      <p:ext uri="{BB962C8B-B14F-4D97-AF65-F5344CB8AC3E}">
        <p14:creationId xmlns:p14="http://schemas.microsoft.com/office/powerpoint/2010/main" val="200741225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B222EA-FC50-45FE-AE24-208B8B7E54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9AFE75D3-F7FF-4079-9988-834BBCBB8052}"/>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6ABFE3E4-D0F4-4225-85DA-39004A3B109D}"/>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FOR YOUNG SCIENTISTS</a:t>
            </a:r>
          </a:p>
        </p:txBody>
      </p:sp>
      <p:sp>
        <p:nvSpPr>
          <p:cNvPr id="4" name="">
            <a:extLst xmlns:a="http://schemas.openxmlformats.org/drawingml/2006/main">
              <a:ext uri="{FF2B5EF4-FFF2-40B4-BE49-F238E27FC236}">
                <a16:creationId xmlns:a16="http://schemas.microsoft.com/office/drawing/2014/main" id="{398B3ED1-8CA2-45B4-96D4-1873C6F3BB03}"/>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exciting part is not that the model was perfect.</a:t>
            </a:r>
          </a:p>
        </p:txBody>
      </p:sp>
      <p:sp>
        <p:nvSpPr>
          <p:cNvPr id="5" name="">
            <a:extLst xmlns:a="http://schemas.openxmlformats.org/drawingml/2006/main">
              <a:ext uri="{FF2B5EF4-FFF2-40B4-BE49-F238E27FC236}">
                <a16:creationId xmlns:a16="http://schemas.microsoft.com/office/drawing/2014/main" id="{95E13A16-A385-4F5A-9756-7F0D68C63E51}"/>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The exciting part is learning how to ask a better question.</a:t>
            </a:r>
          </a:p>
        </p:txBody>
      </p:sp>
      <p:sp>
        <p:nvSpPr>
          <p:cNvPr id="6" name="">
            <a:extLst xmlns:a="http://schemas.openxmlformats.org/drawingml/2006/main">
              <a:ext uri="{FF2B5EF4-FFF2-40B4-BE49-F238E27FC236}">
                <a16:creationId xmlns:a16="http://schemas.microsoft.com/office/drawing/2014/main" id="{A31C1A80-6BD3-4F10-B520-597D1F35E83C}"/>
              </a:ext>
            </a:extLst>
          </p:cNvPr>
          <p:cNvSpPr>
            <a:spLocks xmlns:a="http://schemas.openxmlformats.org/drawingml/2006/main" noGrp="1"/>
          </p:cNvSpPr>
          <p:nvPr/>
        </p:nvSpPr>
        <p:spPr>
          <a:xfrm xmlns:a="http://schemas.openxmlformats.org/drawingml/2006/main">
            <a:off x="952500" y="2857500"/>
            <a:ext cx="102870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Good science is not being certain. Good science is knowing what would make you less certain.</a:t>
            </a:r>
          </a:p>
        </p:txBody>
      </p:sp>
      <p:sp>
        <p:nvSpPr>
          <p:cNvPr id="7" name="">
            <a:extLst xmlns:a="http://schemas.openxmlformats.org/drawingml/2006/main">
              <a:ext uri="{FF2B5EF4-FFF2-40B4-BE49-F238E27FC236}">
                <a16:creationId xmlns:a16="http://schemas.microsoft.com/office/drawing/2014/main" id="{5B56A5C6-88C2-4333-A31D-0AD8CBD532C3}"/>
              </a:ext>
            </a:extLst>
          </p:cNvPr>
          <p:cNvSpPr>
            <a:spLocks xmlns:a="http://schemas.openxmlformats.org/drawingml/2006/main" noGrp="1"/>
          </p:cNvSpPr>
          <p:nvPr/>
        </p:nvSpPr>
        <p:spPr>
          <a:xfrm xmlns:a="http://schemas.openxmlformats.org/drawingml/2006/main">
            <a:off x="2000250" y="48482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8" name="">
            <a:extLst xmlns:a="http://schemas.openxmlformats.org/drawingml/2006/main">
              <a:ext uri="{FF2B5EF4-FFF2-40B4-BE49-F238E27FC236}">
                <a16:creationId xmlns:a16="http://schemas.microsoft.com/office/drawing/2014/main" id="{391F9B67-3DCD-4AE8-A8C2-262F5CF484BA}"/>
              </a:ext>
            </a:extLst>
          </p:cNvPr>
          <p:cNvSpPr>
            <a:spLocks xmlns:a="http://schemas.openxmlformats.org/drawingml/2006/main" noGrp="1"/>
          </p:cNvSpPr>
          <p:nvPr/>
        </p:nvSpPr>
        <p:spPr>
          <a:xfrm xmlns:a="http://schemas.openxmlformats.org/drawingml/2006/main">
            <a:off x="2209800" y="476250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334155"/>
                </a:solidFill>
                <a:latin typeface="Aptos"/>
                <a:ea typeface="Aptos"/>
                <a:cs typeface="Aptos"/>
              </a:defRPr>
            </a:pPr>
            <a:r>
              <a:rPr sz="1725" b="0">
                <a:solidFill>
                  <a:srgbClr val="334155"/>
                </a:solidFill>
                <a:latin typeface="Aptos"/>
                <a:ea typeface="Aptos"/>
                <a:cs typeface="Aptos"/>
              </a:rPr>
              <a:t>Chemistry explains what might matter.</a:t>
            </a:r>
          </a:p>
        </p:txBody>
      </p:sp>
      <p:sp>
        <p:nvSpPr>
          <p:cNvPr id="9" name="">
            <a:extLst xmlns:a="http://schemas.openxmlformats.org/drawingml/2006/main">
              <a:ext uri="{FF2B5EF4-FFF2-40B4-BE49-F238E27FC236}">
                <a16:creationId xmlns:a16="http://schemas.microsoft.com/office/drawing/2014/main" id="{E19C35D6-DF37-449E-9EB6-55053EB7570B}"/>
              </a:ext>
            </a:extLst>
          </p:cNvPr>
          <p:cNvSpPr>
            <a:spLocks xmlns:a="http://schemas.openxmlformats.org/drawingml/2006/main" noGrp="1"/>
          </p:cNvSpPr>
          <p:nvPr/>
        </p:nvSpPr>
        <p:spPr>
          <a:xfrm xmlns:a="http://schemas.openxmlformats.org/drawingml/2006/main">
            <a:off x="2000250" y="52673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0" name="">
            <a:extLst xmlns:a="http://schemas.openxmlformats.org/drawingml/2006/main">
              <a:ext uri="{FF2B5EF4-FFF2-40B4-BE49-F238E27FC236}">
                <a16:creationId xmlns:a16="http://schemas.microsoft.com/office/drawing/2014/main" id="{640D70E8-54A0-400C-A515-849727F1A188}"/>
              </a:ext>
            </a:extLst>
          </p:cNvPr>
          <p:cNvSpPr>
            <a:spLocks xmlns:a="http://schemas.openxmlformats.org/drawingml/2006/main" noGrp="1"/>
          </p:cNvSpPr>
          <p:nvPr/>
        </p:nvSpPr>
        <p:spPr>
          <a:xfrm xmlns:a="http://schemas.openxmlformats.org/drawingml/2006/main">
            <a:off x="2209800" y="518160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334155"/>
                </a:solidFill>
                <a:latin typeface="Aptos"/>
                <a:ea typeface="Aptos"/>
                <a:cs typeface="Aptos"/>
              </a:defRPr>
            </a:pPr>
            <a:r>
              <a:rPr sz="1725" b="0">
                <a:solidFill>
                  <a:srgbClr val="334155"/>
                </a:solidFill>
                <a:latin typeface="Aptos"/>
                <a:ea typeface="Aptos"/>
                <a:cs typeface="Aptos"/>
              </a:rPr>
              <a:t>Machine learning tests patterns at scale.</a:t>
            </a:r>
          </a:p>
        </p:txBody>
      </p:sp>
      <p:sp>
        <p:nvSpPr>
          <p:cNvPr id="11" name="">
            <a:extLst xmlns:a="http://schemas.openxmlformats.org/drawingml/2006/main">
              <a:ext uri="{FF2B5EF4-FFF2-40B4-BE49-F238E27FC236}">
                <a16:creationId xmlns:a16="http://schemas.microsoft.com/office/drawing/2014/main" id="{F9D9D54B-181B-4D48-B7D6-90EBFE1F31E3}"/>
              </a:ext>
            </a:extLst>
          </p:cNvPr>
          <p:cNvSpPr>
            <a:spLocks xmlns:a="http://schemas.openxmlformats.org/drawingml/2006/main" noGrp="1"/>
          </p:cNvSpPr>
          <p:nvPr/>
        </p:nvSpPr>
        <p:spPr>
          <a:xfrm xmlns:a="http://schemas.openxmlformats.org/drawingml/2006/main">
            <a:off x="2000250" y="5686425"/>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2" name="">
            <a:extLst xmlns:a="http://schemas.openxmlformats.org/drawingml/2006/main">
              <a:ext uri="{FF2B5EF4-FFF2-40B4-BE49-F238E27FC236}">
                <a16:creationId xmlns:a16="http://schemas.microsoft.com/office/drawing/2014/main" id="{CA94C3F4-70B2-42B1-9096-A221B97B9A0F}"/>
              </a:ext>
            </a:extLst>
          </p:cNvPr>
          <p:cNvSpPr>
            <a:spLocks xmlns:a="http://schemas.openxmlformats.org/drawingml/2006/main" noGrp="1"/>
          </p:cNvSpPr>
          <p:nvPr/>
        </p:nvSpPr>
        <p:spPr>
          <a:xfrm xmlns:a="http://schemas.openxmlformats.org/drawingml/2006/main">
            <a:off x="2209800" y="5600700"/>
            <a:ext cx="8001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334155"/>
                </a:solidFill>
                <a:latin typeface="Aptos"/>
                <a:ea typeface="Aptos"/>
                <a:cs typeface="Aptos"/>
              </a:defRPr>
            </a:pPr>
            <a:r>
              <a:rPr sz="1725" b="0">
                <a:solidFill>
                  <a:srgbClr val="334155"/>
                </a:solidFill>
                <a:latin typeface="Aptos"/>
                <a:ea typeface="Aptos"/>
                <a:cs typeface="Aptos"/>
              </a:rPr>
              <a:t>Reliability tells us when the pattern may break.</a:t>
            </a:r>
          </a:p>
        </p:txBody>
      </p:sp>
      <p:sp>
        <p:nvSpPr>
          <p:cNvPr id="13" name="">
            <a:extLst xmlns:a="http://schemas.openxmlformats.org/drawingml/2006/main">
              <a:ext uri="{FF2B5EF4-FFF2-40B4-BE49-F238E27FC236}">
                <a16:creationId xmlns:a16="http://schemas.microsoft.com/office/drawing/2014/main" id="{33FF8174-8F75-4C1C-9C61-8514707D2A76}"/>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4" name="">
            <a:extLst xmlns:a="http://schemas.openxmlformats.org/drawingml/2006/main">
              <a:ext uri="{FF2B5EF4-FFF2-40B4-BE49-F238E27FC236}">
                <a16:creationId xmlns:a16="http://schemas.microsoft.com/office/drawing/2014/main" id="{123E0D5F-C901-4616-A328-3B58AB47B0EA}"/>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Educational framing based on PolyDegradeML manuscript and generated reports.</a:t>
            </a:r>
          </a:p>
        </p:txBody>
      </p:sp>
    </p:spTree>
    <p:extLst>
      <p:ext uri="{BB962C8B-B14F-4D97-AF65-F5344CB8AC3E}">
        <p14:creationId xmlns:p14="http://schemas.microsoft.com/office/powerpoint/2010/main" val="144225605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94BD40-3105-4F99-B74D-2B4B4B5455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
            <a:extLst xmlns:a="http://schemas.openxmlformats.org/drawingml/2006/main">
              <a:ext uri="{FF2B5EF4-FFF2-40B4-BE49-F238E27FC236}">
                <a16:creationId xmlns:a16="http://schemas.microsoft.com/office/drawing/2014/main" id="{9A2D7968-BD9D-40AE-8CB6-EAA5D92C010D}"/>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2F7D5C"/>
          </a:solidFill>
          <a:ln xmlns:a="http://schemas.openxmlformats.org/drawingml/2006/main" w="0">
            <a:solidFill>
              <a:srgbClr val="2F7D5C"/>
            </a:solidFill>
            <a:prstDash val="solid"/>
          </a:ln>
        </p:spPr>
      </p:sp>
      <p:sp>
        <p:nvSpPr>
          <p:cNvPr id="3" name="">
            <a:extLst xmlns:a="http://schemas.openxmlformats.org/drawingml/2006/main">
              <a:ext uri="{FF2B5EF4-FFF2-40B4-BE49-F238E27FC236}">
                <a16:creationId xmlns:a16="http://schemas.microsoft.com/office/drawing/2014/main" id="{4CC5256B-C32F-483C-9B6E-6DB15CFC1CB9}"/>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2F7D5C"/>
                </a:solidFill>
                <a:latin typeface="Aptos"/>
                <a:ea typeface="Aptos"/>
                <a:cs typeface="Aptos"/>
              </a:defRPr>
            </a:pPr>
            <a:r>
              <a:rPr sz="1050" b="1">
                <a:solidFill>
                  <a:srgbClr val="2F7D5C"/>
                </a:solidFill>
                <a:latin typeface="Aptos"/>
                <a:ea typeface="Aptos"/>
                <a:cs typeface="Aptos"/>
              </a:rPr>
              <a:t>NEXT RESEARCH STEPS</a:t>
            </a:r>
          </a:p>
        </p:txBody>
      </p:sp>
      <p:sp>
        <p:nvSpPr>
          <p:cNvPr id="4" name="">
            <a:extLst xmlns:a="http://schemas.openxmlformats.org/drawingml/2006/main">
              <a:ext uri="{FF2B5EF4-FFF2-40B4-BE49-F238E27FC236}">
                <a16:creationId xmlns:a16="http://schemas.microsoft.com/office/drawing/2014/main" id="{2EC48403-C34A-4116-9271-88B031B477BF}"/>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0B1020"/>
                </a:solidFill>
                <a:latin typeface="Aptos Display"/>
                <a:ea typeface="Aptos Display"/>
                <a:cs typeface="Aptos Display"/>
              </a:defRPr>
            </a:pPr>
            <a:r>
              <a:rPr sz="3150" b="1">
                <a:solidFill>
                  <a:srgbClr val="0B1020"/>
                </a:solidFill>
                <a:latin typeface="Aptos Display"/>
                <a:ea typeface="Aptos Display"/>
                <a:cs typeface="Aptos Display"/>
              </a:rPr>
              <a:t>The path forward is clearer now.</a:t>
            </a:r>
          </a:p>
        </p:txBody>
      </p:sp>
      <p:sp>
        <p:nvSpPr>
          <p:cNvPr id="5" name="">
            <a:extLst xmlns:a="http://schemas.openxmlformats.org/drawingml/2006/main">
              <a:ext uri="{FF2B5EF4-FFF2-40B4-BE49-F238E27FC236}">
                <a16:creationId xmlns:a16="http://schemas.microsoft.com/office/drawing/2014/main" id="{9E0D9F1D-DE05-42F4-9D5B-F6C4172491DF}"/>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334155"/>
                </a:solidFill>
                <a:latin typeface="Aptos"/>
                <a:ea typeface="Aptos"/>
                <a:cs typeface="Aptos"/>
              </a:defRPr>
            </a:pPr>
            <a:r>
              <a:rPr sz="1650" b="0">
                <a:solidFill>
                  <a:srgbClr val="334155"/>
                </a:solidFill>
                <a:latin typeface="Aptos"/>
                <a:ea typeface="Aptos"/>
                <a:cs typeface="Aptos"/>
              </a:rPr>
              <a:t>Stronger data, better representation, and experimental validation come next.</a:t>
            </a:r>
          </a:p>
        </p:txBody>
      </p:sp>
      <p:sp>
        <p:nvSpPr>
          <p:cNvPr id="6" name="">
            <a:extLst xmlns:a="http://schemas.openxmlformats.org/drawingml/2006/main">
              <a:ext uri="{FF2B5EF4-FFF2-40B4-BE49-F238E27FC236}">
                <a16:creationId xmlns:a16="http://schemas.microsoft.com/office/drawing/2014/main" id="{69564D81-7690-4AA6-9ECF-1745F414B88F}"/>
              </a:ext>
            </a:extLst>
          </p:cNvPr>
          <p:cNvSpPr>
            <a:spLocks xmlns:a="http://schemas.openxmlformats.org/drawingml/2006/main" noGrp="1"/>
          </p:cNvSpPr>
          <p:nvPr/>
        </p:nvSpPr>
        <p:spPr>
          <a:xfrm xmlns:a="http://schemas.openxmlformats.org/drawingml/2006/main">
            <a:off x="857250" y="25146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7" name="">
            <a:extLst xmlns:a="http://schemas.openxmlformats.org/drawingml/2006/main">
              <a:ext uri="{FF2B5EF4-FFF2-40B4-BE49-F238E27FC236}">
                <a16:creationId xmlns:a16="http://schemas.microsoft.com/office/drawing/2014/main" id="{330343DD-A843-4441-8EF2-183FCEC19018}"/>
              </a:ext>
            </a:extLst>
          </p:cNvPr>
          <p:cNvSpPr>
            <a:spLocks xmlns:a="http://schemas.openxmlformats.org/drawingml/2006/main" noGrp="1"/>
          </p:cNvSpPr>
          <p:nvPr/>
        </p:nvSpPr>
        <p:spPr>
          <a:xfrm xmlns:a="http://schemas.openxmlformats.org/drawingml/2006/main">
            <a:off x="1066800" y="2428875"/>
            <a:ext cx="1000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B1020"/>
                </a:solidFill>
                <a:latin typeface="Aptos"/>
                <a:ea typeface="Aptos"/>
                <a:cs typeface="Aptos"/>
              </a:defRPr>
            </a:pPr>
            <a:r>
              <a:rPr sz="1650" b="0">
                <a:solidFill>
                  <a:srgbClr val="0B1020"/>
                </a:solidFill>
                <a:latin typeface="Aptos"/>
                <a:ea typeface="Aptos"/>
                <a:cs typeface="Aptos"/>
              </a:rPr>
              <a:t>Polymer-specific structures: SMILES, BigSMILES, repeat units</a:t>
            </a:r>
          </a:p>
        </p:txBody>
      </p:sp>
      <p:sp>
        <p:nvSpPr>
          <p:cNvPr id="8" name="">
            <a:extLst xmlns:a="http://schemas.openxmlformats.org/drawingml/2006/main">
              <a:ext uri="{FF2B5EF4-FFF2-40B4-BE49-F238E27FC236}">
                <a16:creationId xmlns:a16="http://schemas.microsoft.com/office/drawing/2014/main" id="{B8A0D6CE-C531-48A6-A84F-598D9D31C219}"/>
              </a:ext>
            </a:extLst>
          </p:cNvPr>
          <p:cNvSpPr>
            <a:spLocks xmlns:a="http://schemas.openxmlformats.org/drawingml/2006/main" noGrp="1"/>
          </p:cNvSpPr>
          <p:nvPr/>
        </p:nvSpPr>
        <p:spPr>
          <a:xfrm xmlns:a="http://schemas.openxmlformats.org/drawingml/2006/main">
            <a:off x="857250" y="30480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9" name="">
            <a:extLst xmlns:a="http://schemas.openxmlformats.org/drawingml/2006/main">
              <a:ext uri="{FF2B5EF4-FFF2-40B4-BE49-F238E27FC236}">
                <a16:creationId xmlns:a16="http://schemas.microsoft.com/office/drawing/2014/main" id="{2440AD88-FFC4-47F2-AC1B-B55F736CA722}"/>
              </a:ext>
            </a:extLst>
          </p:cNvPr>
          <p:cNvSpPr>
            <a:spLocks xmlns:a="http://schemas.openxmlformats.org/drawingml/2006/main" noGrp="1"/>
          </p:cNvSpPr>
          <p:nvPr/>
        </p:nvSpPr>
        <p:spPr>
          <a:xfrm xmlns:a="http://schemas.openxmlformats.org/drawingml/2006/main">
            <a:off x="1066800" y="2962275"/>
            <a:ext cx="1000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B1020"/>
                </a:solidFill>
                <a:latin typeface="Aptos"/>
                <a:ea typeface="Aptos"/>
                <a:cs typeface="Aptos"/>
              </a:defRPr>
            </a:pPr>
            <a:r>
              <a:rPr sz="1650" b="0">
                <a:solidFill>
                  <a:srgbClr val="0B1020"/>
                </a:solidFill>
                <a:latin typeface="Aptos"/>
                <a:ea typeface="Aptos"/>
                <a:cs typeface="Aptos"/>
              </a:rPr>
              <a:t>True quantum chemical descriptors, not proxy features</a:t>
            </a:r>
          </a:p>
        </p:txBody>
      </p:sp>
      <p:sp>
        <p:nvSpPr>
          <p:cNvPr id="10" name="">
            <a:extLst xmlns:a="http://schemas.openxmlformats.org/drawingml/2006/main">
              <a:ext uri="{FF2B5EF4-FFF2-40B4-BE49-F238E27FC236}">
                <a16:creationId xmlns:a16="http://schemas.microsoft.com/office/drawing/2014/main" id="{E2C0746A-9B99-4331-9740-119A57DCFA5D}"/>
              </a:ext>
            </a:extLst>
          </p:cNvPr>
          <p:cNvSpPr>
            <a:spLocks xmlns:a="http://schemas.openxmlformats.org/drawingml/2006/main" noGrp="1"/>
          </p:cNvSpPr>
          <p:nvPr/>
        </p:nvSpPr>
        <p:spPr>
          <a:xfrm xmlns:a="http://schemas.openxmlformats.org/drawingml/2006/main">
            <a:off x="857250" y="35814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1" name="">
            <a:extLst xmlns:a="http://schemas.openxmlformats.org/drawingml/2006/main">
              <a:ext uri="{FF2B5EF4-FFF2-40B4-BE49-F238E27FC236}">
                <a16:creationId xmlns:a16="http://schemas.microsoft.com/office/drawing/2014/main" id="{6956507D-9A9E-4A91-BA4B-92AFA5A160BF}"/>
              </a:ext>
            </a:extLst>
          </p:cNvPr>
          <p:cNvSpPr>
            <a:spLocks xmlns:a="http://schemas.openxmlformats.org/drawingml/2006/main" noGrp="1"/>
          </p:cNvSpPr>
          <p:nvPr/>
        </p:nvSpPr>
        <p:spPr>
          <a:xfrm xmlns:a="http://schemas.openxmlformats.org/drawingml/2006/main">
            <a:off x="1066800" y="3495675"/>
            <a:ext cx="1000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B1020"/>
                </a:solidFill>
                <a:latin typeface="Aptos"/>
                <a:ea typeface="Aptos"/>
                <a:cs typeface="Aptos"/>
              </a:defRPr>
            </a:pPr>
            <a:r>
              <a:rPr sz="1650" b="0">
                <a:solidFill>
                  <a:srgbClr val="0B1020"/>
                </a:solidFill>
                <a:latin typeface="Aptos"/>
                <a:ea typeface="Aptos"/>
                <a:cs typeface="Aptos"/>
              </a:rPr>
              <a:t>Graph neural networks with chemically meaningful atom/bond inputs</a:t>
            </a:r>
          </a:p>
        </p:txBody>
      </p:sp>
      <p:sp>
        <p:nvSpPr>
          <p:cNvPr id="12" name="">
            <a:extLst xmlns:a="http://schemas.openxmlformats.org/drawingml/2006/main">
              <a:ext uri="{FF2B5EF4-FFF2-40B4-BE49-F238E27FC236}">
                <a16:creationId xmlns:a16="http://schemas.microsoft.com/office/drawing/2014/main" id="{45267623-5F59-4ED6-BA1E-B181FCCC582F}"/>
              </a:ext>
            </a:extLst>
          </p:cNvPr>
          <p:cNvSpPr>
            <a:spLocks xmlns:a="http://schemas.openxmlformats.org/drawingml/2006/main" noGrp="1"/>
          </p:cNvSpPr>
          <p:nvPr/>
        </p:nvSpPr>
        <p:spPr>
          <a:xfrm xmlns:a="http://schemas.openxmlformats.org/drawingml/2006/main">
            <a:off x="857250" y="41148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3" name="">
            <a:extLst xmlns:a="http://schemas.openxmlformats.org/drawingml/2006/main">
              <a:ext uri="{FF2B5EF4-FFF2-40B4-BE49-F238E27FC236}">
                <a16:creationId xmlns:a16="http://schemas.microsoft.com/office/drawing/2014/main" id="{717C9BB6-4CE2-4B61-8680-A62DD0B71D36}"/>
              </a:ext>
            </a:extLst>
          </p:cNvPr>
          <p:cNvSpPr>
            <a:spLocks xmlns:a="http://schemas.openxmlformats.org/drawingml/2006/main" noGrp="1"/>
          </p:cNvSpPr>
          <p:nvPr/>
        </p:nvSpPr>
        <p:spPr>
          <a:xfrm xmlns:a="http://schemas.openxmlformats.org/drawingml/2006/main">
            <a:off x="1066800" y="4029075"/>
            <a:ext cx="1000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B1020"/>
                </a:solidFill>
                <a:latin typeface="Aptos"/>
                <a:ea typeface="Aptos"/>
                <a:cs typeface="Aptos"/>
              </a:defRPr>
            </a:pPr>
            <a:r>
              <a:rPr sz="1650" b="0">
                <a:solidFill>
                  <a:srgbClr val="0B1020"/>
                </a:solidFill>
                <a:latin typeface="Aptos"/>
                <a:ea typeface="Aptos"/>
                <a:cs typeface="Aptos"/>
              </a:rPr>
              <a:t>External datasets and measured environmental metadata</a:t>
            </a:r>
          </a:p>
        </p:txBody>
      </p:sp>
      <p:sp>
        <p:nvSpPr>
          <p:cNvPr id="14" name="">
            <a:extLst xmlns:a="http://schemas.openxmlformats.org/drawingml/2006/main">
              <a:ext uri="{FF2B5EF4-FFF2-40B4-BE49-F238E27FC236}">
                <a16:creationId xmlns:a16="http://schemas.microsoft.com/office/drawing/2014/main" id="{F33626BC-5E7B-4203-A6B5-BE840FA80939}"/>
              </a:ext>
            </a:extLst>
          </p:cNvPr>
          <p:cNvSpPr>
            <a:spLocks xmlns:a="http://schemas.openxmlformats.org/drawingml/2006/main" noGrp="1"/>
          </p:cNvSpPr>
          <p:nvPr/>
        </p:nvSpPr>
        <p:spPr>
          <a:xfrm xmlns:a="http://schemas.openxmlformats.org/drawingml/2006/main">
            <a:off x="857250" y="46482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5" name="">
            <a:extLst xmlns:a="http://schemas.openxmlformats.org/drawingml/2006/main">
              <a:ext uri="{FF2B5EF4-FFF2-40B4-BE49-F238E27FC236}">
                <a16:creationId xmlns:a16="http://schemas.microsoft.com/office/drawing/2014/main" id="{ED84A407-7D5B-46C7-BF40-A1EAEAEE33F1}"/>
              </a:ext>
            </a:extLst>
          </p:cNvPr>
          <p:cNvSpPr>
            <a:spLocks xmlns:a="http://schemas.openxmlformats.org/drawingml/2006/main" noGrp="1"/>
          </p:cNvSpPr>
          <p:nvPr/>
        </p:nvSpPr>
        <p:spPr>
          <a:xfrm xmlns:a="http://schemas.openxmlformats.org/drawingml/2006/main">
            <a:off x="1066800" y="4562475"/>
            <a:ext cx="1000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B1020"/>
                </a:solidFill>
                <a:latin typeface="Aptos"/>
                <a:ea typeface="Aptos"/>
                <a:cs typeface="Aptos"/>
              </a:defRPr>
            </a:pPr>
            <a:r>
              <a:rPr sz="1650" b="0">
                <a:solidFill>
                  <a:srgbClr val="0B1020"/>
                </a:solidFill>
                <a:latin typeface="Aptos"/>
                <a:ea typeface="Aptos"/>
                <a:cs typeface="Aptos"/>
              </a:rPr>
              <a:t>Continuous degradation-rate modeling</a:t>
            </a:r>
          </a:p>
        </p:txBody>
      </p:sp>
      <p:sp>
        <p:nvSpPr>
          <p:cNvPr id="16" name="">
            <a:extLst xmlns:a="http://schemas.openxmlformats.org/drawingml/2006/main">
              <a:ext uri="{FF2B5EF4-FFF2-40B4-BE49-F238E27FC236}">
                <a16:creationId xmlns:a16="http://schemas.microsoft.com/office/drawing/2014/main" id="{A6175786-C65D-43B8-8B4B-A17373F79074}"/>
              </a:ext>
            </a:extLst>
          </p:cNvPr>
          <p:cNvSpPr>
            <a:spLocks xmlns:a="http://schemas.openxmlformats.org/drawingml/2006/main" noGrp="1"/>
          </p:cNvSpPr>
          <p:nvPr/>
        </p:nvSpPr>
        <p:spPr>
          <a:xfrm xmlns:a="http://schemas.openxmlformats.org/drawingml/2006/main">
            <a:off x="857250" y="5181600"/>
            <a:ext cx="76200" cy="762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17" name="">
            <a:extLst xmlns:a="http://schemas.openxmlformats.org/drawingml/2006/main">
              <a:ext uri="{FF2B5EF4-FFF2-40B4-BE49-F238E27FC236}">
                <a16:creationId xmlns:a16="http://schemas.microsoft.com/office/drawing/2014/main" id="{0F4CF4EB-40D9-4F63-BE15-783ED84B834B}"/>
              </a:ext>
            </a:extLst>
          </p:cNvPr>
          <p:cNvSpPr>
            <a:spLocks xmlns:a="http://schemas.openxmlformats.org/drawingml/2006/main" noGrp="1"/>
          </p:cNvSpPr>
          <p:nvPr/>
        </p:nvSpPr>
        <p:spPr>
          <a:xfrm xmlns:a="http://schemas.openxmlformats.org/drawingml/2006/main">
            <a:off x="1066800" y="5095875"/>
            <a:ext cx="100012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B1020"/>
                </a:solidFill>
                <a:latin typeface="Aptos"/>
                <a:ea typeface="Aptos"/>
                <a:cs typeface="Aptos"/>
              </a:defRPr>
            </a:pPr>
            <a:r>
              <a:rPr sz="1650" b="0">
                <a:solidFill>
                  <a:srgbClr val="0B1020"/>
                </a:solidFill>
                <a:latin typeface="Aptos"/>
                <a:ea typeface="Aptos"/>
                <a:cs typeface="Aptos"/>
              </a:rPr>
              <a:t>Active learning and experimental validation</a:t>
            </a:r>
          </a:p>
        </p:txBody>
      </p:sp>
      <p:sp>
        <p:nvSpPr>
          <p:cNvPr id="18" name="">
            <a:extLst xmlns:a="http://schemas.openxmlformats.org/drawingml/2006/main">
              <a:ext uri="{FF2B5EF4-FFF2-40B4-BE49-F238E27FC236}">
                <a16:creationId xmlns:a16="http://schemas.microsoft.com/office/drawing/2014/main" id="{1AED5599-4D16-4442-A7F7-58293FCEE49A}"/>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19" name="">
            <a:extLst xmlns:a="http://schemas.openxmlformats.org/drawingml/2006/main">
              <a:ext uri="{FF2B5EF4-FFF2-40B4-BE49-F238E27FC236}">
                <a16:creationId xmlns:a16="http://schemas.microsoft.com/office/drawing/2014/main" id="{ACEA5B27-220A-4AE3-9810-5BCFFDCE3A7E}"/>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Source: paper/manuscript_draft.md, Future Work</a:t>
            </a:r>
          </a:p>
        </p:txBody>
      </p:sp>
    </p:spTree>
    <p:extLst>
      <p:ext uri="{BB962C8B-B14F-4D97-AF65-F5344CB8AC3E}">
        <p14:creationId xmlns:p14="http://schemas.microsoft.com/office/powerpoint/2010/main" val="174528449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6AB887-E836-4BFC-A735-BA04385A07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020"/>
          </a:solidFill>
          <a:ln xmlns:a="http://schemas.openxmlformats.org/drawingml/2006/main" w="0">
            <a:solidFill>
              <a:srgbClr val="0B1020"/>
            </a:solidFill>
            <a:prstDash val="solid"/>
          </a:ln>
        </p:spPr>
      </p:sp>
      <p:sp>
        <p:nvSpPr>
          <p:cNvPr id="2" name="">
            <a:extLst xmlns:a="http://schemas.openxmlformats.org/drawingml/2006/main">
              <a:ext uri="{FF2B5EF4-FFF2-40B4-BE49-F238E27FC236}">
                <a16:creationId xmlns:a16="http://schemas.microsoft.com/office/drawing/2014/main" id="{27FCE934-636B-4E3C-ABAB-BAC3C1E8197C}"/>
              </a:ext>
            </a:extLst>
          </p:cNvPr>
          <p:cNvSpPr>
            <a:spLocks xmlns:a="http://schemas.openxmlformats.org/drawingml/2006/main" noGrp="1"/>
          </p:cNvSpPr>
          <p:nvPr/>
        </p:nvSpPr>
        <p:spPr>
          <a:xfrm xmlns:a="http://schemas.openxmlformats.org/drawingml/2006/main">
            <a:off x="514350" y="419100"/>
            <a:ext cx="114300" cy="114300"/>
          </a:xfrm>
          <a:prstGeom xmlns:a="http://schemas.openxmlformats.org/drawingml/2006/main" prst="rect">
            <a:avLst/>
          </a:prstGeom>
          <a:solidFill xmlns:a="http://schemas.openxmlformats.org/drawingml/2006/main">
            <a:srgbClr val="C58B2B"/>
          </a:solidFill>
          <a:ln xmlns:a="http://schemas.openxmlformats.org/drawingml/2006/main" w="0">
            <a:solidFill>
              <a:srgbClr val="C58B2B"/>
            </a:solidFill>
            <a:prstDash val="solid"/>
          </a:ln>
        </p:spPr>
      </p:sp>
      <p:sp>
        <p:nvSpPr>
          <p:cNvPr id="3" name="">
            <a:extLst xmlns:a="http://schemas.openxmlformats.org/drawingml/2006/main">
              <a:ext uri="{FF2B5EF4-FFF2-40B4-BE49-F238E27FC236}">
                <a16:creationId xmlns:a16="http://schemas.microsoft.com/office/drawing/2014/main" id="{0202C39E-8018-4ECE-B12E-1EBF8C470966}"/>
              </a:ext>
            </a:extLst>
          </p:cNvPr>
          <p:cNvSpPr>
            <a:spLocks xmlns:a="http://schemas.openxmlformats.org/drawingml/2006/main" noGrp="1"/>
          </p:cNvSpPr>
          <p:nvPr/>
        </p:nvSpPr>
        <p:spPr>
          <a:xfrm xmlns:a="http://schemas.openxmlformats.org/drawingml/2006/main">
            <a:off x="723900" y="342900"/>
            <a:ext cx="533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050" b="1">
                <a:solidFill>
                  <a:srgbClr val="C58B2B"/>
                </a:solidFill>
                <a:latin typeface="Aptos"/>
                <a:ea typeface="Aptos"/>
                <a:cs typeface="Aptos"/>
              </a:defRPr>
            </a:pPr>
            <a:r>
              <a:rPr sz="1050" b="1">
                <a:solidFill>
                  <a:srgbClr val="C58B2B"/>
                </a:solidFill>
                <a:latin typeface="Aptos"/>
                <a:ea typeface="Aptos"/>
                <a:cs typeface="Aptos"/>
              </a:rPr>
              <a:t>CLOSING</a:t>
            </a:r>
          </a:p>
        </p:txBody>
      </p:sp>
      <p:sp>
        <p:nvSpPr>
          <p:cNvPr id="4" name="">
            <a:extLst xmlns:a="http://schemas.openxmlformats.org/drawingml/2006/main">
              <a:ext uri="{FF2B5EF4-FFF2-40B4-BE49-F238E27FC236}">
                <a16:creationId xmlns:a16="http://schemas.microsoft.com/office/drawing/2014/main" id="{3FEC9655-1AF6-4E9B-9015-080BAE7070A4}"/>
              </a:ext>
            </a:extLst>
          </p:cNvPr>
          <p:cNvSpPr>
            <a:spLocks xmlns:a="http://schemas.openxmlformats.org/drawingml/2006/main" noGrp="1"/>
          </p:cNvSpPr>
          <p:nvPr/>
        </p:nvSpPr>
        <p:spPr>
          <a:xfrm xmlns:a="http://schemas.openxmlformats.org/drawingml/2006/main">
            <a:off x="514350" y="781050"/>
            <a:ext cx="7239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A model is useful only when we understand its uncertainty.</a:t>
            </a:r>
          </a:p>
        </p:txBody>
      </p:sp>
      <p:sp>
        <p:nvSpPr>
          <p:cNvPr id="5" name="">
            <a:extLst xmlns:a="http://schemas.openxmlformats.org/drawingml/2006/main">
              <a:ext uri="{FF2B5EF4-FFF2-40B4-BE49-F238E27FC236}">
                <a16:creationId xmlns:a16="http://schemas.microsoft.com/office/drawing/2014/main" id="{329A54BA-8E88-42F3-98EE-50355F7BCBAC}"/>
              </a:ext>
            </a:extLst>
          </p:cNvPr>
          <p:cNvSpPr>
            <a:spLocks xmlns:a="http://schemas.openxmlformats.org/drawingml/2006/main" noGrp="1"/>
          </p:cNvSpPr>
          <p:nvPr/>
        </p:nvSpPr>
        <p:spPr>
          <a:xfrm xmlns:a="http://schemas.openxmlformats.org/drawingml/2006/main">
            <a:off x="533400" y="1905000"/>
            <a:ext cx="7239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DCE3EA"/>
                </a:solidFill>
                <a:latin typeface="Aptos"/>
                <a:ea typeface="Aptos"/>
                <a:cs typeface="Aptos"/>
              </a:defRPr>
            </a:pPr>
            <a:r>
              <a:rPr sz="1650" b="0">
                <a:solidFill>
                  <a:srgbClr val="DCE3EA"/>
                </a:solidFill>
                <a:latin typeface="Aptos"/>
                <a:ea typeface="Aptos"/>
                <a:cs typeface="Aptos"/>
              </a:rPr>
              <a:t>PolyDegradeML is a case study in turning prediction into scientific judgment.</a:t>
            </a:r>
          </a:p>
        </p:txBody>
      </p:sp>
      <p:sp>
        <p:nvSpPr>
          <p:cNvPr id="6" name="">
            <a:extLst xmlns:a="http://schemas.openxmlformats.org/drawingml/2006/main">
              <a:ext uri="{FF2B5EF4-FFF2-40B4-BE49-F238E27FC236}">
                <a16:creationId xmlns:a16="http://schemas.microsoft.com/office/drawing/2014/main" id="{C3FBB69F-422D-48F0-83D7-02AA70D45ED9}"/>
              </a:ext>
            </a:extLst>
          </p:cNvPr>
          <p:cNvSpPr>
            <a:spLocks xmlns:a="http://schemas.openxmlformats.org/drawingml/2006/main" noGrp="1"/>
          </p:cNvSpPr>
          <p:nvPr/>
        </p:nvSpPr>
        <p:spPr>
          <a:xfrm xmlns:a="http://schemas.openxmlformats.org/drawingml/2006/main">
            <a:off x="1238250" y="3429000"/>
            <a:ext cx="971550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0">
                <a:solidFill>
                  <a:srgbClr val="E5E7EB"/>
                </a:solidFill>
                <a:latin typeface="Aptos"/>
                <a:ea typeface="Aptos"/>
                <a:cs typeface="Aptos"/>
              </a:defRPr>
            </a:pPr>
            <a:r>
              <a:rPr sz="2100" b="0">
                <a:solidFill>
                  <a:srgbClr val="E5E7EB"/>
                </a:solidFill>
                <a:latin typeface="Aptos"/>
                <a:ea typeface="Aptos"/>
                <a:cs typeface="Aptos"/>
              </a:rPr>
              <a:t>From biodegradation chemistry to descriptor-based ML to reliability-centered evaluation, the project shows how computational tools can become more honest, reusable, and scientifically useful.</a:t>
            </a:r>
          </a:p>
        </p:txBody>
      </p:sp>
      <p:sp>
        <p:nvSpPr>
          <p:cNvPr id="7" name="">
            <a:extLst xmlns:a="http://schemas.openxmlformats.org/drawingml/2006/main">
              <a:ext uri="{FF2B5EF4-FFF2-40B4-BE49-F238E27FC236}">
                <a16:creationId xmlns:a16="http://schemas.microsoft.com/office/drawing/2014/main" id="{0CE70EF6-8FA5-4E36-A7E1-839F28AE4D93}"/>
              </a:ext>
            </a:extLst>
          </p:cNvPr>
          <p:cNvSpPr>
            <a:spLocks xmlns:a="http://schemas.openxmlformats.org/drawingml/2006/main" noGrp="1"/>
          </p:cNvSpPr>
          <p:nvPr/>
        </p:nvSpPr>
        <p:spPr>
          <a:xfrm xmlns:a="http://schemas.openxmlformats.org/drawingml/2006/main">
            <a:off x="514350" y="6362700"/>
            <a:ext cx="11163300" cy="9525"/>
          </a:xfrm>
          <a:prstGeom xmlns:a="http://schemas.openxmlformats.org/drawingml/2006/main" prst="rect">
            <a:avLst/>
          </a:prstGeom>
          <a:solidFill xmlns:a="http://schemas.openxmlformats.org/drawingml/2006/main">
            <a:srgbClr val="D6D3CA"/>
          </a:solidFill>
          <a:ln xmlns:a="http://schemas.openxmlformats.org/drawingml/2006/main" w="0">
            <a:solidFill>
              <a:srgbClr val="D6D3CA"/>
            </a:solidFill>
            <a:prstDash val="solid"/>
          </a:ln>
        </p:spPr>
      </p:sp>
      <p:sp>
        <p:nvSpPr>
          <p:cNvPr id="8" name="">
            <a:extLst xmlns:a="http://schemas.openxmlformats.org/drawingml/2006/main">
              <a:ext uri="{FF2B5EF4-FFF2-40B4-BE49-F238E27FC236}">
                <a16:creationId xmlns:a16="http://schemas.microsoft.com/office/drawing/2014/main" id="{C09C1B78-D229-4A86-8716-F14ECBBFACE6}"/>
              </a:ext>
            </a:extLst>
          </p:cNvPr>
          <p:cNvSpPr>
            <a:spLocks xmlns:a="http://schemas.openxmlformats.org/drawingml/2006/main" noGrp="1"/>
          </p:cNvSpPr>
          <p:nvPr/>
        </p:nvSpPr>
        <p:spPr>
          <a:xfrm xmlns:a="http://schemas.openxmlformats.org/drawingml/2006/main">
            <a:off x="533400" y="6438900"/>
            <a:ext cx="1047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4748B"/>
                </a:solidFill>
                <a:latin typeface="Aptos"/>
                <a:ea typeface="Aptos"/>
                <a:cs typeface="Aptos"/>
              </a:defRPr>
            </a:pPr>
            <a:r>
              <a:rPr sz="750" b="0">
                <a:solidFill>
                  <a:srgbClr val="64748B"/>
                </a:solidFill>
                <a:latin typeface="Aptos"/>
                <a:ea typeface="Aptos"/>
                <a:cs typeface="Aptos"/>
              </a:rPr>
              <a:t>PolyDegradeML | Draft academic and TED-style conference presentation</a:t>
            </a:r>
          </a:p>
        </p:txBody>
      </p:sp>
    </p:spTree>
    <p:extLst>
      <p:ext uri="{BB962C8B-B14F-4D97-AF65-F5344CB8AC3E}">
        <p14:creationId xmlns:p14="http://schemas.microsoft.com/office/powerpoint/2010/main" val="1686978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2026-05-28T20:38:17.4700000Z</dcterms:created>
  <dcterms:modified xsi:type="dcterms:W3CDTF">2026-05-28T20:38:17.4700000Z</dcterms:modified>
</coreProperties>
</file>