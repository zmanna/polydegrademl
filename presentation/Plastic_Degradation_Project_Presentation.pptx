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16"/>
  </p:normalViewPr>
  <p:slideViewPr>
    <p:cSldViewPr snapToGrid="0" snapToObjects="1">
      <p:cViewPr varScale="1">
        <p:scale>
          <a:sx n="95" d="100"/>
          <a:sy n="95" d="100"/>
        </p:scale>
        <p:origin x="200" y="8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32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8480" y="546401"/>
            <a:ext cx="3403600" cy="17235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dirty="0">
                <a:solidFill>
                  <a:srgbClr val="162033"/>
                </a:solidFill>
                <a:latin typeface="Aptos"/>
              </a:rPr>
              <a:t>Predicting Plastic Degradation
with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4528" y="2907792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dirty="0">
                <a:solidFill>
                  <a:schemeClr val="bg1"/>
                </a:solidFill>
                <a:latin typeface="Aptos"/>
              </a:rPr>
              <a:t>From descriptor baselines to reliability-aware model selection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4526280"/>
            <a:ext cx="292608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482803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3257FF"/>
                </a:solidFill>
                <a:latin typeface="Aptos"/>
              </a:rPr>
              <a:t>Aryamann Zutshi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175504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F6B7A"/>
                </a:solidFill>
                <a:latin typeface="Aptos"/>
              </a:rPr>
              <a:t>EECS 692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413248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F6B7A"/>
                </a:solidFill>
                <a:latin typeface="Aptos"/>
              </a:rPr>
              <a:t>Instructor: Dr. David Johnson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2647" y="740664"/>
            <a:ext cx="5792993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dirty="0">
                <a:solidFill>
                  <a:srgbClr val="3257FF"/>
                </a:solidFill>
                <a:latin typeface="Aptos"/>
              </a:rPr>
              <a:t>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2647" y="1528387"/>
            <a:ext cx="6250193" cy="24622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0" dirty="0">
                <a:solidFill>
                  <a:srgbClr val="162033"/>
                </a:solidFill>
                <a:latin typeface="Aptos"/>
              </a:rPr>
              <a:t>This project moved from simply building classifiers to asking a more important question: which model is actually trustworthy when conditions get harder?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2647" y="4329684"/>
            <a:ext cx="5884433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1905" y="4526280"/>
            <a:ext cx="5365913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dirty="0">
                <a:solidFill>
                  <a:srgbClr val="3257FF"/>
                </a:solidFill>
                <a:latin typeface="Aptos"/>
              </a:rPr>
              <a:t>Final 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1905" y="5084064"/>
            <a:ext cx="5365913" cy="830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0" dirty="0">
                <a:solidFill>
                  <a:srgbClr val="162033"/>
                </a:solidFill>
                <a:latin typeface="Aptos"/>
              </a:rPr>
              <a:t>Top-ranked feature set + Random Forest gave the best balance between accuracy, calibration, and robustness.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19088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5F6B7A"/>
                </a:solidFill>
                <a:latin typeface="Aptos"/>
              </a:rP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62033"/>
                </a:solidFill>
                <a:latin typeface="Aptos"/>
              </a:rPr>
              <a:t>Project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886968"/>
            <a:ext cx="1554480" cy="54864"/>
          </a:xfrm>
          <a:prstGeom prst="rect">
            <a:avLst/>
          </a:prstGeom>
          <a:solidFill>
            <a:srgbClr val="32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F6B7A"/>
                </a:solidFill>
                <a:latin typeface="Aptos"/>
              </a:rPr>
              <a:t>The project changed from performance-first modeling to reliability-aware selection.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486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581912"/>
            <a:ext cx="5120640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Predict biodegradability from molecular descriptor data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Compare classical ML, neural networks, and graph-inspired methods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Stress-test the pipeline with validation, feature engineering, and uncertainty analysis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Choose a final model that is accurate and trustworthy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463040"/>
            <a:ext cx="4800600" cy="1417320"/>
          </a:xfrm>
          <a:prstGeom prst="round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02552" y="157276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3257FF"/>
                </a:solidFill>
                <a:latin typeface="Aptos"/>
              </a:rPr>
              <a:t>Research shift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2552" y="1847088"/>
            <a:ext cx="448056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The most important change in the project was moving from “which model scores highest?” to “which model can actually be defended?”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3108960"/>
            <a:ext cx="4800600" cy="1188720"/>
          </a:xfrm>
          <a:prstGeom prst="round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02552" y="321868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E76F51"/>
                </a:solidFill>
                <a:latin typeface="Aptos"/>
              </a:rPr>
              <a:t>Why this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2552" y="3493008"/>
            <a:ext cx="4480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A high score alone does not show whether the model generalizes, calibrates well, or knows when it might be wrong.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4526280"/>
            <a:ext cx="4800600" cy="1188720"/>
          </a:xfrm>
          <a:prstGeom prst="roundRect">
            <a:avLst/>
          </a:prstGeom>
          <a:solidFill>
            <a:srgbClr val="E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02552" y="463600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Final framing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2552" y="4910328"/>
            <a:ext cx="4480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The final model should be selected by reliability, not just by a single favorable metric.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6419088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5F6B7A"/>
                </a:solidFill>
                <a:latin typeface="Aptos"/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62033"/>
                </a:solidFill>
                <a:latin typeface="Aptos"/>
              </a:rPr>
              <a:t>Dataset and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886968"/>
            <a:ext cx="1554480" cy="54864"/>
          </a:xfrm>
          <a:prstGeom prst="rect">
            <a:avLst/>
          </a:prstGeom>
          <a:solidFill>
            <a:srgbClr val="32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F6B7A"/>
                </a:solidFill>
                <a:latin typeface="Aptos"/>
              </a:rPr>
              <a:t>QSAR biodegradation dataset used throughout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20116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527048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3257FF"/>
                </a:solidFill>
                <a:latin typeface="Aptos"/>
              </a:rPr>
              <a:t>1,055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920240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Aptos"/>
              </a:rPr>
              <a:t>samples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417320"/>
            <a:ext cx="20116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36392" y="1527048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0F766E"/>
                </a:solidFill>
                <a:latin typeface="Aptos"/>
              </a:rPr>
              <a:t>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392" y="1920240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Aptos"/>
              </a:rPr>
              <a:t>molecular descriptors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1417320"/>
            <a:ext cx="20116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30952" y="1527048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E76F51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0952" y="1920240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Aptos"/>
              </a:rPr>
              <a:t>target classes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743200"/>
            <a:ext cx="557784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" y="2907792"/>
            <a:ext cx="5212079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Target: RB vs NRB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Examples of descriptors: SpMax_L, SpMax_B_m, SM6_B_m, nN, LOC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Good for QSAR classification, but not a true polymer graph dataset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No continuous degradation-rate constants or true pathway labels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202688"/>
            <a:ext cx="4297680" cy="1325880"/>
          </a:xfrm>
          <a:prstGeom prst="round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75220" y="2363216"/>
            <a:ext cx="3977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dirty="0">
                <a:solidFill>
                  <a:srgbClr val="3257FF"/>
                </a:solidFill>
                <a:latin typeface="Aptos"/>
              </a:rPr>
              <a:t>Key limitation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2683764"/>
            <a:ext cx="39776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dirty="0">
                <a:solidFill>
                  <a:srgbClr val="162033"/>
                </a:solidFill>
                <a:latin typeface="Aptos"/>
              </a:rPr>
              <a:t>The data supported biodegradability classification well, but it did not directly support every original project goal, so the later weeks had to be adapted honestly.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4253992"/>
            <a:ext cx="4297680" cy="1417320"/>
          </a:xfrm>
          <a:prstGeom prst="round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35240" y="4304284"/>
            <a:ext cx="39776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dirty="0">
                <a:solidFill>
                  <a:srgbClr val="E76F51"/>
                </a:solidFill>
                <a:latin typeface="Aptos"/>
              </a:rPr>
              <a:t>What that changed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7120" y="4560316"/>
            <a:ext cx="39776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dirty="0">
                <a:solidFill>
                  <a:srgbClr val="162033"/>
                </a:solidFill>
                <a:latin typeface="Aptos"/>
              </a:rPr>
              <a:t>Regression on true rate constants, pathway labels, and chemistry-native polymer graphs became future-work directions instead of claims I could make from this dataset.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6419088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5F6B7A"/>
                </a:solidFill>
                <a:latin typeface="Aptos"/>
              </a:rP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1143000"/>
            <a:ext cx="10972800" cy="4389120"/>
          </a:xfrm>
          <a:prstGeom prst="roundRect">
            <a:avLst/>
          </a:prstGeom>
          <a:solidFill>
            <a:srgbClr val="32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148840"/>
            <a:ext cx="74980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How the Project Evolved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971800"/>
            <a:ext cx="67665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E6EBFF"/>
                </a:solidFill>
                <a:latin typeface="Aptos"/>
              </a:rPr>
              <a:t>Each week answered a different modeling question instead of repeating the same experiment.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58200" y="1828800"/>
            <a:ext cx="233172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41080" y="2359152"/>
            <a:ext cx="19659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>
                <a:solidFill>
                  <a:srgbClr val="3257FF"/>
                </a:solidFill>
                <a:latin typeface="Aptos"/>
              </a:rPr>
              <a:t>Project
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19088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5F6B7A"/>
                </a:solidFill>
                <a:latin typeface="Aptos"/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62033"/>
                </a:solidFill>
                <a:latin typeface="Aptos"/>
              </a:rPr>
              <a:t>Model Progression: Weeks 5 to 7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886968"/>
            <a:ext cx="1554480" cy="54864"/>
          </a:xfrm>
          <a:prstGeom prst="rect">
            <a:avLst/>
          </a:prstGeom>
          <a:solidFill>
            <a:srgbClr val="32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F6B7A"/>
                </a:solidFill>
                <a:latin typeface="Aptos"/>
              </a:rPr>
              <a:t>Starting with classical baselines before testing more complex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3949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581912"/>
            <a:ext cx="5029200" cy="3904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Week 5 established the first strong baseline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Random Forest outperformed Logistic Regression on the standard split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Week 6 and Week 7 tested whether more complex models would help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They did not beat the strongest classical baseline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645920"/>
            <a:ext cx="4754880" cy="1143000"/>
          </a:xfrm>
          <a:prstGeom prst="roundRect">
            <a:avLst/>
          </a:prstGeom>
          <a:solidFill>
            <a:srgbClr val="E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56831" y="1755648"/>
            <a:ext cx="4434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Main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6831" y="2029968"/>
            <a:ext cx="4434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Model complexity alone did not improve results. Representation quality mattered more.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063240"/>
            <a:ext cx="4754880" cy="1051560"/>
          </a:xfrm>
          <a:prstGeom prst="round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56831" y="3172968"/>
            <a:ext cx="4434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E76F51"/>
                </a:solidFill>
                <a:latin typeface="Aptos"/>
              </a:rPr>
              <a:t>Transition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1" y="3447288"/>
            <a:ext cx="4434840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This set up the next question: do these models still hold up once the data distribution changes?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4434840"/>
            <a:ext cx="4754880" cy="1051560"/>
          </a:xfrm>
          <a:prstGeom prst="round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56831" y="4544568"/>
            <a:ext cx="4434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3257FF"/>
                </a:solidFill>
                <a:latin typeface="Aptos"/>
              </a:rPr>
              <a:t>Figure on next slide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1" y="4818888"/>
            <a:ext cx="4434840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The next slide shows the direct comparison between the baseline, the FNN, and the descriptor-graph prototype.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6419088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5F6B7A"/>
                </a:solidFill>
                <a:latin typeface="Aptos"/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62033"/>
                </a:solidFill>
                <a:latin typeface="Aptos"/>
              </a:rPr>
              <a:t>Figure: Model Progression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886968"/>
            <a:ext cx="1554480" cy="54864"/>
          </a:xfrm>
          <a:prstGeom prst="rect">
            <a:avLst/>
          </a:prstGeom>
          <a:solidFill>
            <a:srgbClr val="32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F6B7A"/>
                </a:solidFill>
                <a:latin typeface="Aptos"/>
              </a:rPr>
              <a:t>Direct comparison of Weeks 5 to 7 models on the standard evaluation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81381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model_progress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45920"/>
            <a:ext cx="7726679" cy="347700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098280" y="1737360"/>
            <a:ext cx="2423160" cy="1691640"/>
          </a:xfrm>
          <a:prstGeom prst="roundRect">
            <a:avLst/>
          </a:prstGeom>
          <a:solidFill>
            <a:srgbClr val="E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62872" y="184708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What it showed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2872" y="2121408"/>
            <a:ext cx="210312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Random Forest stayed strongest, while the FNN and descriptor-graph prototype did not justify their extra complexity.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3703320"/>
            <a:ext cx="2423160" cy="1600200"/>
          </a:xfrm>
          <a:prstGeom prst="round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62872" y="381304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E76F51"/>
                </a:solidFill>
                <a:latin typeface="Aptos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62872" y="4087368"/>
            <a:ext cx="21031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This figure is one of the main pieces of evidence for the final project conclusion.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5F6B7A"/>
                </a:solidFill>
                <a:latin typeface="Aptos"/>
              </a:rP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62033"/>
                </a:solidFill>
                <a:latin typeface="Aptos"/>
              </a:rPr>
              <a:t>Cross-Environment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886968"/>
            <a:ext cx="1554480" cy="54864"/>
          </a:xfrm>
          <a:prstGeom prst="rect">
            <a:avLst/>
          </a:prstGeom>
          <a:solidFill>
            <a:srgbClr val="32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F6B7A"/>
                </a:solidFill>
                <a:latin typeface="Aptos"/>
              </a:rPr>
              <a:t>Week 8 tested whether learned patterns transferred under distribution shift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3949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581912"/>
            <a:ext cx="5029200" cy="3904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I created 3 proxy environments using descriptor-space clustering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Then I ran leave-one-environment-out validation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All models dropped hard under the shifted distribution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This was where generalization clearly became the central problem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645920"/>
            <a:ext cx="4754880" cy="1143000"/>
          </a:xfrm>
          <a:prstGeom prst="round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56831" y="1755648"/>
            <a:ext cx="4434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E76F51"/>
                </a:solidFill>
                <a:latin typeface="Aptos"/>
              </a:rPr>
              <a:t>Most important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6831" y="2029968"/>
            <a:ext cx="4434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Random Forest still performed best, but even it dropped to about 0.421 mean held-out accuracy.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063240"/>
            <a:ext cx="4754880" cy="1143000"/>
          </a:xfrm>
          <a:prstGeom prst="roundRect">
            <a:avLst/>
          </a:prstGeom>
          <a:solidFill>
            <a:srgbClr val="E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56831" y="3172968"/>
            <a:ext cx="4434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What changed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1" y="3447288"/>
            <a:ext cx="4434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From this point on, the project was no longer just about prediction quality. It was about generalization and reliability.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4480560"/>
            <a:ext cx="4754880" cy="1005840"/>
          </a:xfrm>
          <a:prstGeom prst="round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56831" y="4590288"/>
            <a:ext cx="4434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3257FF"/>
                </a:solidFill>
                <a:latin typeface="Aptos"/>
              </a:rPr>
              <a:t>Figure on next slide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1" y="4864608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The next slide shows the full cross-environment comparison clearly on its own.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6419088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5F6B7A"/>
                </a:solidFill>
                <a:latin typeface="Aptos"/>
              </a:rP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62033"/>
                </a:solidFill>
                <a:latin typeface="Aptos"/>
              </a:rPr>
              <a:t>Figure: Cross-Environment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886968"/>
            <a:ext cx="1554480" cy="54864"/>
          </a:xfrm>
          <a:prstGeom prst="rect">
            <a:avLst/>
          </a:prstGeom>
          <a:solidFill>
            <a:srgbClr val="32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F6B7A"/>
                </a:solidFill>
                <a:latin typeface="Aptos"/>
              </a:rPr>
              <a:t>Week 8 leave-one-environment-out validation across proxy environments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81381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week8_cross_enviro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45920"/>
            <a:ext cx="7726679" cy="463600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098280" y="1737360"/>
            <a:ext cx="2423160" cy="1691640"/>
          </a:xfrm>
          <a:prstGeom prst="roundRect">
            <a:avLst/>
          </a:prstGeom>
          <a:solidFill>
            <a:srgbClr val="E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62872" y="184708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What it showed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2872" y="2121408"/>
            <a:ext cx="210312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Even the strongest models struggled under distribution shift, which made robustness the real bottleneck in the project.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3703320"/>
            <a:ext cx="2423160" cy="1600200"/>
          </a:xfrm>
          <a:prstGeom prst="round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62872" y="381304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E76F51"/>
                </a:solidFill>
                <a:latin typeface="Aptos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62872" y="4087368"/>
            <a:ext cx="21031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This figure is one of the main pieces of evidence for the final project conclusion.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5F6B7A"/>
                </a:solidFill>
                <a:latin typeface="Aptos"/>
              </a:rP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62033"/>
                </a:solidFill>
                <a:latin typeface="Aptos"/>
              </a:rPr>
              <a:t>Validation Repair and Feature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886968"/>
            <a:ext cx="1554480" cy="54864"/>
          </a:xfrm>
          <a:prstGeom prst="rect">
            <a:avLst/>
          </a:prstGeom>
          <a:solidFill>
            <a:srgbClr val="32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F6B7A"/>
                </a:solidFill>
                <a:latin typeface="Aptos"/>
              </a:rPr>
              <a:t>Weeks 9 and 10 focused on pipeline correctness and chemistry-aware expansion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3949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581912"/>
            <a:ext cx="5029200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I repaired the validation setup with 5-fold stratified cross-validation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SMOTE was applied only on training folds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Then I added chemistry-aware proxy features for polarity, heteroatoms, and topology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The best Week 10 setup improved RB recall without changing the core dataset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645920"/>
            <a:ext cx="4754880" cy="1188720"/>
          </a:xfrm>
          <a:prstGeom prst="roundRect">
            <a:avLst/>
          </a:prstGeom>
          <a:solidFill>
            <a:srgbClr val="E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56831" y="1755648"/>
            <a:ext cx="4434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Best Week 10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6831" y="2029968"/>
            <a:ext cx="44348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Tier 1 + Tier 2 with FNN and SMOTE reached 0.8758 accuracy and 0.8399 RB recall.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154680"/>
            <a:ext cx="4754880" cy="1097280"/>
          </a:xfrm>
          <a:prstGeom prst="round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56831" y="3264408"/>
            <a:ext cx="4434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E76F51"/>
                </a:solidFill>
                <a:latin typeface="Aptos"/>
              </a:rPr>
              <a:t>Why this mattered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1" y="3538728"/>
            <a:ext cx="4434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It showed that chemistry-aware features could help, but they did not remove the broader robustness problem.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4526280"/>
            <a:ext cx="4754880" cy="914400"/>
          </a:xfrm>
          <a:prstGeom prst="round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56831" y="4636008"/>
            <a:ext cx="4434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3257FF"/>
                </a:solidFill>
                <a:latin typeface="Aptos"/>
              </a:rPr>
              <a:t>Figure on next slide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1" y="4910328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The next slide isolates the Week 10 feature-engineering chart.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6419088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5F6B7A"/>
                </a:solidFill>
                <a:latin typeface="Aptos"/>
              </a:rP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62033"/>
                </a:solidFill>
                <a:latin typeface="Aptos"/>
              </a:rPr>
              <a:t>Figure: Week 10 Feature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886968"/>
            <a:ext cx="1554480" cy="54864"/>
          </a:xfrm>
          <a:prstGeom prst="rect">
            <a:avLst/>
          </a:prstGeom>
          <a:solidFill>
            <a:srgbClr val="32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F6B7A"/>
                </a:solidFill>
                <a:latin typeface="Aptos"/>
              </a:rPr>
              <a:t>Comparing baseline descriptors against the chemistry-aware proxy feature expansion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81381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week10_feature_engine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45920"/>
            <a:ext cx="7726679" cy="2971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098280" y="1737360"/>
            <a:ext cx="2423160" cy="1691640"/>
          </a:xfrm>
          <a:prstGeom prst="roundRect">
            <a:avLst/>
          </a:prstGeom>
          <a:solidFill>
            <a:srgbClr val="E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62872" y="184708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What it showed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2872" y="2121408"/>
            <a:ext cx="210312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The added chemistry-aware features helped in some settings, especially for recall, but they did not solve the deeper generalization issue.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3703320"/>
            <a:ext cx="2423160" cy="1600200"/>
          </a:xfrm>
          <a:prstGeom prst="round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62872" y="381304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E76F51"/>
                </a:solidFill>
                <a:latin typeface="Aptos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62872" y="4087368"/>
            <a:ext cx="21031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This figure is one of the main pieces of evidence for the final project conclusion.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5F6B7A"/>
                </a:solidFill>
                <a:latin typeface="Aptos"/>
              </a:rP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62033"/>
                </a:solidFill>
                <a:latin typeface="Aptos"/>
              </a:rPr>
              <a:t>Feature Selection Changed the Story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886968"/>
            <a:ext cx="1554480" cy="54864"/>
          </a:xfrm>
          <a:prstGeom prst="rect">
            <a:avLst/>
          </a:prstGeom>
          <a:solidFill>
            <a:srgbClr val="32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F6B7A"/>
                </a:solidFill>
                <a:latin typeface="Aptos"/>
              </a:rPr>
              <a:t>Week 11 showed that smaller, more meaningful feature sets could stay competitive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3949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581912"/>
            <a:ext cx="5029200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The strongest ranked features included SpMax_B_m, SpMax_L, SM6_B_m, and SpPosA_B_p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Proxy features like mass_topology_proxy and polarity_proxy also mattered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Top-ranked and reduced-hybrid stayed competitive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Proxy-only features were clearly the weakest 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737360"/>
            <a:ext cx="4754880" cy="1188720"/>
          </a:xfrm>
          <a:prstGeom prst="roundRect">
            <a:avLst/>
          </a:prstGeom>
          <a:solidFill>
            <a:srgbClr val="E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56831" y="1847088"/>
            <a:ext cx="4434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Why this mattered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6831" y="2121408"/>
            <a:ext cx="44348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The top-ranked feature set did not just reduce dimensionality. It ended up supporting the strongest final reliability result in Week 13.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246120"/>
            <a:ext cx="4754880" cy="1051560"/>
          </a:xfrm>
          <a:prstGeom prst="round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56831" y="3355848"/>
            <a:ext cx="4434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E76F51"/>
                </a:solidFill>
                <a:latin typeface="Aptos"/>
              </a:rPr>
              <a:t>Figure on next slide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1" y="3630168"/>
            <a:ext cx="4434840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The next slide isolates the Week 11 feature-importance chart so the ranking is easy to read.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5F6B7A"/>
                </a:solidFill>
                <a:latin typeface="Aptos"/>
              </a:rP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62033"/>
                </a:solidFill>
                <a:latin typeface="Aptos"/>
              </a:rPr>
              <a:t>Figure: Week 11 Feature Importance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886968"/>
            <a:ext cx="1554480" cy="54864"/>
          </a:xfrm>
          <a:prstGeom prst="rect">
            <a:avLst/>
          </a:prstGeom>
          <a:solidFill>
            <a:srgbClr val="32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F6B7A"/>
                </a:solidFill>
                <a:latin typeface="Aptos"/>
              </a:rPr>
              <a:t>Top-ranked features from Random Forest importance, permutation importance, and mutual information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81381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week11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841" y="1737360"/>
            <a:ext cx="6395720" cy="44770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098280" y="1737360"/>
            <a:ext cx="2423160" cy="1691640"/>
          </a:xfrm>
          <a:prstGeom prst="roundRect">
            <a:avLst/>
          </a:prstGeom>
          <a:solidFill>
            <a:srgbClr val="E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62872" y="184708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What it showed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2872" y="2121408"/>
            <a:ext cx="210312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A smaller, more focused feature set preserved strong signal and supported the strongest final recommendation.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3703320"/>
            <a:ext cx="2423160" cy="1600200"/>
          </a:xfrm>
          <a:prstGeom prst="round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62872" y="381304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E76F51"/>
                </a:solidFill>
                <a:latin typeface="Aptos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62872" y="4087368"/>
            <a:ext cx="21031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This figure is one of the main pieces of evidence for the final project conclusion.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5F6B7A"/>
                </a:solidFill>
                <a:latin typeface="Aptos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62033"/>
                </a:solidFill>
                <a:latin typeface="Aptos"/>
              </a:rPr>
              <a:t>Uncertainty and Calibration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886968"/>
            <a:ext cx="1554480" cy="54864"/>
          </a:xfrm>
          <a:prstGeom prst="rect">
            <a:avLst/>
          </a:prstGeom>
          <a:solidFill>
            <a:srgbClr val="32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F6B7A"/>
                </a:solidFill>
                <a:latin typeface="Aptos"/>
              </a:rPr>
              <a:t>Week 12 asked whether the model knew when it might be wrong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3949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581912"/>
            <a:ext cx="5029200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I measured confidence, uncertainty, entropy, Brier score, ECE, and log loss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Top-ranked was the best overall calibrated Random Forest feature set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Wrong predictions were usually more uncertain in-distribution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Under cross-environment shift, some models stayed confidently wrong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691640"/>
            <a:ext cx="4754880" cy="1143000"/>
          </a:xfrm>
          <a:prstGeom prst="roundRect">
            <a:avLst/>
          </a:prstGeom>
          <a:solidFill>
            <a:srgbClr val="E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56831" y="1801368"/>
            <a:ext cx="4434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What changed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6831" y="2075688"/>
            <a:ext cx="4434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At this point the project stopped being only about performance and became more about trustworthiness.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108960"/>
            <a:ext cx="4754880" cy="1143000"/>
          </a:xfrm>
          <a:prstGeom prst="round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56831" y="3218688"/>
            <a:ext cx="4434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E76F51"/>
                </a:solidFill>
                <a:latin typeface="Aptos"/>
              </a:rPr>
              <a:t>Main caution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1" y="3493008"/>
            <a:ext cx="4434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Distribution shift could still produce overconfident wrong predictions, which is exactly the kind of failure accuracy alone misses.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4526280"/>
            <a:ext cx="4754880" cy="914400"/>
          </a:xfrm>
          <a:prstGeom prst="round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56831" y="4636008"/>
            <a:ext cx="4434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3257FF"/>
                </a:solidFill>
                <a:latin typeface="Aptos"/>
              </a:rPr>
              <a:t>Figures on next slides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1" y="4910328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The next two slides show the calibration and selective-prediction graphs separately.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6419088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5F6B7A"/>
                </a:solidFill>
                <a:latin typeface="Aptos"/>
              </a:rPr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62033"/>
                </a:solidFill>
                <a:latin typeface="Aptos"/>
              </a:rPr>
              <a:t>Figure: Week 12 Calibration Curve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886968"/>
            <a:ext cx="1554480" cy="54864"/>
          </a:xfrm>
          <a:prstGeom prst="rect">
            <a:avLst/>
          </a:prstGeom>
          <a:solidFill>
            <a:srgbClr val="32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F6B7A"/>
                </a:solidFill>
                <a:latin typeface="Aptos"/>
              </a:rPr>
              <a:t>Comparing predicted confidence against observed biodegradability frequency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81381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week12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784" y="1417320"/>
            <a:ext cx="5797296" cy="4831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098280" y="1737360"/>
            <a:ext cx="2423160" cy="1691640"/>
          </a:xfrm>
          <a:prstGeom prst="roundRect">
            <a:avLst/>
          </a:prstGeom>
          <a:solidFill>
            <a:srgbClr val="E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62872" y="184708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What it showed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2872" y="2121408"/>
            <a:ext cx="210312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The top-ranked feature set gave the best overall calibrated Random Forest behavior across the Week 12 comparison.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3703320"/>
            <a:ext cx="2423160" cy="1600200"/>
          </a:xfrm>
          <a:prstGeom prst="round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62872" y="381304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E76F51"/>
                </a:solidFill>
                <a:latin typeface="Aptos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62872" y="4087368"/>
            <a:ext cx="21031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This figure is one of the main pieces of evidence for the final project conclusion.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5F6B7A"/>
                </a:solidFill>
                <a:latin typeface="Aptos"/>
              </a:rPr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62033"/>
                </a:solidFill>
                <a:latin typeface="Aptos"/>
              </a:rPr>
              <a:t>Figure: Week 12 Selective Prediction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886968"/>
            <a:ext cx="1554480" cy="54864"/>
          </a:xfrm>
          <a:prstGeom prst="rect">
            <a:avLst/>
          </a:prstGeom>
          <a:solidFill>
            <a:srgbClr val="32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F6B7A"/>
                </a:solidFill>
                <a:latin typeface="Aptos"/>
              </a:rPr>
              <a:t>Accuracy when keeping only the most confident predictions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81381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week12_selective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" y="1720088"/>
            <a:ext cx="7376159" cy="442569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098280" y="1737360"/>
            <a:ext cx="2423160" cy="1691640"/>
          </a:xfrm>
          <a:prstGeom prst="roundRect">
            <a:avLst/>
          </a:prstGeom>
          <a:solidFill>
            <a:srgbClr val="E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62872" y="184708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What it showed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2872" y="2121408"/>
            <a:ext cx="210312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Confidence could help improve trust, but it did not fully remove the cross-environment weakness.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3703320"/>
            <a:ext cx="2423160" cy="1600200"/>
          </a:xfrm>
          <a:prstGeom prst="round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62872" y="381304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E76F51"/>
                </a:solidFill>
                <a:latin typeface="Aptos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62872" y="4087368"/>
            <a:ext cx="21031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This figure is one of the main pieces of evidence for the final project conclusion.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5F6B7A"/>
                </a:solidFill>
                <a:latin typeface="Aptos"/>
              </a:rPr>
              <a:t>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62033"/>
                </a:solidFill>
                <a:latin typeface="Aptos"/>
              </a:rPr>
              <a:t>Final Model Selection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886968"/>
            <a:ext cx="1554480" cy="54864"/>
          </a:xfrm>
          <a:prstGeom prst="rect">
            <a:avLst/>
          </a:prstGeom>
          <a:solidFill>
            <a:srgbClr val="32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F6B7A"/>
                </a:solidFill>
                <a:latin typeface="Aptos"/>
              </a:rPr>
              <a:t>Week 13 combined performance and trustworthiness into one recommendation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3949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581912"/>
            <a:ext cx="5029200" cy="367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I ranked candidates using accuracy, calibration, uncertainty behavior, selective prediction, and cross-environment robustness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The final choice was not made from one metric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The recommendation came from the full reliability profile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737360"/>
            <a:ext cx="4709160" cy="1188720"/>
          </a:xfrm>
          <a:prstGeom prst="roundRect">
            <a:avLst/>
          </a:prstGeom>
          <a:solidFill>
            <a:srgbClr val="E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56831" y="1847088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Best overall candidate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6831" y="2121408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top_ranked | random_forest_classifier
reliability score: 0.8860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246120"/>
            <a:ext cx="47091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56831" y="3355848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3257FF"/>
                </a:solidFill>
                <a:latin typeface="Aptos"/>
              </a:rPr>
              <a:t>Best raw cross-env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1" y="3630168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top_ranked | logistic_regression at 0.6455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4617720"/>
            <a:ext cx="4709160" cy="960120"/>
          </a:xfrm>
          <a:prstGeom prst="round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56831" y="4727448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E76F51"/>
                </a:solidFill>
                <a:latin typeface="Aptos"/>
              </a:rPr>
              <a:t>Figures on next slides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1" y="5001768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The next two slides show the final scoreboard and the calibration-versus-accuracy tradeoff clearly on their own.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6419088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5F6B7A"/>
                </a:solidFill>
                <a:latin typeface="Aptos"/>
              </a:rPr>
              <a:t>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62033"/>
                </a:solidFill>
                <a:latin typeface="Aptos"/>
              </a:rPr>
              <a:t>Figure: Week 13 Overall Scoreboard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886968"/>
            <a:ext cx="1554480" cy="54864"/>
          </a:xfrm>
          <a:prstGeom prst="rect">
            <a:avLst/>
          </a:prstGeom>
          <a:solidFill>
            <a:srgbClr val="32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F6B7A"/>
                </a:solidFill>
                <a:latin typeface="Aptos"/>
              </a:rPr>
              <a:t>Composite reliability ranking across all model and feature-set candidates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81381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week13_overall_score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45920"/>
            <a:ext cx="7726679" cy="450722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098280" y="1737360"/>
            <a:ext cx="2423160" cy="1691640"/>
          </a:xfrm>
          <a:prstGeom prst="roundRect">
            <a:avLst/>
          </a:prstGeom>
          <a:solidFill>
            <a:srgbClr val="E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62872" y="184708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What it showed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2872" y="2121408"/>
            <a:ext cx="210312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Top-ranked Random Forest came out first once the project used reliability rather than only raw performance.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3703320"/>
            <a:ext cx="2423160" cy="1600200"/>
          </a:xfrm>
          <a:prstGeom prst="round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62872" y="381304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E76F51"/>
                </a:solidFill>
                <a:latin typeface="Aptos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62872" y="4087368"/>
            <a:ext cx="21031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This figure is one of the main pieces of evidence for the final project conclusion.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5F6B7A"/>
                </a:solidFill>
                <a:latin typeface="Aptos"/>
              </a:rPr>
              <a:t>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62033"/>
                </a:solidFill>
                <a:latin typeface="Aptos"/>
              </a:rPr>
              <a:t>Figure: Accuracy vs Calibration Tradeoff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886968"/>
            <a:ext cx="1554480" cy="54864"/>
          </a:xfrm>
          <a:prstGeom prst="rect">
            <a:avLst/>
          </a:prstGeom>
          <a:solidFill>
            <a:srgbClr val="32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F6B7A"/>
                </a:solidFill>
                <a:latin typeface="Aptos"/>
              </a:rPr>
              <a:t>Comparing in-distribution and cross-environment tradeoffs across final candidates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81381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week13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761" y="1737360"/>
            <a:ext cx="7193373" cy="402658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098280" y="1737360"/>
            <a:ext cx="2423160" cy="1691640"/>
          </a:xfrm>
          <a:prstGeom prst="roundRect">
            <a:avLst/>
          </a:prstGeom>
          <a:solidFill>
            <a:srgbClr val="E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62872" y="184708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What it showed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2872" y="2121408"/>
            <a:ext cx="210312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The strongest final model was the one that stayed competitive across several metrics instead of dominating only 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3703320"/>
            <a:ext cx="2423160" cy="1600200"/>
          </a:xfrm>
          <a:prstGeom prst="round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62872" y="381304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E76F51"/>
                </a:solidFill>
                <a:latin typeface="Aptos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62872" y="4087368"/>
            <a:ext cx="21031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This figure is one of the main pieces of evidence for the final project conclusion.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5F6B7A"/>
                </a:solidFill>
                <a:latin typeface="Aptos"/>
              </a:rPr>
              <a:t>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62033"/>
                </a:solidFill>
                <a:latin typeface="Aptos"/>
              </a:rPr>
              <a:t>Final Recommendation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886968"/>
            <a:ext cx="1554480" cy="54864"/>
          </a:xfrm>
          <a:prstGeom prst="rect">
            <a:avLst/>
          </a:prstGeom>
          <a:solidFill>
            <a:srgbClr val="32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F6B7A"/>
                </a:solidFill>
                <a:latin typeface="Aptos"/>
              </a:rPr>
              <a:t>What I would defend as the final model choice from the whole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4572000" cy="4389120"/>
          </a:xfrm>
          <a:prstGeom prst="roundRect">
            <a:avLst/>
          </a:prstGeom>
          <a:solidFill>
            <a:srgbClr val="32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82880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DDE6FF"/>
                </a:solidFill>
                <a:latin typeface="Aptos"/>
              </a:rPr>
              <a:t>Recommended final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3840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Top-ranked
Random Forest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37947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EAF0FF"/>
                </a:solidFill>
                <a:latin typeface="Aptos"/>
              </a:rPr>
              <a:t>This combination was not the winner in every single category, but it was the strongest overall once I looked at accuracy, calibration, uncertainty behavior, and shifted data performance together.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554480"/>
            <a:ext cx="539496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53328" y="1719072"/>
            <a:ext cx="5029200" cy="276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Competitive standard accuracy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Strong calibration for a high-performing model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Useful uncertainty separation between right and wrong predictions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Much better cross-environment behavior than the weaker feature sets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4800600"/>
            <a:ext cx="5349240" cy="1005840"/>
          </a:xfrm>
          <a:prstGeom prst="round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62472" y="4910328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E76F51"/>
                </a:solidFill>
                <a:latin typeface="Aptos"/>
              </a:rPr>
              <a:t>Bottom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62472" y="5184648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The best final model was not just the highest-scoring model. It was the most defensible 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19088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5F6B7A"/>
                </a:solidFill>
                <a:latin typeface="Aptos"/>
              </a:rPr>
              <a:t>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62033"/>
                </a:solidFill>
                <a:latin typeface="Aptos"/>
              </a:rPr>
              <a:t>Limitations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886968"/>
            <a:ext cx="1554480" cy="54864"/>
          </a:xfrm>
          <a:prstGeom prst="rect">
            <a:avLst/>
          </a:prstGeom>
          <a:solidFill>
            <a:srgbClr val="32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F6B7A"/>
                </a:solidFill>
                <a:latin typeface="Aptos"/>
              </a:rPr>
              <a:t>What this project answered well, and what still needs stronger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63040"/>
            <a:ext cx="53949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1627632"/>
            <a:ext cx="5029200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Descriptor-based dataset, not a true polymer graph dataset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No real degradation-rate constants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No pathway labels such as oxidation or hydrolysis</a:t>
            </a:r>
          </a:p>
          <a:p>
            <a:pPr>
              <a:spcAft>
                <a:spcPts val="800"/>
              </a:spcAft>
              <a:defRPr sz="1800">
                <a:solidFill>
                  <a:srgbClr val="162033"/>
                </a:solidFill>
                <a:latin typeface="Aptos"/>
              </a:defRPr>
            </a:pPr>
            <a:r>
              <a:t>Cross-environment robustness remains the biggest weakness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691640"/>
            <a:ext cx="4572000" cy="1325880"/>
          </a:xfrm>
          <a:prstGeom prst="round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02552" y="1801368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3257FF"/>
                </a:solidFill>
                <a:latin typeface="Aptos"/>
              </a:rPr>
              <a:t>Best next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2552" y="2075688"/>
            <a:ext cx="42519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Move to a dataset with real polymer structure and stronger chemistry labels so that graph-based learning can be evaluated honestly.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3337560"/>
            <a:ext cx="4572000" cy="1325880"/>
          </a:xfrm>
          <a:prstGeom prst="roundRect">
            <a:avLst/>
          </a:prstGeom>
          <a:solidFill>
            <a:srgbClr val="E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02552" y="3447288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Validation next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2552" y="3721608"/>
            <a:ext cx="42519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Test the final model on a genuinely separate dataset or environment source instead of only proxy distribution shifts.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4983480"/>
            <a:ext cx="4572000" cy="868680"/>
          </a:xfrm>
          <a:prstGeom prst="round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02552" y="5093208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E76F51"/>
                </a:solidFill>
                <a:latin typeface="Aptos"/>
              </a:rPr>
              <a:t>Final lesson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2552" y="5367528"/>
            <a:ext cx="4251960" cy="411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162033"/>
                </a:solidFill>
                <a:latin typeface="Aptos"/>
              </a:rPr>
              <a:t>Trustworthiness ended up being the most important outcome of the project, not just raw model performance.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6419088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5F6B7A"/>
                </a:solidFill>
                <a:latin typeface="Aptos"/>
              </a:rPr>
              <a:t>Slide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1685</Words>
  <Application>Microsoft Macintosh PowerPoint</Application>
  <PresentationFormat>Widescreen</PresentationFormat>
  <Paragraphs>200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Zutshi, Aryamann</cp:lastModifiedBy>
  <cp:revision>4</cp:revision>
  <dcterms:created xsi:type="dcterms:W3CDTF">2013-01-27T09:14:16Z</dcterms:created>
  <dcterms:modified xsi:type="dcterms:W3CDTF">2026-05-05T14:55:12Z</dcterms:modified>
  <cp:category/>
</cp:coreProperties>
</file>